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8" r:id="rId2"/>
    <p:sldId id="259" r:id="rId3"/>
    <p:sldId id="260" r:id="rId4"/>
    <p:sldId id="261" r:id="rId5"/>
    <p:sldId id="262" r:id="rId6"/>
    <p:sldId id="263" r:id="rId7"/>
    <p:sldId id="264" r:id="rId8"/>
    <p:sldId id="265" r:id="rId9"/>
    <p:sldId id="271" r:id="rId10"/>
    <p:sldId id="272" r:id="rId11"/>
    <p:sldId id="275" r:id="rId12"/>
    <p:sldId id="274" r:id="rId13"/>
  </p:sldIdLst>
  <p:sldSz cx="30275213" cy="42803763"/>
  <p:notesSz cx="6858000" cy="9144000"/>
  <p:defaultTextStyle>
    <a:defPPr>
      <a:defRPr lang="en-US"/>
    </a:defPPr>
    <a:lvl1pPr marL="0" algn="l" defTabSz="457056" rtl="0" eaLnBrk="1" latinLnBrk="0" hangingPunct="1">
      <a:defRPr sz="1799" kern="1200">
        <a:solidFill>
          <a:schemeClr val="tx1"/>
        </a:solidFill>
        <a:latin typeface="+mn-lt"/>
        <a:ea typeface="+mn-ea"/>
        <a:cs typeface="+mn-cs"/>
      </a:defRPr>
    </a:lvl1pPr>
    <a:lvl2pPr marL="457056" algn="l" defTabSz="457056" rtl="0" eaLnBrk="1" latinLnBrk="0" hangingPunct="1">
      <a:defRPr sz="1799" kern="1200">
        <a:solidFill>
          <a:schemeClr val="tx1"/>
        </a:solidFill>
        <a:latin typeface="+mn-lt"/>
        <a:ea typeface="+mn-ea"/>
        <a:cs typeface="+mn-cs"/>
      </a:defRPr>
    </a:lvl2pPr>
    <a:lvl3pPr marL="914116" algn="l" defTabSz="457056" rtl="0" eaLnBrk="1" latinLnBrk="0" hangingPunct="1">
      <a:defRPr sz="1799" kern="1200">
        <a:solidFill>
          <a:schemeClr val="tx1"/>
        </a:solidFill>
        <a:latin typeface="+mn-lt"/>
        <a:ea typeface="+mn-ea"/>
        <a:cs typeface="+mn-cs"/>
      </a:defRPr>
    </a:lvl3pPr>
    <a:lvl4pPr marL="1371172" algn="l" defTabSz="457056" rtl="0" eaLnBrk="1" latinLnBrk="0" hangingPunct="1">
      <a:defRPr sz="1799" kern="1200">
        <a:solidFill>
          <a:schemeClr val="tx1"/>
        </a:solidFill>
        <a:latin typeface="+mn-lt"/>
        <a:ea typeface="+mn-ea"/>
        <a:cs typeface="+mn-cs"/>
      </a:defRPr>
    </a:lvl4pPr>
    <a:lvl5pPr marL="1828228" algn="l" defTabSz="457056" rtl="0" eaLnBrk="1" latinLnBrk="0" hangingPunct="1">
      <a:defRPr sz="1799" kern="1200">
        <a:solidFill>
          <a:schemeClr val="tx1"/>
        </a:solidFill>
        <a:latin typeface="+mn-lt"/>
        <a:ea typeface="+mn-ea"/>
        <a:cs typeface="+mn-cs"/>
      </a:defRPr>
    </a:lvl5pPr>
    <a:lvl6pPr marL="2285288" algn="l" defTabSz="457056" rtl="0" eaLnBrk="1" latinLnBrk="0" hangingPunct="1">
      <a:defRPr sz="1799" kern="1200">
        <a:solidFill>
          <a:schemeClr val="tx1"/>
        </a:solidFill>
        <a:latin typeface="+mn-lt"/>
        <a:ea typeface="+mn-ea"/>
        <a:cs typeface="+mn-cs"/>
      </a:defRPr>
    </a:lvl6pPr>
    <a:lvl7pPr marL="2742343" algn="l" defTabSz="457056" rtl="0" eaLnBrk="1" latinLnBrk="0" hangingPunct="1">
      <a:defRPr sz="1799" kern="1200">
        <a:solidFill>
          <a:schemeClr val="tx1"/>
        </a:solidFill>
        <a:latin typeface="+mn-lt"/>
        <a:ea typeface="+mn-ea"/>
        <a:cs typeface="+mn-cs"/>
      </a:defRPr>
    </a:lvl7pPr>
    <a:lvl8pPr marL="3199399" algn="l" defTabSz="457056" rtl="0" eaLnBrk="1" latinLnBrk="0" hangingPunct="1">
      <a:defRPr sz="1799" kern="1200">
        <a:solidFill>
          <a:schemeClr val="tx1"/>
        </a:solidFill>
        <a:latin typeface="+mn-lt"/>
        <a:ea typeface="+mn-ea"/>
        <a:cs typeface="+mn-cs"/>
      </a:defRPr>
    </a:lvl8pPr>
    <a:lvl9pPr marL="3656459" algn="l" defTabSz="457056" rtl="0" eaLnBrk="1" latinLnBrk="0" hangingPunct="1">
      <a:defRPr sz="1799"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son Sam Varghese" initials="" lastIdx="1" clrIdx="0">
    <p:extLst>
      <p:ext uri="{19B8F6BF-5375-455C-9EA6-DF929625EA0E}">
        <p15:presenceInfo xmlns:p15="http://schemas.microsoft.com/office/powerpoint/2012/main" userId="741345b1ec61e51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4472C4"/>
    <a:srgbClr val="FFC0CB"/>
    <a:srgbClr val="A1EE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966" autoAdjust="0"/>
  </p:normalViewPr>
  <p:slideViewPr>
    <p:cSldViewPr snapToGrid="0">
      <p:cViewPr>
        <p:scale>
          <a:sx n="33" d="100"/>
          <a:sy n="33" d="100"/>
        </p:scale>
        <p:origin x="1698"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70D45-691B-49E0-8386-3D2F8E007602}" type="datetimeFigureOut">
              <a:rPr lang="en-IN" smtClean="0"/>
              <a:t>07-01-2024</a:t>
            </a:fld>
            <a:endParaRPr lang="en-IN"/>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9F170A-470B-48E1-88EF-5720D32A31FC}" type="slidenum">
              <a:rPr lang="en-IN" smtClean="0"/>
              <a:t>‹#›</a:t>
            </a:fld>
            <a:endParaRPr lang="en-IN"/>
          </a:p>
        </p:txBody>
      </p:sp>
    </p:spTree>
    <p:extLst>
      <p:ext uri="{BB962C8B-B14F-4D97-AF65-F5344CB8AC3E}">
        <p14:creationId xmlns:p14="http://schemas.microsoft.com/office/powerpoint/2010/main" val="2793997194"/>
      </p:ext>
    </p:extLst>
  </p:cSld>
  <p:clrMap bg1="lt1" tx1="dk1" bg2="lt2" tx2="dk2" accent1="accent1" accent2="accent2" accent3="accent3" accent4="accent4" accent5="accent5" accent6="accent6" hlink="hlink" folHlink="folHlink"/>
  <p:notesStyle>
    <a:lvl1pPr marL="0" algn="l" defTabSz="914116" rtl="0" eaLnBrk="1" latinLnBrk="0" hangingPunct="1">
      <a:defRPr sz="1201" kern="1200">
        <a:solidFill>
          <a:schemeClr val="tx1"/>
        </a:solidFill>
        <a:latin typeface="+mn-lt"/>
        <a:ea typeface="+mn-ea"/>
        <a:cs typeface="+mn-cs"/>
      </a:defRPr>
    </a:lvl1pPr>
    <a:lvl2pPr marL="457056" algn="l" defTabSz="914116" rtl="0" eaLnBrk="1" latinLnBrk="0" hangingPunct="1">
      <a:defRPr sz="1201" kern="1200">
        <a:solidFill>
          <a:schemeClr val="tx1"/>
        </a:solidFill>
        <a:latin typeface="+mn-lt"/>
        <a:ea typeface="+mn-ea"/>
        <a:cs typeface="+mn-cs"/>
      </a:defRPr>
    </a:lvl2pPr>
    <a:lvl3pPr marL="914116" algn="l" defTabSz="914116" rtl="0" eaLnBrk="1" latinLnBrk="0" hangingPunct="1">
      <a:defRPr sz="1201" kern="1200">
        <a:solidFill>
          <a:schemeClr val="tx1"/>
        </a:solidFill>
        <a:latin typeface="+mn-lt"/>
        <a:ea typeface="+mn-ea"/>
        <a:cs typeface="+mn-cs"/>
      </a:defRPr>
    </a:lvl3pPr>
    <a:lvl4pPr marL="1371172" algn="l" defTabSz="914116" rtl="0" eaLnBrk="1" latinLnBrk="0" hangingPunct="1">
      <a:defRPr sz="1201" kern="1200">
        <a:solidFill>
          <a:schemeClr val="tx1"/>
        </a:solidFill>
        <a:latin typeface="+mn-lt"/>
        <a:ea typeface="+mn-ea"/>
        <a:cs typeface="+mn-cs"/>
      </a:defRPr>
    </a:lvl4pPr>
    <a:lvl5pPr marL="1828228" algn="l" defTabSz="914116" rtl="0" eaLnBrk="1" latinLnBrk="0" hangingPunct="1">
      <a:defRPr sz="1201" kern="1200">
        <a:solidFill>
          <a:schemeClr val="tx1"/>
        </a:solidFill>
        <a:latin typeface="+mn-lt"/>
        <a:ea typeface="+mn-ea"/>
        <a:cs typeface="+mn-cs"/>
      </a:defRPr>
    </a:lvl5pPr>
    <a:lvl6pPr marL="2285288" algn="l" defTabSz="914116" rtl="0" eaLnBrk="1" latinLnBrk="0" hangingPunct="1">
      <a:defRPr sz="1201" kern="1200">
        <a:solidFill>
          <a:schemeClr val="tx1"/>
        </a:solidFill>
        <a:latin typeface="+mn-lt"/>
        <a:ea typeface="+mn-ea"/>
        <a:cs typeface="+mn-cs"/>
      </a:defRPr>
    </a:lvl6pPr>
    <a:lvl7pPr marL="2742343" algn="l" defTabSz="914116" rtl="0" eaLnBrk="1" latinLnBrk="0" hangingPunct="1">
      <a:defRPr sz="1201" kern="1200">
        <a:solidFill>
          <a:schemeClr val="tx1"/>
        </a:solidFill>
        <a:latin typeface="+mn-lt"/>
        <a:ea typeface="+mn-ea"/>
        <a:cs typeface="+mn-cs"/>
      </a:defRPr>
    </a:lvl7pPr>
    <a:lvl8pPr marL="3199399" algn="l" defTabSz="914116" rtl="0" eaLnBrk="1" latinLnBrk="0" hangingPunct="1">
      <a:defRPr sz="1201" kern="1200">
        <a:solidFill>
          <a:schemeClr val="tx1"/>
        </a:solidFill>
        <a:latin typeface="+mn-lt"/>
        <a:ea typeface="+mn-ea"/>
        <a:cs typeface="+mn-cs"/>
      </a:defRPr>
    </a:lvl8pPr>
    <a:lvl9pPr marL="3656459" algn="l" defTabSz="914116" rtl="0" eaLnBrk="1" latinLnBrk="0" hangingPunct="1">
      <a:defRPr sz="120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pPr marL="0" indent="0">
              <a:buNone/>
            </a:pPr>
            <a:endParaRPr lang="en-IN" dirty="0"/>
          </a:p>
        </p:txBody>
      </p:sp>
      <p:sp>
        <p:nvSpPr>
          <p:cNvPr id="4" name="Slide Number Placeholder 3"/>
          <p:cNvSpPr>
            <a:spLocks noGrp="1"/>
          </p:cNvSpPr>
          <p:nvPr>
            <p:ph type="sldNum" sz="quarter" idx="5"/>
          </p:nvPr>
        </p:nvSpPr>
        <p:spPr/>
        <p:txBody>
          <a:bodyPr/>
          <a:lstStyle/>
          <a:p>
            <a:fld id="{E49F170A-470B-48E1-88EF-5720D32A31FC}" type="slidenum">
              <a:rPr lang="en-IN" smtClean="0"/>
              <a:t>8</a:t>
            </a:fld>
            <a:endParaRPr lang="en-IN"/>
          </a:p>
        </p:txBody>
      </p:sp>
    </p:spTree>
    <p:extLst>
      <p:ext uri="{BB962C8B-B14F-4D97-AF65-F5344CB8AC3E}">
        <p14:creationId xmlns:p14="http://schemas.microsoft.com/office/powerpoint/2010/main" val="2724406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pPr marL="0" indent="0">
              <a:buNone/>
            </a:pPr>
            <a:endParaRPr lang="en-IN" dirty="0"/>
          </a:p>
        </p:txBody>
      </p:sp>
      <p:sp>
        <p:nvSpPr>
          <p:cNvPr id="4" name="Slide Number Placeholder 3"/>
          <p:cNvSpPr>
            <a:spLocks noGrp="1"/>
          </p:cNvSpPr>
          <p:nvPr>
            <p:ph type="sldNum" sz="quarter" idx="5"/>
          </p:nvPr>
        </p:nvSpPr>
        <p:spPr/>
        <p:txBody>
          <a:bodyPr/>
          <a:lstStyle/>
          <a:p>
            <a:fld id="{E49F170A-470B-48E1-88EF-5720D32A31FC}" type="slidenum">
              <a:rPr lang="en-IN" smtClean="0"/>
              <a:t>9</a:t>
            </a:fld>
            <a:endParaRPr lang="en-IN"/>
          </a:p>
        </p:txBody>
      </p:sp>
    </p:spTree>
    <p:extLst>
      <p:ext uri="{BB962C8B-B14F-4D97-AF65-F5344CB8AC3E}">
        <p14:creationId xmlns:p14="http://schemas.microsoft.com/office/powerpoint/2010/main" val="1357430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pPr marL="0" indent="0">
              <a:buNone/>
            </a:pPr>
            <a:endParaRPr lang="en-IN" dirty="0"/>
          </a:p>
        </p:txBody>
      </p:sp>
      <p:sp>
        <p:nvSpPr>
          <p:cNvPr id="4" name="Slide Number Placeholder 3"/>
          <p:cNvSpPr>
            <a:spLocks noGrp="1"/>
          </p:cNvSpPr>
          <p:nvPr>
            <p:ph type="sldNum" sz="quarter" idx="5"/>
          </p:nvPr>
        </p:nvSpPr>
        <p:spPr/>
        <p:txBody>
          <a:bodyPr/>
          <a:lstStyle/>
          <a:p>
            <a:fld id="{E49F170A-470B-48E1-88EF-5720D32A31FC}" type="slidenum">
              <a:rPr lang="en-IN" smtClean="0"/>
              <a:t>10</a:t>
            </a:fld>
            <a:endParaRPr lang="en-IN"/>
          </a:p>
        </p:txBody>
      </p:sp>
    </p:spTree>
    <p:extLst>
      <p:ext uri="{BB962C8B-B14F-4D97-AF65-F5344CB8AC3E}">
        <p14:creationId xmlns:p14="http://schemas.microsoft.com/office/powerpoint/2010/main" val="2043063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38388" y="1143000"/>
            <a:ext cx="2181225" cy="3086100"/>
          </a:xfrm>
        </p:spPr>
      </p:sp>
      <p:sp>
        <p:nvSpPr>
          <p:cNvPr id="3" name="Notes Placeholder 2"/>
          <p:cNvSpPr>
            <a:spLocks noGrp="1"/>
          </p:cNvSpPr>
          <p:nvPr>
            <p:ph type="body" idx="1"/>
          </p:nvPr>
        </p:nvSpPr>
        <p:spPr/>
        <p:txBody>
          <a:bodyPr/>
          <a:lstStyle/>
          <a:p>
            <a:pPr marL="0" indent="0">
              <a:buNone/>
            </a:pPr>
            <a:endParaRPr lang="en-IN" dirty="0"/>
          </a:p>
        </p:txBody>
      </p:sp>
      <p:sp>
        <p:nvSpPr>
          <p:cNvPr id="4" name="Slide Number Placeholder 3"/>
          <p:cNvSpPr>
            <a:spLocks noGrp="1"/>
          </p:cNvSpPr>
          <p:nvPr>
            <p:ph type="sldNum" sz="quarter" idx="5"/>
          </p:nvPr>
        </p:nvSpPr>
        <p:spPr/>
        <p:txBody>
          <a:bodyPr/>
          <a:lstStyle/>
          <a:p>
            <a:fld id="{E49F170A-470B-48E1-88EF-5720D32A31FC}" type="slidenum">
              <a:rPr lang="en-IN" smtClean="0"/>
              <a:t>12</a:t>
            </a:fld>
            <a:endParaRPr lang="en-IN"/>
          </a:p>
        </p:txBody>
      </p:sp>
    </p:spTree>
    <p:extLst>
      <p:ext uri="{BB962C8B-B14F-4D97-AF65-F5344CB8AC3E}">
        <p14:creationId xmlns:p14="http://schemas.microsoft.com/office/powerpoint/2010/main" val="2957336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0"/>
          </a:xfrm>
        </p:spPr>
        <p:txBody>
          <a:bodyPr anchor="b"/>
          <a:lstStyle>
            <a:lvl1pPr algn="ctr">
              <a:defRPr sz="19861"/>
            </a:lvl1pPr>
          </a:lstStyle>
          <a:p>
            <a:r>
              <a:rPr lang="en-US"/>
              <a:t>Click to edit Master title style</a:t>
            </a:r>
            <a:endParaRPr lang="en-US" dirty="0"/>
          </a:p>
        </p:txBody>
      </p:sp>
      <p:sp>
        <p:nvSpPr>
          <p:cNvPr id="3" name="Subtitle 2"/>
          <p:cNvSpPr>
            <a:spLocks noGrp="1"/>
          </p:cNvSpPr>
          <p:nvPr>
            <p:ph type="subTitle" idx="1"/>
          </p:nvPr>
        </p:nvSpPr>
        <p:spPr>
          <a:xfrm>
            <a:off x="3784402" y="22481888"/>
            <a:ext cx="22706410" cy="10334332"/>
          </a:xfrm>
        </p:spPr>
        <p:txBody>
          <a:bodyPr/>
          <a:lstStyle>
            <a:lvl1pPr marL="0" indent="0" algn="ctr">
              <a:buNone/>
              <a:defRPr sz="7946"/>
            </a:lvl1pPr>
            <a:lvl2pPr marL="1513603" indent="0" algn="ctr">
              <a:buNone/>
              <a:defRPr sz="6622"/>
            </a:lvl2pPr>
            <a:lvl3pPr marL="3027206" indent="0" algn="ctr">
              <a:buNone/>
              <a:defRPr sz="5960"/>
            </a:lvl3pPr>
            <a:lvl4pPr marL="4540809" indent="0" algn="ctr">
              <a:buNone/>
              <a:defRPr sz="5298"/>
            </a:lvl4pPr>
            <a:lvl5pPr marL="6054412" indent="0" algn="ctr">
              <a:buNone/>
              <a:defRPr sz="5298"/>
            </a:lvl5pPr>
            <a:lvl6pPr marL="7568011" indent="0" algn="ctr">
              <a:buNone/>
              <a:defRPr sz="5298"/>
            </a:lvl6pPr>
            <a:lvl7pPr marL="9081614" indent="0" algn="ctr">
              <a:buNone/>
              <a:defRPr sz="5298"/>
            </a:lvl7pPr>
            <a:lvl8pPr marL="10595217" indent="0" algn="ctr">
              <a:buNone/>
              <a:defRPr sz="5298"/>
            </a:lvl8pPr>
            <a:lvl9pPr marL="12108820" indent="0" algn="ctr">
              <a:buNone/>
              <a:defRPr sz="529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BA1FC4-107B-4B98-9594-3E683D5CC113}" type="datetimeFigureOut">
              <a:rPr lang="en-IN" smtClean="0"/>
              <a:t>07-01-2024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35679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BA1FC4-107B-4B98-9594-3E683D5CC113}" type="datetimeFigureOut">
              <a:rPr lang="en-IN" smtClean="0"/>
              <a:t>07-01-2024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4220012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7" y="10671229"/>
            <a:ext cx="26112371" cy="17805172"/>
          </a:xfrm>
        </p:spPr>
        <p:txBody>
          <a:bodyPr anchor="b"/>
          <a:lstStyle>
            <a:lvl1pPr>
              <a:defRPr sz="19861"/>
            </a:lvl1pPr>
          </a:lstStyle>
          <a:p>
            <a:r>
              <a:rPr lang="en-US"/>
              <a:t>Click to edit Master title style</a:t>
            </a:r>
            <a:endParaRPr lang="en-US" dirty="0"/>
          </a:p>
        </p:txBody>
      </p:sp>
      <p:sp>
        <p:nvSpPr>
          <p:cNvPr id="3" name="Text Placeholder 2"/>
          <p:cNvSpPr>
            <a:spLocks noGrp="1"/>
          </p:cNvSpPr>
          <p:nvPr>
            <p:ph type="body" idx="1"/>
          </p:nvPr>
        </p:nvSpPr>
        <p:spPr>
          <a:xfrm>
            <a:off x="2065657" y="28644847"/>
            <a:ext cx="26112371" cy="9363320"/>
          </a:xfrm>
        </p:spPr>
        <p:txBody>
          <a:bodyPr/>
          <a:lstStyle>
            <a:lvl1pPr marL="0" indent="0">
              <a:buNone/>
              <a:defRPr sz="7946">
                <a:solidFill>
                  <a:schemeClr val="tx1"/>
                </a:solidFill>
              </a:defRPr>
            </a:lvl1pPr>
            <a:lvl2pPr marL="1513603" indent="0">
              <a:buNone/>
              <a:defRPr sz="6622">
                <a:solidFill>
                  <a:schemeClr val="tx1">
                    <a:tint val="75000"/>
                  </a:schemeClr>
                </a:solidFill>
              </a:defRPr>
            </a:lvl2pPr>
            <a:lvl3pPr marL="3027206" indent="0">
              <a:buNone/>
              <a:defRPr sz="5960">
                <a:solidFill>
                  <a:schemeClr val="tx1">
                    <a:tint val="75000"/>
                  </a:schemeClr>
                </a:solidFill>
              </a:defRPr>
            </a:lvl3pPr>
            <a:lvl4pPr marL="4540809" indent="0">
              <a:buNone/>
              <a:defRPr sz="5298">
                <a:solidFill>
                  <a:schemeClr val="tx1">
                    <a:tint val="75000"/>
                  </a:schemeClr>
                </a:solidFill>
              </a:defRPr>
            </a:lvl4pPr>
            <a:lvl5pPr marL="6054412" indent="0">
              <a:buNone/>
              <a:defRPr sz="5298">
                <a:solidFill>
                  <a:schemeClr val="tx1">
                    <a:tint val="75000"/>
                  </a:schemeClr>
                </a:solidFill>
              </a:defRPr>
            </a:lvl5pPr>
            <a:lvl6pPr marL="7568011" indent="0">
              <a:buNone/>
              <a:defRPr sz="5298">
                <a:solidFill>
                  <a:schemeClr val="tx1">
                    <a:tint val="75000"/>
                  </a:schemeClr>
                </a:solidFill>
              </a:defRPr>
            </a:lvl6pPr>
            <a:lvl7pPr marL="9081614" indent="0">
              <a:buNone/>
              <a:defRPr sz="5298">
                <a:solidFill>
                  <a:schemeClr val="tx1">
                    <a:tint val="75000"/>
                  </a:schemeClr>
                </a:solidFill>
              </a:defRPr>
            </a:lvl7pPr>
            <a:lvl8pPr marL="10595217" indent="0">
              <a:buNone/>
              <a:defRPr sz="5298">
                <a:solidFill>
                  <a:schemeClr val="tx1">
                    <a:tint val="75000"/>
                  </a:schemeClr>
                </a:solidFill>
              </a:defRPr>
            </a:lvl8pPr>
            <a:lvl9pPr marL="12108820" indent="0">
              <a:buNone/>
              <a:defRPr sz="529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BA1FC4-107B-4B98-9594-3E683D5CC113}" type="datetimeFigureOut">
              <a:rPr lang="en-IN" smtClean="0"/>
              <a:t>07-01-2024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1130693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3" y="11394518"/>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4" y="11394518"/>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BA1FC4-107B-4B98-9594-3E683D5CC113}" type="datetimeFigureOut">
              <a:rPr lang="en-IN" smtClean="0"/>
              <a:t>07-01-2024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2754302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8" y="2278912"/>
            <a:ext cx="26112371" cy="82734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72" y="10492873"/>
            <a:ext cx="12807832" cy="5142392"/>
          </a:xfrm>
        </p:spPr>
        <p:txBody>
          <a:bodyPr anchor="b"/>
          <a:lstStyle>
            <a:lvl1pPr marL="0" indent="0">
              <a:buNone/>
              <a:defRPr sz="7946" b="1"/>
            </a:lvl1pPr>
            <a:lvl2pPr marL="1513603" indent="0">
              <a:buNone/>
              <a:defRPr sz="6622" b="1"/>
            </a:lvl2pPr>
            <a:lvl3pPr marL="3027206" indent="0">
              <a:buNone/>
              <a:defRPr sz="5960" b="1"/>
            </a:lvl3pPr>
            <a:lvl4pPr marL="4540809" indent="0">
              <a:buNone/>
              <a:defRPr sz="5298" b="1"/>
            </a:lvl4pPr>
            <a:lvl5pPr marL="6054412" indent="0">
              <a:buNone/>
              <a:defRPr sz="5298" b="1"/>
            </a:lvl5pPr>
            <a:lvl6pPr marL="7568011" indent="0">
              <a:buNone/>
              <a:defRPr sz="5298" b="1"/>
            </a:lvl6pPr>
            <a:lvl7pPr marL="9081614" indent="0">
              <a:buNone/>
              <a:defRPr sz="5298" b="1"/>
            </a:lvl7pPr>
            <a:lvl8pPr marL="10595217" indent="0">
              <a:buNone/>
              <a:defRPr sz="5298" b="1"/>
            </a:lvl8pPr>
            <a:lvl9pPr marL="12108820" indent="0">
              <a:buNone/>
              <a:defRPr sz="5298" b="1"/>
            </a:lvl9pPr>
          </a:lstStyle>
          <a:p>
            <a:pPr lvl="0"/>
            <a:r>
              <a:rPr lang="en-US"/>
              <a:t>Click to edit Master text styles</a:t>
            </a:r>
          </a:p>
        </p:txBody>
      </p:sp>
      <p:sp>
        <p:nvSpPr>
          <p:cNvPr id="4" name="Content Placeholder 3"/>
          <p:cNvSpPr>
            <a:spLocks noGrp="1"/>
          </p:cNvSpPr>
          <p:nvPr>
            <p:ph sz="half" idx="2"/>
          </p:nvPr>
        </p:nvSpPr>
        <p:spPr>
          <a:xfrm>
            <a:off x="2085372" y="15635266"/>
            <a:ext cx="12807832" cy="229971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31" y="10492873"/>
            <a:ext cx="12870908" cy="5142392"/>
          </a:xfrm>
        </p:spPr>
        <p:txBody>
          <a:bodyPr anchor="b"/>
          <a:lstStyle>
            <a:lvl1pPr marL="0" indent="0">
              <a:buNone/>
              <a:defRPr sz="7946" b="1"/>
            </a:lvl1pPr>
            <a:lvl2pPr marL="1513603" indent="0">
              <a:buNone/>
              <a:defRPr sz="6622" b="1"/>
            </a:lvl2pPr>
            <a:lvl3pPr marL="3027206" indent="0">
              <a:buNone/>
              <a:defRPr sz="5960" b="1"/>
            </a:lvl3pPr>
            <a:lvl4pPr marL="4540809" indent="0">
              <a:buNone/>
              <a:defRPr sz="5298" b="1"/>
            </a:lvl4pPr>
            <a:lvl5pPr marL="6054412" indent="0">
              <a:buNone/>
              <a:defRPr sz="5298" b="1"/>
            </a:lvl5pPr>
            <a:lvl6pPr marL="7568011" indent="0">
              <a:buNone/>
              <a:defRPr sz="5298" b="1"/>
            </a:lvl6pPr>
            <a:lvl7pPr marL="9081614" indent="0">
              <a:buNone/>
              <a:defRPr sz="5298" b="1"/>
            </a:lvl7pPr>
            <a:lvl8pPr marL="10595217" indent="0">
              <a:buNone/>
              <a:defRPr sz="5298" b="1"/>
            </a:lvl8pPr>
            <a:lvl9pPr marL="12108820" indent="0">
              <a:buNone/>
              <a:defRPr sz="5298" b="1"/>
            </a:lvl9pPr>
          </a:lstStyle>
          <a:p>
            <a:pPr lvl="0"/>
            <a:r>
              <a:rPr lang="en-US"/>
              <a:t>Click to edit Master text styles</a:t>
            </a:r>
          </a:p>
        </p:txBody>
      </p:sp>
      <p:sp>
        <p:nvSpPr>
          <p:cNvPr id="6" name="Content Placeholder 5"/>
          <p:cNvSpPr>
            <a:spLocks noGrp="1"/>
          </p:cNvSpPr>
          <p:nvPr>
            <p:ph sz="quarter" idx="4"/>
          </p:nvPr>
        </p:nvSpPr>
        <p:spPr>
          <a:xfrm>
            <a:off x="15326831" y="15635266"/>
            <a:ext cx="12870908" cy="229971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BA1FC4-107B-4B98-9594-3E683D5CC113}" type="datetimeFigureOut">
              <a:rPr lang="en-IN" smtClean="0"/>
              <a:t>07-01-2024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276168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BA1FC4-107B-4B98-9594-3E683D5CC113}" type="datetimeFigureOut">
              <a:rPr lang="en-IN" smtClean="0"/>
              <a:t>07-01-2024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3078623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BA1FC4-107B-4B98-9594-3E683D5CC113}" type="datetimeFigureOut">
              <a:rPr lang="en-IN" smtClean="0"/>
              <a:t>07-01-2024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3213086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8" y="2853584"/>
            <a:ext cx="9764542"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10" y="6162959"/>
            <a:ext cx="15326829" cy="30418414"/>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8" y="12841130"/>
            <a:ext cx="9764542" cy="23789782"/>
          </a:xfrm>
        </p:spPr>
        <p:txBody>
          <a:bodyPr/>
          <a:lstStyle>
            <a:lvl1pPr marL="0" indent="0">
              <a:buNone/>
              <a:defRPr sz="5298"/>
            </a:lvl1pPr>
            <a:lvl2pPr marL="1513603" indent="0">
              <a:buNone/>
              <a:defRPr sz="4635"/>
            </a:lvl2pPr>
            <a:lvl3pPr marL="3027206" indent="0">
              <a:buNone/>
              <a:defRPr sz="3973"/>
            </a:lvl3pPr>
            <a:lvl4pPr marL="4540809" indent="0">
              <a:buNone/>
              <a:defRPr sz="3311"/>
            </a:lvl4pPr>
            <a:lvl5pPr marL="6054412" indent="0">
              <a:buNone/>
              <a:defRPr sz="3311"/>
            </a:lvl5pPr>
            <a:lvl6pPr marL="7568011" indent="0">
              <a:buNone/>
              <a:defRPr sz="3311"/>
            </a:lvl6pPr>
            <a:lvl7pPr marL="9081614" indent="0">
              <a:buNone/>
              <a:defRPr sz="3311"/>
            </a:lvl7pPr>
            <a:lvl8pPr marL="10595217" indent="0">
              <a:buNone/>
              <a:defRPr sz="3311"/>
            </a:lvl8pPr>
            <a:lvl9pPr marL="12108820"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0EBA1FC4-107B-4B98-9594-3E683D5CC113}" type="datetimeFigureOut">
              <a:rPr lang="en-IN" smtClean="0"/>
              <a:t>07-01-2024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3844034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8" y="2853584"/>
            <a:ext cx="9764542"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10" y="6162959"/>
            <a:ext cx="15326829" cy="30418414"/>
          </a:xfrm>
        </p:spPr>
        <p:txBody>
          <a:bodyPr anchor="t"/>
          <a:lstStyle>
            <a:lvl1pPr marL="0" indent="0">
              <a:buNone/>
              <a:defRPr sz="10595"/>
            </a:lvl1pPr>
            <a:lvl2pPr marL="1513603" indent="0">
              <a:buNone/>
              <a:defRPr sz="9271"/>
            </a:lvl2pPr>
            <a:lvl3pPr marL="3027206" indent="0">
              <a:buNone/>
              <a:defRPr sz="7946"/>
            </a:lvl3pPr>
            <a:lvl4pPr marL="4540809" indent="0">
              <a:buNone/>
              <a:defRPr sz="6622"/>
            </a:lvl4pPr>
            <a:lvl5pPr marL="6054412" indent="0">
              <a:buNone/>
              <a:defRPr sz="6622"/>
            </a:lvl5pPr>
            <a:lvl6pPr marL="7568011" indent="0">
              <a:buNone/>
              <a:defRPr sz="6622"/>
            </a:lvl6pPr>
            <a:lvl7pPr marL="9081614" indent="0">
              <a:buNone/>
              <a:defRPr sz="6622"/>
            </a:lvl7pPr>
            <a:lvl8pPr marL="10595217" indent="0">
              <a:buNone/>
              <a:defRPr sz="6622"/>
            </a:lvl8pPr>
            <a:lvl9pPr marL="12108820"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8" y="12841130"/>
            <a:ext cx="9764542" cy="23789782"/>
          </a:xfrm>
        </p:spPr>
        <p:txBody>
          <a:bodyPr/>
          <a:lstStyle>
            <a:lvl1pPr marL="0" indent="0">
              <a:buNone/>
              <a:defRPr sz="5298"/>
            </a:lvl1pPr>
            <a:lvl2pPr marL="1513603" indent="0">
              <a:buNone/>
              <a:defRPr sz="4635"/>
            </a:lvl2pPr>
            <a:lvl3pPr marL="3027206" indent="0">
              <a:buNone/>
              <a:defRPr sz="3973"/>
            </a:lvl3pPr>
            <a:lvl4pPr marL="4540809" indent="0">
              <a:buNone/>
              <a:defRPr sz="3311"/>
            </a:lvl4pPr>
            <a:lvl5pPr marL="6054412" indent="0">
              <a:buNone/>
              <a:defRPr sz="3311"/>
            </a:lvl5pPr>
            <a:lvl6pPr marL="7568011" indent="0">
              <a:buNone/>
              <a:defRPr sz="3311"/>
            </a:lvl6pPr>
            <a:lvl7pPr marL="9081614" indent="0">
              <a:buNone/>
              <a:defRPr sz="3311"/>
            </a:lvl7pPr>
            <a:lvl8pPr marL="10595217" indent="0">
              <a:buNone/>
              <a:defRPr sz="3311"/>
            </a:lvl8pPr>
            <a:lvl9pPr marL="12108820"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0EBA1FC4-107B-4B98-9594-3E683D5CC113}" type="datetimeFigureOut">
              <a:rPr lang="en-IN" smtClean="0"/>
              <a:t>07-01-2024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2114602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BA1FC4-107B-4B98-9594-3E683D5CC113}" type="datetimeFigureOut">
              <a:rPr lang="en-IN" smtClean="0"/>
              <a:t>07-01-2024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1529210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2" y="2278905"/>
            <a:ext cx="6528092" cy="3627421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5"/>
            <a:ext cx="19205839" cy="362742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BA1FC4-107B-4B98-9594-3E683D5CC113}" type="datetimeFigureOut">
              <a:rPr lang="en-IN" smtClean="0"/>
              <a:t>07-01-2024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CC0BD3-EA03-450C-9975-CF2E7136C2A9}" type="slidenum">
              <a:rPr lang="en-IN" smtClean="0"/>
              <a:t>‹#›</a:t>
            </a:fld>
            <a:endParaRPr lang="en-IN"/>
          </a:p>
        </p:txBody>
      </p:sp>
    </p:spTree>
    <p:extLst>
      <p:ext uri="{BB962C8B-B14F-4D97-AF65-F5344CB8AC3E}">
        <p14:creationId xmlns:p14="http://schemas.microsoft.com/office/powerpoint/2010/main" val="2857965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5" y="2278912"/>
            <a:ext cx="26112371" cy="82734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5" y="11394518"/>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3"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0EBA1FC4-107B-4B98-9594-3E683D5CC113}" type="datetimeFigureOut">
              <a:rPr lang="en-IN" smtClean="0"/>
              <a:t>07-01-2024</a:t>
            </a:fld>
            <a:endParaRPr lang="en-IN"/>
          </a:p>
        </p:txBody>
      </p:sp>
      <p:sp>
        <p:nvSpPr>
          <p:cNvPr id="5" name="Footer Placeholder 4"/>
          <p:cNvSpPr>
            <a:spLocks noGrp="1"/>
          </p:cNvSpPr>
          <p:nvPr>
            <p:ph type="ftr" sz="quarter" idx="3"/>
          </p:nvPr>
        </p:nvSpPr>
        <p:spPr>
          <a:xfrm>
            <a:off x="10028669"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21381871"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DACC0BD3-EA03-450C-9975-CF2E7136C2A9}" type="slidenum">
              <a:rPr lang="en-IN" smtClean="0"/>
              <a:t>‹#›</a:t>
            </a:fld>
            <a:endParaRPr lang="en-IN"/>
          </a:p>
        </p:txBody>
      </p:sp>
    </p:spTree>
    <p:extLst>
      <p:ext uri="{BB962C8B-B14F-4D97-AF65-F5344CB8AC3E}">
        <p14:creationId xmlns:p14="http://schemas.microsoft.com/office/powerpoint/2010/main" val="21452925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206"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04" indent="-756804" algn="l" defTabSz="3027206"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402" indent="-756804" algn="l" defTabSz="3027206"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005" indent="-756804" algn="l" defTabSz="3027206"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7608" indent="-756804" algn="l" defTabSz="3027206"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211" indent="-756804" algn="l" defTabSz="3027206"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4814" indent="-756804" algn="l" defTabSz="3027206"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8417" indent="-756804" algn="l" defTabSz="3027206"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2020" indent="-756804" algn="l" defTabSz="3027206"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5623" indent="-756804" algn="l" defTabSz="3027206"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206" rtl="0" eaLnBrk="1" latinLnBrk="0" hangingPunct="1">
        <a:defRPr sz="5960" kern="1200">
          <a:solidFill>
            <a:schemeClr val="tx1"/>
          </a:solidFill>
          <a:latin typeface="+mn-lt"/>
          <a:ea typeface="+mn-ea"/>
          <a:cs typeface="+mn-cs"/>
        </a:defRPr>
      </a:lvl1pPr>
      <a:lvl2pPr marL="1513603" algn="l" defTabSz="3027206" rtl="0" eaLnBrk="1" latinLnBrk="0" hangingPunct="1">
        <a:defRPr sz="5960" kern="1200">
          <a:solidFill>
            <a:schemeClr val="tx1"/>
          </a:solidFill>
          <a:latin typeface="+mn-lt"/>
          <a:ea typeface="+mn-ea"/>
          <a:cs typeface="+mn-cs"/>
        </a:defRPr>
      </a:lvl2pPr>
      <a:lvl3pPr marL="3027206" algn="l" defTabSz="3027206" rtl="0" eaLnBrk="1" latinLnBrk="0" hangingPunct="1">
        <a:defRPr sz="5960" kern="1200">
          <a:solidFill>
            <a:schemeClr val="tx1"/>
          </a:solidFill>
          <a:latin typeface="+mn-lt"/>
          <a:ea typeface="+mn-ea"/>
          <a:cs typeface="+mn-cs"/>
        </a:defRPr>
      </a:lvl3pPr>
      <a:lvl4pPr marL="4540809" algn="l" defTabSz="3027206" rtl="0" eaLnBrk="1" latinLnBrk="0" hangingPunct="1">
        <a:defRPr sz="5960" kern="1200">
          <a:solidFill>
            <a:schemeClr val="tx1"/>
          </a:solidFill>
          <a:latin typeface="+mn-lt"/>
          <a:ea typeface="+mn-ea"/>
          <a:cs typeface="+mn-cs"/>
        </a:defRPr>
      </a:lvl4pPr>
      <a:lvl5pPr marL="6054412" algn="l" defTabSz="3027206" rtl="0" eaLnBrk="1" latinLnBrk="0" hangingPunct="1">
        <a:defRPr sz="5960" kern="1200">
          <a:solidFill>
            <a:schemeClr val="tx1"/>
          </a:solidFill>
          <a:latin typeface="+mn-lt"/>
          <a:ea typeface="+mn-ea"/>
          <a:cs typeface="+mn-cs"/>
        </a:defRPr>
      </a:lvl5pPr>
      <a:lvl6pPr marL="7568011" algn="l" defTabSz="3027206" rtl="0" eaLnBrk="1" latinLnBrk="0" hangingPunct="1">
        <a:defRPr sz="5960" kern="1200">
          <a:solidFill>
            <a:schemeClr val="tx1"/>
          </a:solidFill>
          <a:latin typeface="+mn-lt"/>
          <a:ea typeface="+mn-ea"/>
          <a:cs typeface="+mn-cs"/>
        </a:defRPr>
      </a:lvl6pPr>
      <a:lvl7pPr marL="9081614" algn="l" defTabSz="3027206" rtl="0" eaLnBrk="1" latinLnBrk="0" hangingPunct="1">
        <a:defRPr sz="5960" kern="1200">
          <a:solidFill>
            <a:schemeClr val="tx1"/>
          </a:solidFill>
          <a:latin typeface="+mn-lt"/>
          <a:ea typeface="+mn-ea"/>
          <a:cs typeface="+mn-cs"/>
        </a:defRPr>
      </a:lvl7pPr>
      <a:lvl8pPr marL="10595217" algn="l" defTabSz="3027206" rtl="0" eaLnBrk="1" latinLnBrk="0" hangingPunct="1">
        <a:defRPr sz="5960" kern="1200">
          <a:solidFill>
            <a:schemeClr val="tx1"/>
          </a:solidFill>
          <a:latin typeface="+mn-lt"/>
          <a:ea typeface="+mn-ea"/>
          <a:cs typeface="+mn-cs"/>
        </a:defRPr>
      </a:lvl8pPr>
      <a:lvl9pPr marL="12108820" algn="l" defTabSz="3027206"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8.png"/><Relationship Id="rId3" Type="http://schemas.microsoft.com/office/2007/relationships/hdphoto" Target="../media/hdphoto2.wdp"/><Relationship Id="rId7" Type="http://schemas.openxmlformats.org/officeDocument/2006/relationships/image" Target="../media/image9.png"/><Relationship Id="rId12"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14.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21.png"/><Relationship Id="rId3" Type="http://schemas.openxmlformats.org/officeDocument/2006/relationships/image" Target="../media/image13.png"/><Relationship Id="rId7" Type="http://schemas.openxmlformats.org/officeDocument/2006/relationships/image" Target="../media/image9.png"/><Relationship Id="rId12"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8.png"/><Relationship Id="rId5" Type="http://schemas.openxmlformats.org/officeDocument/2006/relationships/image" Target="../media/image7.png"/><Relationship Id="rId10" Type="http://schemas.openxmlformats.org/officeDocument/2006/relationships/image" Target="../media/image15.png"/><Relationship Id="rId4" Type="http://schemas.microsoft.com/office/2007/relationships/hdphoto" Target="../media/hdphoto2.wdp"/><Relationship Id="rId9" Type="http://schemas.openxmlformats.org/officeDocument/2006/relationships/image" Target="../media/image14.pn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microsoft.com/office/2007/relationships/hdphoto" Target="../media/hdphoto2.wdp"/><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7.png"/><Relationship Id="rId5" Type="http://schemas.openxmlformats.org/officeDocument/2006/relationships/image" Target="../media/image10.png"/><Relationship Id="rId10" Type="http://schemas.openxmlformats.org/officeDocument/2006/relationships/image" Target="../media/image26.png"/><Relationship Id="rId4" Type="http://schemas.openxmlformats.org/officeDocument/2006/relationships/image" Target="../media/image7.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36.png"/><Relationship Id="rId5" Type="http://schemas.microsoft.com/office/2007/relationships/hdphoto" Target="../media/hdphoto2.wdp"/><Relationship Id="rId10" Type="http://schemas.openxmlformats.org/officeDocument/2006/relationships/image" Target="../media/image9.png"/><Relationship Id="rId4" Type="http://schemas.openxmlformats.org/officeDocument/2006/relationships/image" Target="../media/image34.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32.png"/><Relationship Id="rId5" Type="http://schemas.microsoft.com/office/2007/relationships/hdphoto" Target="../media/hdphoto2.wdp"/><Relationship Id="rId10" Type="http://schemas.openxmlformats.org/officeDocument/2006/relationships/image" Target="../media/image36.png"/><Relationship Id="rId4" Type="http://schemas.openxmlformats.org/officeDocument/2006/relationships/image" Target="../media/image34.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3.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35.png"/><Relationship Id="rId5" Type="http://schemas.microsoft.com/office/2007/relationships/hdphoto" Target="../media/hdphoto2.wdp"/><Relationship Id="rId10" Type="http://schemas.openxmlformats.org/officeDocument/2006/relationships/image" Target="../media/image32.png"/><Relationship Id="rId4" Type="http://schemas.openxmlformats.org/officeDocument/2006/relationships/image" Target="../media/image34.png"/><Relationship Id="rId9"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3.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35.png"/><Relationship Id="rId5" Type="http://schemas.microsoft.com/office/2007/relationships/hdphoto" Target="../media/hdphoto2.wdp"/><Relationship Id="rId10" Type="http://schemas.openxmlformats.org/officeDocument/2006/relationships/image" Target="../media/image32.png"/><Relationship Id="rId4" Type="http://schemas.openxmlformats.org/officeDocument/2006/relationships/image" Target="../media/image34.png"/><Relationship Id="rId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Premium Vector | Hand drawing of profile silhouette city bicycle">
            <a:extLst>
              <a:ext uri="{FF2B5EF4-FFF2-40B4-BE49-F238E27FC236}">
                <a16:creationId xmlns:a16="http://schemas.microsoft.com/office/drawing/2014/main" id="{4F24014F-00FB-89CC-FB37-41FE37B261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1816" y="10684970"/>
            <a:ext cx="17745980" cy="128133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1203C27B-ED86-300A-19B1-82FA6C7A49A0}"/>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200000"/>
                    </a14:imgEffect>
                  </a14:imgLayer>
                </a14:imgProps>
              </a:ext>
            </a:extLst>
          </a:blip>
          <a:srcRect t="9475" b="470"/>
          <a:stretch/>
        </p:blipFill>
        <p:spPr>
          <a:xfrm>
            <a:off x="16773044" y="15880655"/>
            <a:ext cx="6611346" cy="5799473"/>
          </a:xfrm>
          <a:prstGeom prst="ellipse">
            <a:avLst/>
          </a:prstGeom>
          <a:ln>
            <a:noFill/>
          </a:ln>
          <a:effectLst>
            <a:softEdge rad="112500"/>
          </a:effectLst>
        </p:spPr>
      </p:pic>
      <p:pic>
        <p:nvPicPr>
          <p:cNvPr id="3" name="Picture 2">
            <a:extLst>
              <a:ext uri="{FF2B5EF4-FFF2-40B4-BE49-F238E27FC236}">
                <a16:creationId xmlns:a16="http://schemas.microsoft.com/office/drawing/2014/main" id="{5BB27DFE-3A33-CA4E-F68A-F2EAD98268A1}"/>
              </a:ext>
            </a:extLst>
          </p:cNvPr>
          <p:cNvPicPr>
            <a:picLocks noChangeAspect="1"/>
          </p:cNvPicPr>
          <p:nvPr/>
        </p:nvPicPr>
        <p:blipFill>
          <a:blip r:embed="rId5"/>
          <a:stretch>
            <a:fillRect/>
          </a:stretch>
        </p:blipFill>
        <p:spPr>
          <a:xfrm>
            <a:off x="18169343" y="3220753"/>
            <a:ext cx="11142982" cy="7676629"/>
          </a:xfrm>
          <a:prstGeom prst="rect">
            <a:avLst/>
          </a:prstGeom>
        </p:spPr>
      </p:pic>
      <p:sp>
        <p:nvSpPr>
          <p:cNvPr id="5" name="TextBox 4">
            <a:extLst>
              <a:ext uri="{FF2B5EF4-FFF2-40B4-BE49-F238E27FC236}">
                <a16:creationId xmlns:a16="http://schemas.microsoft.com/office/drawing/2014/main" id="{D8E2A8F2-E2FB-2A33-B2BB-DF9F3B2C0CEA}"/>
              </a:ext>
            </a:extLst>
          </p:cNvPr>
          <p:cNvSpPr txBox="1"/>
          <p:nvPr/>
        </p:nvSpPr>
        <p:spPr>
          <a:xfrm>
            <a:off x="11979733" y="261258"/>
            <a:ext cx="6879771" cy="1631088"/>
          </a:xfrm>
          <a:prstGeom prst="rect">
            <a:avLst/>
          </a:prstGeom>
          <a:noFill/>
        </p:spPr>
        <p:txBody>
          <a:bodyPr wrap="square" rtlCol="0">
            <a:spAutoFit/>
          </a:bodyPr>
          <a:lstStyle/>
          <a:p>
            <a:r>
              <a:rPr lang="en-IN" sz="7200" b="1" dirty="0">
                <a:latin typeface="Agency FB" panose="020B0503020202020204" pitchFamily="34" charset="0"/>
                <a:cs typeface="Times New Roman" panose="02020603050405020304" pitchFamily="18" charset="0"/>
              </a:rPr>
              <a:t>Is Cycling </a:t>
            </a:r>
            <a:r>
              <a:rPr lang="en-IN" sz="7200" b="1" u="sng" dirty="0">
                <a:solidFill>
                  <a:schemeClr val="accent6"/>
                </a:solidFill>
                <a:latin typeface="Agency FB" panose="020B0503020202020204" pitchFamily="34" charset="0"/>
                <a:cs typeface="Times New Roman" panose="02020603050405020304" pitchFamily="18" charset="0"/>
              </a:rPr>
              <a:t>Safer</a:t>
            </a:r>
            <a:r>
              <a:rPr lang="en-IN" sz="7200" b="1" dirty="0">
                <a:latin typeface="Agency FB" panose="020B0503020202020204" pitchFamily="34" charset="0"/>
                <a:cs typeface="Times New Roman" panose="02020603050405020304" pitchFamily="18" charset="0"/>
              </a:rPr>
              <a:t> ?</a:t>
            </a:r>
          </a:p>
          <a:p>
            <a:r>
              <a:rPr lang="en-IN" sz="2799" b="1" u="sng" dirty="0">
                <a:latin typeface="Agency FB" panose="020B0503020202020204" pitchFamily="34" charset="0"/>
                <a:cs typeface="Times New Roman" panose="02020603050405020304" pitchFamily="18" charset="0"/>
              </a:rPr>
              <a:t>Source Data: Stats19 Wales Collision Data 2018-2022</a:t>
            </a:r>
          </a:p>
        </p:txBody>
      </p:sp>
      <p:pic>
        <p:nvPicPr>
          <p:cNvPr id="3076" name="Picture 4" descr="Wales population stats in maps and graphs.">
            <a:extLst>
              <a:ext uri="{FF2B5EF4-FFF2-40B4-BE49-F238E27FC236}">
                <a16:creationId xmlns:a16="http://schemas.microsoft.com/office/drawing/2014/main" id="{B45CC401-94A0-5C1C-93AE-9488E3275CA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977" t="7956" r="34316" b="11648"/>
          <a:stretch/>
        </p:blipFill>
        <p:spPr bwMode="auto">
          <a:xfrm>
            <a:off x="18859504" y="23498365"/>
            <a:ext cx="9762670" cy="124474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446E8D7-006E-36CF-EF9B-4E40D9D60AA1}"/>
              </a:ext>
            </a:extLst>
          </p:cNvPr>
          <p:cNvSpPr txBox="1"/>
          <p:nvPr/>
        </p:nvSpPr>
        <p:spPr>
          <a:xfrm>
            <a:off x="23768798" y="17868759"/>
            <a:ext cx="1707519" cy="236347"/>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p>
        </p:txBody>
      </p:sp>
      <p:sp>
        <p:nvSpPr>
          <p:cNvPr id="8" name="TextBox 7">
            <a:extLst>
              <a:ext uri="{FF2B5EF4-FFF2-40B4-BE49-F238E27FC236}">
                <a16:creationId xmlns:a16="http://schemas.microsoft.com/office/drawing/2014/main" id="{68F78007-3FF8-2B71-55AC-D4BBD23106A7}"/>
              </a:ext>
            </a:extLst>
          </p:cNvPr>
          <p:cNvSpPr txBox="1"/>
          <p:nvPr/>
        </p:nvSpPr>
        <p:spPr>
          <a:xfrm>
            <a:off x="1570263" y="36601274"/>
            <a:ext cx="12443960" cy="4399922"/>
          </a:xfrm>
          <a:prstGeom prst="rect">
            <a:avLst/>
          </a:prstGeom>
          <a:noFill/>
        </p:spPr>
        <p:txBody>
          <a:bodyPr wrap="square" rtlCol="0">
            <a:spAutoFit/>
          </a:bodyPr>
          <a:lstStyle/>
          <a:p>
            <a:r>
              <a:rPr lang="en-IN" sz="2799" b="1" u="sng" dirty="0">
                <a:latin typeface="Agency FB" panose="020B0503020202020204" pitchFamily="34" charset="0"/>
                <a:cs typeface="Times New Roman" panose="02020603050405020304" pitchFamily="18" charset="0"/>
              </a:rPr>
              <a:t>Conclusion:</a:t>
            </a:r>
          </a:p>
          <a:p>
            <a:endParaRPr lang="en-IN" sz="2799" b="1" u="sng"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Cycles are safer in comparison to cars and but could be more safer with more safety regulations in place. Riders collide due to lack of road safety regulations on the dual carriageway roads as the problems arose due to confusion.</a:t>
            </a:r>
            <a:br>
              <a:rPr lang="en-IN" sz="2799" dirty="0">
                <a:latin typeface="Agency FB" panose="020B0503020202020204" pitchFamily="34" charset="0"/>
                <a:cs typeface="Times New Roman" panose="02020603050405020304" pitchFamily="18" charset="0"/>
              </a:rPr>
            </a:b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Cycles are less dependable during bad weather and light conditions</a:t>
            </a:r>
            <a:br>
              <a:rPr lang="en-IN" sz="2799" dirty="0">
                <a:latin typeface="Agency FB" panose="020B0503020202020204" pitchFamily="34" charset="0"/>
                <a:cs typeface="Times New Roman" panose="02020603050405020304" pitchFamily="18" charset="0"/>
              </a:rPr>
            </a:b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7A58ABA2-32EF-42BD-C3C1-F9CCDA7D7E38}"/>
              </a:ext>
            </a:extLst>
          </p:cNvPr>
          <p:cNvSpPr txBox="1"/>
          <p:nvPr/>
        </p:nvSpPr>
        <p:spPr>
          <a:xfrm>
            <a:off x="1570263" y="4198005"/>
            <a:ext cx="12443960" cy="5261440"/>
          </a:xfrm>
          <a:prstGeom prst="rect">
            <a:avLst/>
          </a:prstGeom>
          <a:noFill/>
        </p:spPr>
        <p:txBody>
          <a:bodyPr wrap="square" rtlCol="0">
            <a:spAutoFit/>
          </a:bodyPr>
          <a:lstStyle/>
          <a:p>
            <a:r>
              <a:rPr lang="en-IN" sz="2799" b="1" u="sng" dirty="0">
                <a:latin typeface="Agency FB" panose="020B0503020202020204" pitchFamily="34" charset="0"/>
                <a:cs typeface="Times New Roman" panose="02020603050405020304" pitchFamily="18" charset="0"/>
              </a:rPr>
              <a:t>Introduction:</a:t>
            </a:r>
          </a:p>
          <a:p>
            <a:endParaRPr lang="en-IN" sz="2799" b="1" u="sng"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Explain What is this analysis about  ?</a:t>
            </a: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Lorem ipsum random sample text showing percentage or statistics of something important </a:t>
            </a: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Lorem ipsum random sample text showing percentage or statistics of something important </a:t>
            </a: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Lorem ipsum random sample text showing percentage or statistics of something important </a:t>
            </a: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Lorem ipsum random sample text showing percentage or statistics of something important </a:t>
            </a:r>
          </a:p>
          <a:p>
            <a:pPr marL="514301" indent="-514301">
              <a:buFont typeface="+mj-lt"/>
              <a:buAutoNum type="arabicPeriod"/>
            </a:pPr>
            <a:endParaRPr lang="en-IN" sz="2799" dirty="0">
              <a:latin typeface="Agency FB" panose="020B0503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1F0CA5F9-4355-132C-045D-90803D487136}"/>
              </a:ext>
            </a:extLst>
          </p:cNvPr>
          <p:cNvSpPr txBox="1"/>
          <p:nvPr/>
        </p:nvSpPr>
        <p:spPr>
          <a:xfrm>
            <a:off x="2860998" y="13368730"/>
            <a:ext cx="1773242" cy="812402"/>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br>
              <a:rPr lang="en-IN" sz="468" dirty="0"/>
            </a:br>
            <a:br>
              <a:rPr lang="en-IN" sz="468" dirty="0"/>
            </a:br>
            <a:br>
              <a:rPr lang="en-IN" sz="468" dirty="0"/>
            </a:br>
            <a:endParaRPr lang="en-IN" sz="468" dirty="0"/>
          </a:p>
          <a:p>
            <a:pPr marL="285722" indent="-285722">
              <a:buFont typeface="Arial" panose="020B0604020202020204" pitchFamily="34" charset="0"/>
              <a:buChar char="•"/>
            </a:pPr>
            <a:r>
              <a:rPr lang="en-US" sz="468" dirty="0">
                <a:latin typeface="system-ui"/>
              </a:rPr>
              <a:t>84.9% of the accidents are happening in urban areas </a:t>
            </a:r>
          </a:p>
          <a:p>
            <a:r>
              <a:rPr lang="en-US" sz="468" dirty="0">
                <a:latin typeface="system-ui"/>
              </a:rPr>
              <a:t>and 14.9% are happening in the rural areas</a:t>
            </a:r>
            <a:br>
              <a:rPr lang="en-US" sz="468" dirty="0">
                <a:latin typeface="system-ui"/>
              </a:rPr>
            </a:br>
            <a:endParaRPr lang="en-US" sz="468" dirty="0">
              <a:latin typeface="system-ui"/>
            </a:endParaRPr>
          </a:p>
          <a:p>
            <a:endParaRPr lang="en-US" sz="468" dirty="0">
              <a:latin typeface="system-ui"/>
            </a:endParaRPr>
          </a:p>
          <a:p>
            <a:pPr marL="285722" indent="-285722">
              <a:buFont typeface="Arial" panose="020B0604020202020204" pitchFamily="34" charset="0"/>
              <a:buChar char="•"/>
            </a:pPr>
            <a:endParaRPr lang="en-IN" sz="468" dirty="0"/>
          </a:p>
        </p:txBody>
      </p:sp>
      <p:sp>
        <p:nvSpPr>
          <p:cNvPr id="14" name="TextBox 13">
            <a:extLst>
              <a:ext uri="{FF2B5EF4-FFF2-40B4-BE49-F238E27FC236}">
                <a16:creationId xmlns:a16="http://schemas.microsoft.com/office/drawing/2014/main" id="{4588ED8B-8DDA-F737-5523-44EBCDE58497}"/>
              </a:ext>
            </a:extLst>
          </p:cNvPr>
          <p:cNvSpPr txBox="1"/>
          <p:nvPr/>
        </p:nvSpPr>
        <p:spPr>
          <a:xfrm>
            <a:off x="1570265" y="10627066"/>
            <a:ext cx="6737930" cy="953851"/>
          </a:xfrm>
          <a:prstGeom prst="rect">
            <a:avLst/>
          </a:prstGeom>
          <a:noFill/>
        </p:spPr>
        <p:txBody>
          <a:bodyPr wrap="square" rtlCol="0">
            <a:spAutoFit/>
          </a:bodyPr>
          <a:lstStyle/>
          <a:p>
            <a:r>
              <a:rPr lang="en-IN" sz="2799" b="1" u="sng" dirty="0">
                <a:latin typeface="Agency FB" panose="020B0503020202020204" pitchFamily="34" charset="0"/>
                <a:cs typeface="Times New Roman" panose="02020603050405020304" pitchFamily="18" charset="0"/>
              </a:rPr>
              <a:t>Observations:</a:t>
            </a:r>
          </a:p>
          <a:p>
            <a:endParaRPr lang="en-IN" sz="2799" b="1" u="sng" dirty="0">
              <a:latin typeface="Agency FB" panose="020B050302020202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1E69C5EC-D0E0-F4F4-1C71-FFAED88BFD5E}"/>
              </a:ext>
            </a:extLst>
          </p:cNvPr>
          <p:cNvSpPr txBox="1"/>
          <p:nvPr/>
        </p:nvSpPr>
        <p:spPr>
          <a:xfrm>
            <a:off x="2861001" y="21714544"/>
            <a:ext cx="7095043" cy="524374"/>
          </a:xfrm>
          <a:prstGeom prst="rect">
            <a:avLst/>
          </a:prstGeom>
          <a:noFill/>
        </p:spPr>
        <p:txBody>
          <a:bodyPr wrap="square">
            <a:spAutoFit/>
          </a:bodyPr>
          <a:lstStyle/>
          <a:p>
            <a:pPr marL="285722" indent="-285722">
              <a:buFont typeface="Arial" panose="020B0604020202020204" pitchFamily="34" charset="0"/>
              <a:buChar char="•"/>
            </a:pPr>
            <a:r>
              <a:rPr lang="en-US" sz="468" dirty="0">
                <a:latin typeface="system-ui"/>
              </a:rPr>
              <a:t>74.5 % of the accidents happen at the road 6 type of road,</a:t>
            </a:r>
            <a:br>
              <a:rPr lang="en-US" sz="468" dirty="0">
                <a:latin typeface="system-ui"/>
              </a:rPr>
            </a:br>
            <a:r>
              <a:rPr lang="en-US" sz="468" dirty="0">
                <a:latin typeface="system-ui"/>
              </a:rPr>
              <a:t> road 6 is a single carriage away</a:t>
            </a:r>
            <a:br>
              <a:rPr lang="en-US" sz="468" dirty="0">
                <a:latin typeface="system-ui"/>
              </a:rPr>
            </a:br>
            <a:br>
              <a:rPr lang="en-US" sz="468" dirty="0">
                <a:latin typeface="system-ui"/>
              </a:rPr>
            </a:br>
            <a:endParaRPr lang="en-US" sz="468" dirty="0">
              <a:latin typeface="system-ui"/>
            </a:endParaRPr>
          </a:p>
          <a:p>
            <a:pPr marL="285722" indent="-285722">
              <a:buFont typeface="Arial" panose="020B0604020202020204" pitchFamily="34" charset="0"/>
              <a:buChar char="•"/>
            </a:pPr>
            <a:r>
              <a:rPr lang="en-US" sz="468" dirty="0">
                <a:latin typeface="system-ui"/>
              </a:rPr>
              <a:t>50 % of the times the first point of impact was </a:t>
            </a:r>
            <a:br>
              <a:rPr lang="en-US" sz="468" dirty="0">
                <a:latin typeface="system-ui"/>
              </a:rPr>
            </a:br>
            <a:r>
              <a:rPr lang="en-US" sz="468" dirty="0">
                <a:latin typeface="system-ui"/>
              </a:rPr>
              <a:t>from the front</a:t>
            </a:r>
          </a:p>
        </p:txBody>
      </p:sp>
      <p:pic>
        <p:nvPicPr>
          <p:cNvPr id="18" name="Picture 17">
            <a:extLst>
              <a:ext uri="{FF2B5EF4-FFF2-40B4-BE49-F238E27FC236}">
                <a16:creationId xmlns:a16="http://schemas.microsoft.com/office/drawing/2014/main" id="{E447CB2C-DE7E-F7BB-9ABB-58AD97097C00}"/>
              </a:ext>
            </a:extLst>
          </p:cNvPr>
          <p:cNvPicPr>
            <a:picLocks noChangeAspect="1"/>
          </p:cNvPicPr>
          <p:nvPr/>
        </p:nvPicPr>
        <p:blipFill rotWithShape="1">
          <a:blip r:embed="rId7">
            <a:extLst>
              <a:ext uri="{28A0092B-C50C-407E-A947-70E740481C1C}">
                <a14:useLocalDpi xmlns:a14="http://schemas.microsoft.com/office/drawing/2010/main" val="0"/>
              </a:ext>
            </a:extLst>
          </a:blip>
          <a:srcRect l="35606" r="31990" b="11181"/>
          <a:stretch/>
        </p:blipFill>
        <p:spPr>
          <a:xfrm>
            <a:off x="7307678" y="16207921"/>
            <a:ext cx="5625490" cy="5129516"/>
          </a:xfrm>
          <a:prstGeom prst="ellipse">
            <a:avLst/>
          </a:prstGeom>
        </p:spPr>
      </p:pic>
      <p:sp>
        <p:nvSpPr>
          <p:cNvPr id="19" name="TextBox 18">
            <a:extLst>
              <a:ext uri="{FF2B5EF4-FFF2-40B4-BE49-F238E27FC236}">
                <a16:creationId xmlns:a16="http://schemas.microsoft.com/office/drawing/2014/main" id="{5E41A8A1-C9BE-D442-7297-1E9AC24C5004}"/>
              </a:ext>
            </a:extLst>
          </p:cNvPr>
          <p:cNvSpPr txBox="1"/>
          <p:nvPr/>
        </p:nvSpPr>
        <p:spPr>
          <a:xfrm>
            <a:off x="21366956" y="13400663"/>
            <a:ext cx="1707519" cy="236347"/>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p>
        </p:txBody>
      </p:sp>
      <p:sp>
        <p:nvSpPr>
          <p:cNvPr id="20" name="TextBox 19">
            <a:extLst>
              <a:ext uri="{FF2B5EF4-FFF2-40B4-BE49-F238E27FC236}">
                <a16:creationId xmlns:a16="http://schemas.microsoft.com/office/drawing/2014/main" id="{F8316348-368D-EA07-6077-3BC21E53AC05}"/>
              </a:ext>
            </a:extLst>
          </p:cNvPr>
          <p:cNvSpPr txBox="1"/>
          <p:nvPr/>
        </p:nvSpPr>
        <p:spPr>
          <a:xfrm>
            <a:off x="22355730" y="21619751"/>
            <a:ext cx="1707519" cy="236347"/>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p>
        </p:txBody>
      </p:sp>
      <p:sp>
        <p:nvSpPr>
          <p:cNvPr id="21" name="TextBox 20">
            <a:extLst>
              <a:ext uri="{FF2B5EF4-FFF2-40B4-BE49-F238E27FC236}">
                <a16:creationId xmlns:a16="http://schemas.microsoft.com/office/drawing/2014/main" id="{99311930-57B0-E0BB-017A-5384639A0C93}"/>
              </a:ext>
            </a:extLst>
          </p:cNvPr>
          <p:cNvSpPr txBox="1"/>
          <p:nvPr/>
        </p:nvSpPr>
        <p:spPr>
          <a:xfrm>
            <a:off x="1641856" y="17868759"/>
            <a:ext cx="1707519" cy="236347"/>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p>
        </p:txBody>
      </p:sp>
      <p:pic>
        <p:nvPicPr>
          <p:cNvPr id="23" name="Picture 22">
            <a:extLst>
              <a:ext uri="{FF2B5EF4-FFF2-40B4-BE49-F238E27FC236}">
                <a16:creationId xmlns:a16="http://schemas.microsoft.com/office/drawing/2014/main" id="{46E857DC-286A-F2EE-BA5D-0B05034A0948}"/>
              </a:ext>
            </a:extLst>
          </p:cNvPr>
          <p:cNvPicPr>
            <a:picLocks noChangeAspect="1"/>
          </p:cNvPicPr>
          <p:nvPr/>
        </p:nvPicPr>
        <p:blipFill>
          <a:blip r:embed="rId8"/>
          <a:stretch>
            <a:fillRect/>
          </a:stretch>
        </p:blipFill>
        <p:spPr>
          <a:xfrm>
            <a:off x="1888470" y="26668327"/>
            <a:ext cx="13387250" cy="7339205"/>
          </a:xfrm>
          <a:prstGeom prst="rect">
            <a:avLst/>
          </a:prstGeom>
        </p:spPr>
      </p:pic>
    </p:spTree>
    <p:extLst>
      <p:ext uri="{BB962C8B-B14F-4D97-AF65-F5344CB8AC3E}">
        <p14:creationId xmlns:p14="http://schemas.microsoft.com/office/powerpoint/2010/main" val="118213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Premium Vector | Hand drawing of profile silhouette city bicycle">
            <a:extLst>
              <a:ext uri="{FF2B5EF4-FFF2-40B4-BE49-F238E27FC236}">
                <a16:creationId xmlns:a16="http://schemas.microsoft.com/office/drawing/2014/main" id="{4F24014F-00FB-89CC-FB37-41FE37B261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1816" y="10684970"/>
            <a:ext cx="17745980" cy="128133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1203C27B-ED86-300A-19B1-82FA6C7A49A0}"/>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200000"/>
                    </a14:imgEffect>
                  </a14:imgLayer>
                </a14:imgProps>
              </a:ext>
            </a:extLst>
          </a:blip>
          <a:srcRect t="9475" b="470"/>
          <a:stretch/>
        </p:blipFill>
        <p:spPr>
          <a:xfrm>
            <a:off x="16773044" y="15880655"/>
            <a:ext cx="6611346" cy="5799473"/>
          </a:xfrm>
          <a:prstGeom prst="ellipse">
            <a:avLst/>
          </a:prstGeom>
          <a:ln>
            <a:noFill/>
          </a:ln>
          <a:effectLst>
            <a:softEdge rad="112500"/>
          </a:effectLst>
        </p:spPr>
      </p:pic>
      <p:pic>
        <p:nvPicPr>
          <p:cNvPr id="3" name="Picture 2">
            <a:extLst>
              <a:ext uri="{FF2B5EF4-FFF2-40B4-BE49-F238E27FC236}">
                <a16:creationId xmlns:a16="http://schemas.microsoft.com/office/drawing/2014/main" id="{5BB27DFE-3A33-CA4E-F68A-F2EAD98268A1}"/>
              </a:ext>
            </a:extLst>
          </p:cNvPr>
          <p:cNvPicPr>
            <a:picLocks noChangeAspect="1"/>
          </p:cNvPicPr>
          <p:nvPr/>
        </p:nvPicPr>
        <p:blipFill>
          <a:blip r:embed="rId5"/>
          <a:stretch>
            <a:fillRect/>
          </a:stretch>
        </p:blipFill>
        <p:spPr>
          <a:xfrm>
            <a:off x="18169343" y="3220753"/>
            <a:ext cx="11142982" cy="7676629"/>
          </a:xfrm>
          <a:prstGeom prst="rect">
            <a:avLst/>
          </a:prstGeom>
        </p:spPr>
      </p:pic>
      <p:sp>
        <p:nvSpPr>
          <p:cNvPr id="5" name="TextBox 4">
            <a:extLst>
              <a:ext uri="{FF2B5EF4-FFF2-40B4-BE49-F238E27FC236}">
                <a16:creationId xmlns:a16="http://schemas.microsoft.com/office/drawing/2014/main" id="{D8E2A8F2-E2FB-2A33-B2BB-DF9F3B2C0CEA}"/>
              </a:ext>
            </a:extLst>
          </p:cNvPr>
          <p:cNvSpPr txBox="1"/>
          <p:nvPr/>
        </p:nvSpPr>
        <p:spPr>
          <a:xfrm>
            <a:off x="11979733" y="261258"/>
            <a:ext cx="6879771" cy="1631088"/>
          </a:xfrm>
          <a:prstGeom prst="rect">
            <a:avLst/>
          </a:prstGeom>
          <a:noFill/>
        </p:spPr>
        <p:txBody>
          <a:bodyPr wrap="square" rtlCol="0">
            <a:spAutoFit/>
          </a:bodyPr>
          <a:lstStyle/>
          <a:p>
            <a:r>
              <a:rPr lang="en-IN" sz="7200" b="1" dirty="0">
                <a:latin typeface="Agency FB" panose="020B0503020202020204" pitchFamily="34" charset="0"/>
                <a:cs typeface="Times New Roman" panose="02020603050405020304" pitchFamily="18" charset="0"/>
              </a:rPr>
              <a:t>Is Cycling </a:t>
            </a:r>
            <a:r>
              <a:rPr lang="en-IN" sz="7200" b="1" u="sng" dirty="0">
                <a:solidFill>
                  <a:schemeClr val="accent6"/>
                </a:solidFill>
                <a:latin typeface="Agency FB" panose="020B0503020202020204" pitchFamily="34" charset="0"/>
                <a:cs typeface="Times New Roman" panose="02020603050405020304" pitchFamily="18" charset="0"/>
              </a:rPr>
              <a:t>Safer</a:t>
            </a:r>
            <a:r>
              <a:rPr lang="en-IN" sz="7200" b="1" dirty="0">
                <a:latin typeface="Agency FB" panose="020B0503020202020204" pitchFamily="34" charset="0"/>
                <a:cs typeface="Times New Roman" panose="02020603050405020304" pitchFamily="18" charset="0"/>
              </a:rPr>
              <a:t> ?</a:t>
            </a:r>
          </a:p>
          <a:p>
            <a:r>
              <a:rPr lang="en-IN" sz="2799" b="1" u="sng" dirty="0">
                <a:latin typeface="Agency FB" panose="020B0503020202020204" pitchFamily="34" charset="0"/>
                <a:cs typeface="Times New Roman" panose="02020603050405020304" pitchFamily="18" charset="0"/>
              </a:rPr>
              <a:t>Source Data: Stats19 Wales Collision Data 2018-2022</a:t>
            </a:r>
          </a:p>
        </p:txBody>
      </p:sp>
      <p:pic>
        <p:nvPicPr>
          <p:cNvPr id="3076" name="Picture 4" descr="Wales population stats in maps and graphs.">
            <a:extLst>
              <a:ext uri="{FF2B5EF4-FFF2-40B4-BE49-F238E27FC236}">
                <a16:creationId xmlns:a16="http://schemas.microsoft.com/office/drawing/2014/main" id="{B45CC401-94A0-5C1C-93AE-9488E3275CA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977" t="7956" r="34316" b="11648"/>
          <a:stretch/>
        </p:blipFill>
        <p:spPr bwMode="auto">
          <a:xfrm>
            <a:off x="18859504" y="23498365"/>
            <a:ext cx="9762670" cy="124474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446E8D7-006E-36CF-EF9B-4E40D9D60AA1}"/>
              </a:ext>
            </a:extLst>
          </p:cNvPr>
          <p:cNvSpPr txBox="1"/>
          <p:nvPr/>
        </p:nvSpPr>
        <p:spPr>
          <a:xfrm>
            <a:off x="23768798" y="17868759"/>
            <a:ext cx="1707519" cy="236347"/>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p>
        </p:txBody>
      </p:sp>
      <p:sp>
        <p:nvSpPr>
          <p:cNvPr id="8" name="TextBox 7">
            <a:extLst>
              <a:ext uri="{FF2B5EF4-FFF2-40B4-BE49-F238E27FC236}">
                <a16:creationId xmlns:a16="http://schemas.microsoft.com/office/drawing/2014/main" id="{68F78007-3FF8-2B71-55AC-D4BBD23106A7}"/>
              </a:ext>
            </a:extLst>
          </p:cNvPr>
          <p:cNvSpPr txBox="1"/>
          <p:nvPr/>
        </p:nvSpPr>
        <p:spPr>
          <a:xfrm>
            <a:off x="1570263" y="36601274"/>
            <a:ext cx="12443960" cy="4399922"/>
          </a:xfrm>
          <a:prstGeom prst="rect">
            <a:avLst/>
          </a:prstGeom>
          <a:noFill/>
        </p:spPr>
        <p:txBody>
          <a:bodyPr wrap="square" rtlCol="0">
            <a:spAutoFit/>
          </a:bodyPr>
          <a:lstStyle/>
          <a:p>
            <a:r>
              <a:rPr lang="en-IN" sz="2799" b="1" u="sng" dirty="0">
                <a:latin typeface="Agency FB" panose="020B0503020202020204" pitchFamily="34" charset="0"/>
                <a:cs typeface="Times New Roman" panose="02020603050405020304" pitchFamily="18" charset="0"/>
              </a:rPr>
              <a:t>Conclusion:</a:t>
            </a:r>
          </a:p>
          <a:p>
            <a:endParaRPr lang="en-IN" sz="2799" b="1" u="sng"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Cycles are safer in comparison to cars and but could be more safer with more safety regulations in place. Riders collide due to lack of road safety regulations on the dual carriageway roads as the problems arose due to confusion.</a:t>
            </a:r>
            <a:br>
              <a:rPr lang="en-IN" sz="2799" dirty="0">
                <a:latin typeface="Agency FB" panose="020B0503020202020204" pitchFamily="34" charset="0"/>
                <a:cs typeface="Times New Roman" panose="02020603050405020304" pitchFamily="18" charset="0"/>
              </a:rPr>
            </a:b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Cycles are less dependable during bad weather and light conditions</a:t>
            </a:r>
            <a:br>
              <a:rPr lang="en-IN" sz="2799" dirty="0">
                <a:latin typeface="Agency FB" panose="020B0503020202020204" pitchFamily="34" charset="0"/>
                <a:cs typeface="Times New Roman" panose="02020603050405020304" pitchFamily="18" charset="0"/>
              </a:rPr>
            </a:b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7A58ABA2-32EF-42BD-C3C1-F9CCDA7D7E38}"/>
              </a:ext>
            </a:extLst>
          </p:cNvPr>
          <p:cNvSpPr txBox="1"/>
          <p:nvPr/>
        </p:nvSpPr>
        <p:spPr>
          <a:xfrm>
            <a:off x="1570263" y="4198005"/>
            <a:ext cx="12443960" cy="5261440"/>
          </a:xfrm>
          <a:prstGeom prst="rect">
            <a:avLst/>
          </a:prstGeom>
          <a:noFill/>
        </p:spPr>
        <p:txBody>
          <a:bodyPr wrap="square" rtlCol="0">
            <a:spAutoFit/>
          </a:bodyPr>
          <a:lstStyle/>
          <a:p>
            <a:r>
              <a:rPr lang="en-IN" sz="2799" b="1" u="sng" dirty="0">
                <a:latin typeface="Agency FB" panose="020B0503020202020204" pitchFamily="34" charset="0"/>
                <a:cs typeface="Times New Roman" panose="02020603050405020304" pitchFamily="18" charset="0"/>
              </a:rPr>
              <a:t>Introduction:</a:t>
            </a:r>
          </a:p>
          <a:p>
            <a:endParaRPr lang="en-IN" sz="2799" b="1" u="sng"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Explain What is this analysis about  ?</a:t>
            </a: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Lorem ipsum random sample text showing percentage or statistics of something important </a:t>
            </a: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Lorem ipsum random sample text showing percentage or statistics of something important </a:t>
            </a: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Lorem ipsum random sample text showing percentage or statistics of something important </a:t>
            </a:r>
            <a:br>
              <a:rPr lang="en-IN" sz="2799" dirty="0">
                <a:latin typeface="Agency FB" panose="020B0503020202020204" pitchFamily="34" charset="0"/>
                <a:cs typeface="Times New Roman" panose="02020603050405020304" pitchFamily="18" charset="0"/>
              </a:rPr>
            </a:br>
            <a:endParaRPr lang="en-IN" sz="2799" dirty="0">
              <a:latin typeface="Agency FB" panose="020B0503020202020204" pitchFamily="34" charset="0"/>
              <a:cs typeface="Times New Roman" panose="02020603050405020304" pitchFamily="18" charset="0"/>
            </a:endParaRPr>
          </a:p>
          <a:p>
            <a:pPr marL="514301" indent="-514301">
              <a:buFont typeface="+mj-lt"/>
              <a:buAutoNum type="arabicPeriod"/>
            </a:pPr>
            <a:r>
              <a:rPr lang="en-IN" sz="2799" dirty="0">
                <a:latin typeface="Agency FB" panose="020B0503020202020204" pitchFamily="34" charset="0"/>
                <a:cs typeface="Times New Roman" panose="02020603050405020304" pitchFamily="18" charset="0"/>
              </a:rPr>
              <a:t>Lorem ipsum random sample text showing percentage or statistics of something important </a:t>
            </a:r>
          </a:p>
          <a:p>
            <a:pPr marL="514301" indent="-514301">
              <a:buFont typeface="+mj-lt"/>
              <a:buAutoNum type="arabicPeriod"/>
            </a:pPr>
            <a:endParaRPr lang="en-IN" sz="2799" dirty="0">
              <a:latin typeface="Agency FB" panose="020B0503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1F0CA5F9-4355-132C-045D-90803D487136}"/>
              </a:ext>
            </a:extLst>
          </p:cNvPr>
          <p:cNvSpPr txBox="1"/>
          <p:nvPr/>
        </p:nvSpPr>
        <p:spPr>
          <a:xfrm>
            <a:off x="2860998" y="13368730"/>
            <a:ext cx="1773242" cy="812402"/>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br>
              <a:rPr lang="en-IN" sz="468" dirty="0"/>
            </a:br>
            <a:br>
              <a:rPr lang="en-IN" sz="468" dirty="0"/>
            </a:br>
            <a:br>
              <a:rPr lang="en-IN" sz="468" dirty="0"/>
            </a:br>
            <a:endParaRPr lang="en-IN" sz="468" dirty="0"/>
          </a:p>
          <a:p>
            <a:pPr marL="285722" indent="-285722">
              <a:buFont typeface="Arial" panose="020B0604020202020204" pitchFamily="34" charset="0"/>
              <a:buChar char="•"/>
            </a:pPr>
            <a:r>
              <a:rPr lang="en-US" sz="468" dirty="0">
                <a:latin typeface="system-ui"/>
              </a:rPr>
              <a:t>84.9% of the accidents are happening in urban areas </a:t>
            </a:r>
          </a:p>
          <a:p>
            <a:r>
              <a:rPr lang="en-US" sz="468" dirty="0">
                <a:latin typeface="system-ui"/>
              </a:rPr>
              <a:t>and 14.9% are happening in the rural areas</a:t>
            </a:r>
            <a:br>
              <a:rPr lang="en-US" sz="468" dirty="0">
                <a:latin typeface="system-ui"/>
              </a:rPr>
            </a:br>
            <a:endParaRPr lang="en-US" sz="468" dirty="0">
              <a:latin typeface="system-ui"/>
            </a:endParaRPr>
          </a:p>
          <a:p>
            <a:endParaRPr lang="en-US" sz="468" dirty="0">
              <a:latin typeface="system-ui"/>
            </a:endParaRPr>
          </a:p>
          <a:p>
            <a:pPr marL="285722" indent="-285722">
              <a:buFont typeface="Arial" panose="020B0604020202020204" pitchFamily="34" charset="0"/>
              <a:buChar char="•"/>
            </a:pPr>
            <a:endParaRPr lang="en-IN" sz="468" dirty="0"/>
          </a:p>
        </p:txBody>
      </p:sp>
      <p:sp>
        <p:nvSpPr>
          <p:cNvPr id="14" name="TextBox 13">
            <a:extLst>
              <a:ext uri="{FF2B5EF4-FFF2-40B4-BE49-F238E27FC236}">
                <a16:creationId xmlns:a16="http://schemas.microsoft.com/office/drawing/2014/main" id="{4588ED8B-8DDA-F737-5523-44EBCDE58497}"/>
              </a:ext>
            </a:extLst>
          </p:cNvPr>
          <p:cNvSpPr txBox="1"/>
          <p:nvPr/>
        </p:nvSpPr>
        <p:spPr>
          <a:xfrm>
            <a:off x="1570265" y="10627066"/>
            <a:ext cx="6737930" cy="953851"/>
          </a:xfrm>
          <a:prstGeom prst="rect">
            <a:avLst/>
          </a:prstGeom>
          <a:noFill/>
        </p:spPr>
        <p:txBody>
          <a:bodyPr wrap="square" rtlCol="0">
            <a:spAutoFit/>
          </a:bodyPr>
          <a:lstStyle/>
          <a:p>
            <a:r>
              <a:rPr lang="en-IN" sz="2799" b="1" u="sng" dirty="0">
                <a:latin typeface="Agency FB" panose="020B0503020202020204" pitchFamily="34" charset="0"/>
                <a:cs typeface="Times New Roman" panose="02020603050405020304" pitchFamily="18" charset="0"/>
              </a:rPr>
              <a:t>Observations:</a:t>
            </a:r>
          </a:p>
          <a:p>
            <a:endParaRPr lang="en-IN" sz="2799" b="1" u="sng" dirty="0">
              <a:latin typeface="Agency FB" panose="020B050302020202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1E69C5EC-D0E0-F4F4-1C71-FFAED88BFD5E}"/>
              </a:ext>
            </a:extLst>
          </p:cNvPr>
          <p:cNvSpPr txBox="1"/>
          <p:nvPr/>
        </p:nvSpPr>
        <p:spPr>
          <a:xfrm>
            <a:off x="2861001" y="21714544"/>
            <a:ext cx="7095043" cy="524374"/>
          </a:xfrm>
          <a:prstGeom prst="rect">
            <a:avLst/>
          </a:prstGeom>
          <a:noFill/>
        </p:spPr>
        <p:txBody>
          <a:bodyPr wrap="square">
            <a:spAutoFit/>
          </a:bodyPr>
          <a:lstStyle/>
          <a:p>
            <a:pPr marL="285722" indent="-285722">
              <a:buFont typeface="Arial" panose="020B0604020202020204" pitchFamily="34" charset="0"/>
              <a:buChar char="•"/>
            </a:pPr>
            <a:r>
              <a:rPr lang="en-US" sz="468" dirty="0">
                <a:latin typeface="system-ui"/>
              </a:rPr>
              <a:t>74.5 % of the accidents happen at the road 6 type of road,</a:t>
            </a:r>
            <a:br>
              <a:rPr lang="en-US" sz="468" dirty="0">
                <a:latin typeface="system-ui"/>
              </a:rPr>
            </a:br>
            <a:r>
              <a:rPr lang="en-US" sz="468" dirty="0">
                <a:latin typeface="system-ui"/>
              </a:rPr>
              <a:t> road 6 is a single carriage away</a:t>
            </a:r>
            <a:br>
              <a:rPr lang="en-US" sz="468" dirty="0">
                <a:latin typeface="system-ui"/>
              </a:rPr>
            </a:br>
            <a:br>
              <a:rPr lang="en-US" sz="468" dirty="0">
                <a:latin typeface="system-ui"/>
              </a:rPr>
            </a:br>
            <a:endParaRPr lang="en-US" sz="468" dirty="0">
              <a:latin typeface="system-ui"/>
            </a:endParaRPr>
          </a:p>
          <a:p>
            <a:pPr marL="285722" indent="-285722">
              <a:buFont typeface="Arial" panose="020B0604020202020204" pitchFamily="34" charset="0"/>
              <a:buChar char="•"/>
            </a:pPr>
            <a:r>
              <a:rPr lang="en-US" sz="468" dirty="0">
                <a:latin typeface="system-ui"/>
              </a:rPr>
              <a:t>50 % of the times the first point of impact was </a:t>
            </a:r>
            <a:br>
              <a:rPr lang="en-US" sz="468" dirty="0">
                <a:latin typeface="system-ui"/>
              </a:rPr>
            </a:br>
            <a:r>
              <a:rPr lang="en-US" sz="468" dirty="0">
                <a:latin typeface="system-ui"/>
              </a:rPr>
              <a:t>from the front</a:t>
            </a:r>
          </a:p>
        </p:txBody>
      </p:sp>
      <p:pic>
        <p:nvPicPr>
          <p:cNvPr id="18" name="Picture 17">
            <a:extLst>
              <a:ext uri="{FF2B5EF4-FFF2-40B4-BE49-F238E27FC236}">
                <a16:creationId xmlns:a16="http://schemas.microsoft.com/office/drawing/2014/main" id="{E447CB2C-DE7E-F7BB-9ABB-58AD97097C00}"/>
              </a:ext>
            </a:extLst>
          </p:cNvPr>
          <p:cNvPicPr>
            <a:picLocks noChangeAspect="1"/>
          </p:cNvPicPr>
          <p:nvPr/>
        </p:nvPicPr>
        <p:blipFill rotWithShape="1">
          <a:blip r:embed="rId7">
            <a:extLst>
              <a:ext uri="{28A0092B-C50C-407E-A947-70E740481C1C}">
                <a14:useLocalDpi xmlns:a14="http://schemas.microsoft.com/office/drawing/2010/main" val="0"/>
              </a:ext>
            </a:extLst>
          </a:blip>
          <a:srcRect l="35606" r="31990" b="11181"/>
          <a:stretch/>
        </p:blipFill>
        <p:spPr>
          <a:xfrm>
            <a:off x="7307678" y="16207921"/>
            <a:ext cx="5625490" cy="5129516"/>
          </a:xfrm>
          <a:prstGeom prst="ellipse">
            <a:avLst/>
          </a:prstGeom>
        </p:spPr>
      </p:pic>
      <p:sp>
        <p:nvSpPr>
          <p:cNvPr id="19" name="TextBox 18">
            <a:extLst>
              <a:ext uri="{FF2B5EF4-FFF2-40B4-BE49-F238E27FC236}">
                <a16:creationId xmlns:a16="http://schemas.microsoft.com/office/drawing/2014/main" id="{5E41A8A1-C9BE-D442-7297-1E9AC24C5004}"/>
              </a:ext>
            </a:extLst>
          </p:cNvPr>
          <p:cNvSpPr txBox="1"/>
          <p:nvPr/>
        </p:nvSpPr>
        <p:spPr>
          <a:xfrm>
            <a:off x="21366956" y="13400663"/>
            <a:ext cx="1707519" cy="236347"/>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p>
        </p:txBody>
      </p:sp>
      <p:sp>
        <p:nvSpPr>
          <p:cNvPr id="20" name="TextBox 19">
            <a:extLst>
              <a:ext uri="{FF2B5EF4-FFF2-40B4-BE49-F238E27FC236}">
                <a16:creationId xmlns:a16="http://schemas.microsoft.com/office/drawing/2014/main" id="{F8316348-368D-EA07-6077-3BC21E53AC05}"/>
              </a:ext>
            </a:extLst>
          </p:cNvPr>
          <p:cNvSpPr txBox="1"/>
          <p:nvPr/>
        </p:nvSpPr>
        <p:spPr>
          <a:xfrm>
            <a:off x="22355730" y="21619751"/>
            <a:ext cx="1707519" cy="236347"/>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p>
        </p:txBody>
      </p:sp>
      <p:sp>
        <p:nvSpPr>
          <p:cNvPr id="21" name="TextBox 20">
            <a:extLst>
              <a:ext uri="{FF2B5EF4-FFF2-40B4-BE49-F238E27FC236}">
                <a16:creationId xmlns:a16="http://schemas.microsoft.com/office/drawing/2014/main" id="{99311930-57B0-E0BB-017A-5384639A0C93}"/>
              </a:ext>
            </a:extLst>
          </p:cNvPr>
          <p:cNvSpPr txBox="1"/>
          <p:nvPr/>
        </p:nvSpPr>
        <p:spPr>
          <a:xfrm>
            <a:off x="1641856" y="17868759"/>
            <a:ext cx="1707519" cy="236347"/>
          </a:xfrm>
          <a:prstGeom prst="rect">
            <a:avLst/>
          </a:prstGeom>
          <a:noFill/>
        </p:spPr>
        <p:txBody>
          <a:bodyPr wrap="none" rtlCol="0">
            <a:spAutoFit/>
          </a:bodyPr>
          <a:lstStyle/>
          <a:p>
            <a:pPr marL="285722" indent="-285722">
              <a:buFont typeface="Arial" panose="020B0604020202020204" pitchFamily="34" charset="0"/>
              <a:buChar char="•"/>
            </a:pPr>
            <a:r>
              <a:rPr lang="en-IN" sz="468" dirty="0"/>
              <a:t>76% of the accidents that happen involving cycles </a:t>
            </a:r>
            <a:br>
              <a:rPr lang="en-IN" sz="468" dirty="0"/>
            </a:br>
            <a:r>
              <a:rPr lang="en-IN" sz="468" dirty="0"/>
              <a:t>are severe</a:t>
            </a:r>
          </a:p>
        </p:txBody>
      </p:sp>
      <p:pic>
        <p:nvPicPr>
          <p:cNvPr id="23" name="Picture 22">
            <a:extLst>
              <a:ext uri="{FF2B5EF4-FFF2-40B4-BE49-F238E27FC236}">
                <a16:creationId xmlns:a16="http://schemas.microsoft.com/office/drawing/2014/main" id="{46E857DC-286A-F2EE-BA5D-0B05034A0948}"/>
              </a:ext>
            </a:extLst>
          </p:cNvPr>
          <p:cNvPicPr>
            <a:picLocks noChangeAspect="1"/>
          </p:cNvPicPr>
          <p:nvPr/>
        </p:nvPicPr>
        <p:blipFill>
          <a:blip r:embed="rId8"/>
          <a:stretch>
            <a:fillRect/>
          </a:stretch>
        </p:blipFill>
        <p:spPr>
          <a:xfrm>
            <a:off x="1888470" y="26668327"/>
            <a:ext cx="13387250" cy="7339205"/>
          </a:xfrm>
          <a:prstGeom prst="rect">
            <a:avLst/>
          </a:prstGeom>
        </p:spPr>
      </p:pic>
    </p:spTree>
    <p:extLst>
      <p:ext uri="{BB962C8B-B14F-4D97-AF65-F5344CB8AC3E}">
        <p14:creationId xmlns:p14="http://schemas.microsoft.com/office/powerpoint/2010/main" val="1452629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98F192-9BF0-78D2-FFD3-BE676F2F345C}"/>
              </a:ext>
            </a:extLst>
          </p:cNvPr>
          <p:cNvSpPr txBox="1"/>
          <p:nvPr/>
        </p:nvSpPr>
        <p:spPr>
          <a:xfrm>
            <a:off x="11979727" y="261256"/>
            <a:ext cx="7781471" cy="1569212"/>
          </a:xfrm>
          <a:prstGeom prst="rect">
            <a:avLst/>
          </a:prstGeom>
          <a:noFill/>
        </p:spPr>
        <p:txBody>
          <a:bodyPr wrap="square" rtlCol="0">
            <a:spAutoFit/>
          </a:bodyPr>
          <a:lstStyle/>
          <a:p>
            <a:r>
              <a:rPr lang="en-IN" sz="9597" b="1" dirty="0">
                <a:solidFill>
                  <a:schemeClr val="bg1"/>
                </a:solidFill>
                <a:latin typeface="Agency FB" panose="020B0503020202020204" pitchFamily="34" charset="0"/>
                <a:cs typeface="Times New Roman" panose="02020603050405020304" pitchFamily="18" charset="0"/>
              </a:rPr>
              <a:t>Is Cycling </a:t>
            </a:r>
            <a:r>
              <a:rPr lang="en-IN" sz="9597" b="1" u="sng" dirty="0">
                <a:solidFill>
                  <a:schemeClr val="accent6">
                    <a:lumMod val="40000"/>
                    <a:lumOff val="60000"/>
                  </a:schemeClr>
                </a:solidFill>
                <a:latin typeface="Agency FB" panose="020B0503020202020204" pitchFamily="34" charset="0"/>
                <a:cs typeface="Times New Roman" panose="02020603050405020304" pitchFamily="18" charset="0"/>
              </a:rPr>
              <a:t>Safer</a:t>
            </a:r>
            <a:r>
              <a:rPr lang="en-IN" sz="9597" b="1" dirty="0">
                <a:solidFill>
                  <a:schemeClr val="bg1"/>
                </a:solidFill>
                <a:latin typeface="Agency FB" panose="020B0503020202020204" pitchFamily="34" charset="0"/>
                <a:cs typeface="Times New Roman" panose="02020603050405020304" pitchFamily="18" charset="0"/>
              </a:rPr>
              <a:t> ?</a:t>
            </a:r>
          </a:p>
        </p:txBody>
      </p:sp>
      <p:sp>
        <p:nvSpPr>
          <p:cNvPr id="3" name="Rectangle 2">
            <a:extLst>
              <a:ext uri="{FF2B5EF4-FFF2-40B4-BE49-F238E27FC236}">
                <a16:creationId xmlns:a16="http://schemas.microsoft.com/office/drawing/2014/main" id="{B537AB93-B2BF-5492-DF8C-9F0130377EE5}"/>
              </a:ext>
            </a:extLst>
          </p:cNvPr>
          <p:cNvSpPr/>
          <p:nvPr/>
        </p:nvSpPr>
        <p:spPr>
          <a:xfrm>
            <a:off x="2273941" y="-2"/>
            <a:ext cx="252951" cy="428037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7" name="TextBox 6">
            <a:extLst>
              <a:ext uri="{FF2B5EF4-FFF2-40B4-BE49-F238E27FC236}">
                <a16:creationId xmlns:a16="http://schemas.microsoft.com/office/drawing/2014/main" id="{F0FDFE08-58EC-E0EE-667F-B9DAA436FD90}"/>
              </a:ext>
            </a:extLst>
          </p:cNvPr>
          <p:cNvSpPr txBox="1"/>
          <p:nvPr/>
        </p:nvSpPr>
        <p:spPr>
          <a:xfrm>
            <a:off x="3062105" y="3844229"/>
            <a:ext cx="5591308" cy="1200329"/>
          </a:xfrm>
          <a:prstGeom prst="rect">
            <a:avLst/>
          </a:prstGeom>
          <a:noFill/>
        </p:spPr>
        <p:txBody>
          <a:bodyPr wrap="square">
            <a:spAutoFit/>
          </a:bodyPr>
          <a:lstStyle/>
          <a:p>
            <a:r>
              <a:rPr lang="en-IN" sz="7200" b="1" u="sng" dirty="0">
                <a:solidFill>
                  <a:schemeClr val="bg1"/>
                </a:solidFill>
                <a:latin typeface="Agency FB" panose="020B0503020202020204" pitchFamily="34" charset="0"/>
                <a:cs typeface="Times New Roman" panose="02020603050405020304" pitchFamily="18" charset="0"/>
              </a:rPr>
              <a:t>INTRODUCTION:</a:t>
            </a:r>
            <a:endParaRPr lang="en-IN" sz="468" dirty="0"/>
          </a:p>
        </p:txBody>
      </p:sp>
      <p:sp>
        <p:nvSpPr>
          <p:cNvPr id="9" name="Arrow: Down 8">
            <a:extLst>
              <a:ext uri="{FF2B5EF4-FFF2-40B4-BE49-F238E27FC236}">
                <a16:creationId xmlns:a16="http://schemas.microsoft.com/office/drawing/2014/main" id="{658E354E-CA78-04D9-BCF3-BB8AB92ABAB4}"/>
              </a:ext>
            </a:extLst>
          </p:cNvPr>
          <p:cNvSpPr/>
          <p:nvPr/>
        </p:nvSpPr>
        <p:spPr>
          <a:xfrm>
            <a:off x="598977" y="19767154"/>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028" name="Picture 4" descr="Free Black And White Bicycle Images, Download Free Black And White Bicycle  Images png images, Free ClipArts on Clipart Library">
            <a:extLst>
              <a:ext uri="{FF2B5EF4-FFF2-40B4-BE49-F238E27FC236}">
                <a16:creationId xmlns:a16="http://schemas.microsoft.com/office/drawing/2014/main" id="{36236AF3-BABE-11FB-AEF4-2E29B98107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81921" y="3893877"/>
            <a:ext cx="2976742" cy="223444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Free Black And White Bicycle Images, Download Free Black And White Bicycle  Images png images, Free ClipArts on Clipart Library">
            <a:extLst>
              <a:ext uri="{FF2B5EF4-FFF2-40B4-BE49-F238E27FC236}">
                <a16:creationId xmlns:a16="http://schemas.microsoft.com/office/drawing/2014/main" id="{695C0145-B857-6DD3-F96D-8F6AFABC1F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419871" y="13940675"/>
            <a:ext cx="2976742" cy="223444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Free Black And White Bicycle Images, Download Free Black And White Bicycle  Images png images, Free ClipArts on Clipart Library">
            <a:extLst>
              <a:ext uri="{FF2B5EF4-FFF2-40B4-BE49-F238E27FC236}">
                <a16:creationId xmlns:a16="http://schemas.microsoft.com/office/drawing/2014/main" id="{F0CE6913-682E-FE36-C760-F6BC4ADD47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462429" y="31733731"/>
            <a:ext cx="2976742" cy="223444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7EBD8B68-77B8-E559-6FAB-903CA7604706}"/>
              </a:ext>
            </a:extLst>
          </p:cNvPr>
          <p:cNvSpPr txBox="1"/>
          <p:nvPr/>
        </p:nvSpPr>
        <p:spPr>
          <a:xfrm>
            <a:off x="7636653" y="1926086"/>
            <a:ext cx="17830798" cy="1107996"/>
          </a:xfrm>
          <a:prstGeom prst="rect">
            <a:avLst/>
          </a:prstGeom>
          <a:noFill/>
        </p:spPr>
        <p:txBody>
          <a:bodyPr wrap="square">
            <a:spAutoFit/>
          </a:bodyPr>
          <a:lstStyle/>
          <a:p>
            <a:r>
              <a:rPr lang="en-IN" sz="6600" b="1" u="sng" dirty="0">
                <a:solidFill>
                  <a:schemeClr val="bg1"/>
                </a:solidFill>
                <a:latin typeface="Agency FB" panose="020B0503020202020204" pitchFamily="34" charset="0"/>
                <a:cs typeface="Times New Roman" panose="02020603050405020304" pitchFamily="18" charset="0"/>
              </a:rPr>
              <a:t>Source Data: Stats19 Wales Collision Data 2018-2022</a:t>
            </a:r>
          </a:p>
        </p:txBody>
      </p:sp>
      <p:sp>
        <p:nvSpPr>
          <p:cNvPr id="16" name="TextBox 15">
            <a:extLst>
              <a:ext uri="{FF2B5EF4-FFF2-40B4-BE49-F238E27FC236}">
                <a16:creationId xmlns:a16="http://schemas.microsoft.com/office/drawing/2014/main" id="{875A5F3D-49AD-4124-8710-535AC9C7E6AF}"/>
              </a:ext>
            </a:extLst>
          </p:cNvPr>
          <p:cNvSpPr txBox="1"/>
          <p:nvPr/>
        </p:nvSpPr>
        <p:spPr>
          <a:xfrm>
            <a:off x="3176480" y="13569529"/>
            <a:ext cx="5104004" cy="1200329"/>
          </a:xfrm>
          <a:prstGeom prst="rect">
            <a:avLst/>
          </a:prstGeom>
          <a:noFill/>
        </p:spPr>
        <p:txBody>
          <a:bodyPr wrap="square">
            <a:spAutoFit/>
          </a:bodyPr>
          <a:lstStyle/>
          <a:p>
            <a:r>
              <a:rPr lang="en-IN" sz="7200" b="1" u="sng" dirty="0">
                <a:solidFill>
                  <a:schemeClr val="bg1"/>
                </a:solidFill>
                <a:latin typeface="Agency FB" panose="020B0503020202020204" pitchFamily="34" charset="0"/>
                <a:cs typeface="Times New Roman" panose="02020603050405020304" pitchFamily="18" charset="0"/>
              </a:rPr>
              <a:t>OBSERVATION:</a:t>
            </a:r>
            <a:endParaRPr lang="en-IN" sz="468" dirty="0"/>
          </a:p>
        </p:txBody>
      </p:sp>
      <p:sp>
        <p:nvSpPr>
          <p:cNvPr id="17" name="TextBox 16">
            <a:extLst>
              <a:ext uri="{FF2B5EF4-FFF2-40B4-BE49-F238E27FC236}">
                <a16:creationId xmlns:a16="http://schemas.microsoft.com/office/drawing/2014/main" id="{CC4BB76B-C51A-FF61-46C7-9ED0E3C39CDD}"/>
              </a:ext>
            </a:extLst>
          </p:cNvPr>
          <p:cNvSpPr txBox="1"/>
          <p:nvPr/>
        </p:nvSpPr>
        <p:spPr>
          <a:xfrm>
            <a:off x="3062107" y="31294589"/>
            <a:ext cx="5104004" cy="1200329"/>
          </a:xfrm>
          <a:prstGeom prst="rect">
            <a:avLst/>
          </a:prstGeom>
          <a:noFill/>
        </p:spPr>
        <p:txBody>
          <a:bodyPr wrap="square">
            <a:spAutoFit/>
          </a:bodyPr>
          <a:lstStyle/>
          <a:p>
            <a:r>
              <a:rPr lang="en-IN" sz="7200" b="1" u="sng" dirty="0">
                <a:solidFill>
                  <a:schemeClr val="bg1"/>
                </a:solidFill>
                <a:latin typeface="Agency FB" panose="020B0503020202020204" pitchFamily="34" charset="0"/>
                <a:cs typeface="Times New Roman" panose="02020603050405020304" pitchFamily="18" charset="0"/>
              </a:rPr>
              <a:t>CONCLUSION:</a:t>
            </a:r>
            <a:endParaRPr lang="en-IN" sz="468" dirty="0"/>
          </a:p>
        </p:txBody>
      </p:sp>
      <p:sp>
        <p:nvSpPr>
          <p:cNvPr id="18" name="Arrow: Down 17">
            <a:extLst>
              <a:ext uri="{FF2B5EF4-FFF2-40B4-BE49-F238E27FC236}">
                <a16:creationId xmlns:a16="http://schemas.microsoft.com/office/drawing/2014/main" id="{C94212B4-DF68-F0FE-19DF-C7E7C3946E7B}"/>
              </a:ext>
            </a:extLst>
          </p:cNvPr>
          <p:cNvSpPr/>
          <p:nvPr/>
        </p:nvSpPr>
        <p:spPr>
          <a:xfrm>
            <a:off x="592532" y="26019255"/>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9" name="Arrow: Down 18">
            <a:extLst>
              <a:ext uri="{FF2B5EF4-FFF2-40B4-BE49-F238E27FC236}">
                <a16:creationId xmlns:a16="http://schemas.microsoft.com/office/drawing/2014/main" id="{C5FDFE0F-705E-DBD7-95C8-1A6F41D0F928}"/>
              </a:ext>
            </a:extLst>
          </p:cNvPr>
          <p:cNvSpPr/>
          <p:nvPr/>
        </p:nvSpPr>
        <p:spPr>
          <a:xfrm>
            <a:off x="650627" y="8821279"/>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0" name="Arrow: Down 19">
            <a:extLst>
              <a:ext uri="{FF2B5EF4-FFF2-40B4-BE49-F238E27FC236}">
                <a16:creationId xmlns:a16="http://schemas.microsoft.com/office/drawing/2014/main" id="{B1D72698-F8E1-3C56-2090-EA3E7768B116}"/>
              </a:ext>
            </a:extLst>
          </p:cNvPr>
          <p:cNvSpPr/>
          <p:nvPr/>
        </p:nvSpPr>
        <p:spPr>
          <a:xfrm>
            <a:off x="585870" y="37079561"/>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1" name="Rectangle 20">
            <a:extLst>
              <a:ext uri="{FF2B5EF4-FFF2-40B4-BE49-F238E27FC236}">
                <a16:creationId xmlns:a16="http://schemas.microsoft.com/office/drawing/2014/main" id="{9A1DA351-9FAC-693D-2999-261FA0156D8E}"/>
              </a:ext>
            </a:extLst>
          </p:cNvPr>
          <p:cNvSpPr/>
          <p:nvPr/>
        </p:nvSpPr>
        <p:spPr>
          <a:xfrm>
            <a:off x="15137608" y="5854701"/>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2" name="Rectangle 21">
            <a:extLst>
              <a:ext uri="{FF2B5EF4-FFF2-40B4-BE49-F238E27FC236}">
                <a16:creationId xmlns:a16="http://schemas.microsoft.com/office/drawing/2014/main" id="{E1262912-25C4-E138-862D-C92743A203EA}"/>
              </a:ext>
            </a:extLst>
          </p:cNvPr>
          <p:cNvSpPr/>
          <p:nvPr/>
        </p:nvSpPr>
        <p:spPr>
          <a:xfrm>
            <a:off x="15137608" y="15936978"/>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3" name="Rectangle 22">
            <a:extLst>
              <a:ext uri="{FF2B5EF4-FFF2-40B4-BE49-F238E27FC236}">
                <a16:creationId xmlns:a16="http://schemas.microsoft.com/office/drawing/2014/main" id="{C759426A-7FC4-1036-AAE5-3F70F329D01E}"/>
              </a:ext>
            </a:extLst>
          </p:cNvPr>
          <p:cNvSpPr/>
          <p:nvPr/>
        </p:nvSpPr>
        <p:spPr>
          <a:xfrm>
            <a:off x="15135176" y="25592537"/>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4" name="Rectangle 23">
            <a:extLst>
              <a:ext uri="{FF2B5EF4-FFF2-40B4-BE49-F238E27FC236}">
                <a16:creationId xmlns:a16="http://schemas.microsoft.com/office/drawing/2014/main" id="{41F04C5B-5DDF-105A-273A-F227133901CA}"/>
              </a:ext>
            </a:extLst>
          </p:cNvPr>
          <p:cNvSpPr/>
          <p:nvPr/>
        </p:nvSpPr>
        <p:spPr>
          <a:xfrm>
            <a:off x="15135176" y="36101532"/>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25" name="Picture 4" descr="Wales population stats in maps and graphs.">
            <a:extLst>
              <a:ext uri="{FF2B5EF4-FFF2-40B4-BE49-F238E27FC236}">
                <a16:creationId xmlns:a16="http://schemas.microsoft.com/office/drawing/2014/main" id="{3AE1780B-1369-38EE-A62B-7E73E48B28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977" t="7956" r="34316" b="11648"/>
          <a:stretch/>
        </p:blipFill>
        <p:spPr bwMode="auto">
          <a:xfrm>
            <a:off x="19363755" y="15238291"/>
            <a:ext cx="9762670" cy="12447425"/>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4E38CD18-1348-9C5D-D6A1-C88989EFAE30}"/>
              </a:ext>
            </a:extLst>
          </p:cNvPr>
          <p:cNvSpPr txBox="1"/>
          <p:nvPr/>
        </p:nvSpPr>
        <p:spPr>
          <a:xfrm>
            <a:off x="17659545" y="34142812"/>
            <a:ext cx="11880681" cy="6740307"/>
          </a:xfrm>
          <a:prstGeom prst="rect">
            <a:avLst/>
          </a:prstGeom>
          <a:noFill/>
        </p:spPr>
        <p:txBody>
          <a:bodyPr wrap="square">
            <a:spAutoFit/>
          </a:bodyPr>
          <a:lstStyle/>
          <a:p>
            <a:r>
              <a:rPr lang="en-IN" sz="7200" dirty="0">
                <a:solidFill>
                  <a:schemeClr val="bg1"/>
                </a:solidFill>
                <a:latin typeface="Agency FB" panose="020B0503020202020204" pitchFamily="34" charset="0"/>
              </a:rPr>
              <a:t> 76 % </a:t>
            </a:r>
            <a:r>
              <a:rPr lang="en-IN" sz="6600" dirty="0">
                <a:solidFill>
                  <a:schemeClr val="bg1"/>
                </a:solidFill>
                <a:latin typeface="Agency FB" panose="020B0503020202020204" pitchFamily="34" charset="0"/>
              </a:rPr>
              <a:t>are Severity 3 accidents</a:t>
            </a:r>
            <a:endParaRPr lang="en-IN" sz="7200" dirty="0">
              <a:solidFill>
                <a:schemeClr val="bg1"/>
              </a:solidFill>
              <a:latin typeface="Agency FB" panose="020B0503020202020204" pitchFamily="34" charset="0"/>
            </a:endParaRPr>
          </a:p>
          <a:p>
            <a:r>
              <a:rPr lang="en-US" sz="7200" dirty="0">
                <a:solidFill>
                  <a:schemeClr val="bg1"/>
                </a:solidFill>
                <a:latin typeface="Agency FB" panose="020B0503020202020204" pitchFamily="34" charset="0"/>
              </a:rPr>
              <a:t> 84.9 % </a:t>
            </a:r>
            <a:r>
              <a:rPr lang="en-US" sz="6600" dirty="0">
                <a:solidFill>
                  <a:schemeClr val="bg1"/>
                </a:solidFill>
                <a:latin typeface="Agency FB" panose="020B0503020202020204" pitchFamily="34" charset="0"/>
              </a:rPr>
              <a:t>in Urban Areas</a:t>
            </a:r>
            <a:endParaRPr lang="en-US" sz="7200" dirty="0">
              <a:solidFill>
                <a:schemeClr val="bg1"/>
              </a:solidFill>
              <a:latin typeface="Agency FB" panose="020B0503020202020204" pitchFamily="34" charset="0"/>
            </a:endParaRPr>
          </a:p>
          <a:p>
            <a:r>
              <a:rPr lang="en-US" sz="7200" dirty="0">
                <a:solidFill>
                  <a:schemeClr val="bg1"/>
                </a:solidFill>
                <a:latin typeface="system-ui"/>
              </a:rPr>
              <a:t> </a:t>
            </a:r>
            <a:r>
              <a:rPr lang="en-US" sz="7200" dirty="0">
                <a:solidFill>
                  <a:schemeClr val="bg1"/>
                </a:solidFill>
                <a:latin typeface="Agency FB" panose="020B0503020202020204" pitchFamily="34" charset="0"/>
              </a:rPr>
              <a:t>74.5 % </a:t>
            </a:r>
            <a:r>
              <a:rPr lang="en-US" sz="6600" dirty="0">
                <a:solidFill>
                  <a:schemeClr val="bg1"/>
                </a:solidFill>
                <a:latin typeface="Agency FB" panose="020B0503020202020204" pitchFamily="34" charset="0"/>
              </a:rPr>
              <a:t>at the single carriage away roads</a:t>
            </a:r>
          </a:p>
          <a:p>
            <a:r>
              <a:rPr lang="en-US" sz="6600" dirty="0">
                <a:solidFill>
                  <a:schemeClr val="bg1"/>
                </a:solidFill>
                <a:latin typeface="Agency FB" panose="020B0503020202020204" pitchFamily="34" charset="0"/>
              </a:rPr>
              <a:t>  </a:t>
            </a:r>
            <a:r>
              <a:rPr lang="en-US" sz="7200" dirty="0">
                <a:solidFill>
                  <a:schemeClr val="bg1"/>
                </a:solidFill>
                <a:latin typeface="Agency FB" panose="020B0503020202020204" pitchFamily="34" charset="0"/>
              </a:rPr>
              <a:t>50 %  frontal impact of cycle</a:t>
            </a:r>
          </a:p>
          <a:p>
            <a:r>
              <a:rPr lang="en-US" sz="7200" dirty="0">
                <a:solidFill>
                  <a:schemeClr val="bg1"/>
                </a:solidFill>
                <a:latin typeface="Agency FB" panose="020B0503020202020204" pitchFamily="34" charset="0"/>
              </a:rPr>
              <a:t>  20 % </a:t>
            </a:r>
            <a:r>
              <a:rPr lang="en-US" sz="6600" dirty="0">
                <a:solidFill>
                  <a:schemeClr val="bg1"/>
                </a:solidFill>
                <a:latin typeface="Agency FB" panose="020B0503020202020204" pitchFamily="34" charset="0"/>
              </a:rPr>
              <a:t>during commute to office</a:t>
            </a:r>
            <a:endParaRPr lang="en-US" sz="7200" dirty="0">
              <a:solidFill>
                <a:schemeClr val="bg1"/>
              </a:solidFill>
              <a:latin typeface="Agency FB" panose="020B0503020202020204" pitchFamily="34" charset="0"/>
            </a:endParaRPr>
          </a:p>
          <a:p>
            <a:pPr marL="285722" indent="-285722">
              <a:buFont typeface="Arial" panose="020B0604020202020204" pitchFamily="34" charset="0"/>
              <a:buChar char="•"/>
            </a:pPr>
            <a:endParaRPr lang="en-IN" sz="7200" dirty="0">
              <a:solidFill>
                <a:schemeClr val="bg1"/>
              </a:solidFill>
              <a:latin typeface="Agency FB" panose="020B0503020202020204" pitchFamily="34" charset="0"/>
            </a:endParaRPr>
          </a:p>
        </p:txBody>
      </p:sp>
      <p:pic>
        <p:nvPicPr>
          <p:cNvPr id="1032" name="Picture 8" descr="Traffic light - Simple English Wikipedia, the free encyclopedia">
            <a:extLst>
              <a:ext uri="{FF2B5EF4-FFF2-40B4-BE49-F238E27FC236}">
                <a16:creationId xmlns:a16="http://schemas.microsoft.com/office/drawing/2014/main" id="{A71D7417-A004-2EF0-C514-DFD390946CC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018" r="33324" b="21759"/>
          <a:stretch/>
        </p:blipFill>
        <p:spPr bwMode="auto">
          <a:xfrm>
            <a:off x="13962954" y="32664313"/>
            <a:ext cx="638627" cy="144929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raffic light - Simple English Wikipedia, the free encyclopedia">
            <a:extLst>
              <a:ext uri="{FF2B5EF4-FFF2-40B4-BE49-F238E27FC236}">
                <a16:creationId xmlns:a16="http://schemas.microsoft.com/office/drawing/2014/main" id="{EF185533-B01A-ADC2-03E9-A3C7F3251CF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6592" b="23365"/>
          <a:stretch/>
        </p:blipFill>
        <p:spPr bwMode="auto">
          <a:xfrm>
            <a:off x="16033824" y="32664306"/>
            <a:ext cx="638631" cy="143018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Traffic light - Simple English Wikipedia, the free encyclopedia">
            <a:extLst>
              <a:ext uri="{FF2B5EF4-FFF2-40B4-BE49-F238E27FC236}">
                <a16:creationId xmlns:a16="http://schemas.microsoft.com/office/drawing/2014/main" id="{A528EB16-F8EC-FA1A-EA5A-142E0C9E8B5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018" r="33324" b="21759"/>
          <a:stretch/>
        </p:blipFill>
        <p:spPr bwMode="auto">
          <a:xfrm>
            <a:off x="2846711" y="32645211"/>
            <a:ext cx="638627" cy="144929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Traffic light - Simple English Wikipedia, the free encyclopedia">
            <a:extLst>
              <a:ext uri="{FF2B5EF4-FFF2-40B4-BE49-F238E27FC236}">
                <a16:creationId xmlns:a16="http://schemas.microsoft.com/office/drawing/2014/main" id="{0458E993-D671-0086-25EC-59B6144C1EA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6592" b="23365"/>
          <a:stretch/>
        </p:blipFill>
        <p:spPr bwMode="auto">
          <a:xfrm>
            <a:off x="28723769" y="32683408"/>
            <a:ext cx="638631" cy="143018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raffic Cones PNG Transparent Images Free Download | Vector Files | Pngtree">
            <a:extLst>
              <a:ext uri="{FF2B5EF4-FFF2-40B4-BE49-F238E27FC236}">
                <a16:creationId xmlns:a16="http://schemas.microsoft.com/office/drawing/2014/main" id="{10922B25-D315-E39B-15B6-6A5DBF848C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80827" y="34113318"/>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6" descr="Traffic Cones PNG Transparent Images Free Download | Vector Files | Pngtree">
            <a:extLst>
              <a:ext uri="{FF2B5EF4-FFF2-40B4-BE49-F238E27FC236}">
                <a16:creationId xmlns:a16="http://schemas.microsoft.com/office/drawing/2014/main" id="{6394D1C5-F2E7-14B0-EAF7-9C0A95B93F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80827" y="35252086"/>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6" descr="Traffic Cones PNG Transparent Images Free Download | Vector Files | Pngtree">
            <a:extLst>
              <a:ext uri="{FF2B5EF4-FFF2-40B4-BE49-F238E27FC236}">
                <a16:creationId xmlns:a16="http://schemas.microsoft.com/office/drawing/2014/main" id="{0872E180-F968-724A-BBA0-8D99157B54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80827" y="36340626"/>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16" descr="Traffic Cones PNG Transparent Images Free Download | Vector Files | Pngtree">
            <a:extLst>
              <a:ext uri="{FF2B5EF4-FFF2-40B4-BE49-F238E27FC236}">
                <a16:creationId xmlns:a16="http://schemas.microsoft.com/office/drawing/2014/main" id="{E4D9E059-0F98-AC09-281F-3D0CF6E9A1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70095" y="37429160"/>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6" descr="Traffic Cones PNG Transparent Images Free Download | Vector Files | Pngtree">
            <a:extLst>
              <a:ext uri="{FF2B5EF4-FFF2-40B4-BE49-F238E27FC236}">
                <a16:creationId xmlns:a16="http://schemas.microsoft.com/office/drawing/2014/main" id="{5BD9784E-B21F-E19D-3D79-B70FFCC87B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70095" y="38561377"/>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Green go traffic road sign on transparent background PNG - Similar PNG">
            <a:extLst>
              <a:ext uri="{FF2B5EF4-FFF2-40B4-BE49-F238E27FC236}">
                <a16:creationId xmlns:a16="http://schemas.microsoft.com/office/drawing/2014/main" id="{EE68E4E1-8462-D913-3E4D-B51C4599977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688" t="10495" r="10861" b="13634"/>
          <a:stretch/>
        </p:blipFill>
        <p:spPr bwMode="auto">
          <a:xfrm>
            <a:off x="3791908" y="34368300"/>
            <a:ext cx="959249" cy="927694"/>
          </a:xfrm>
          <a:prstGeom prst="ellipse">
            <a:avLst/>
          </a:prstGeom>
          <a:noFill/>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F9375370-9E97-D849-9348-9F1637874FBB}"/>
              </a:ext>
            </a:extLst>
          </p:cNvPr>
          <p:cNvSpPr txBox="1"/>
          <p:nvPr/>
        </p:nvSpPr>
        <p:spPr>
          <a:xfrm>
            <a:off x="4971686" y="34234327"/>
            <a:ext cx="8209801" cy="1200329"/>
          </a:xfrm>
          <a:prstGeom prst="rect">
            <a:avLst/>
          </a:prstGeom>
          <a:noFill/>
        </p:spPr>
        <p:txBody>
          <a:bodyPr wrap="square">
            <a:spAutoFit/>
          </a:bodyPr>
          <a:lstStyle/>
          <a:p>
            <a:r>
              <a:rPr lang="en-IN" sz="7200" dirty="0">
                <a:solidFill>
                  <a:schemeClr val="bg1"/>
                </a:solidFill>
                <a:latin typeface="Agency FB" panose="020B0503020202020204" pitchFamily="34" charset="0"/>
              </a:rPr>
              <a:t>Cycles </a:t>
            </a:r>
            <a:r>
              <a:rPr lang="en-IN" sz="6600" dirty="0">
                <a:solidFill>
                  <a:schemeClr val="bg1"/>
                </a:solidFill>
                <a:latin typeface="Agency FB" panose="020B0503020202020204" pitchFamily="34" charset="0"/>
              </a:rPr>
              <a:t>are safer in general </a:t>
            </a:r>
            <a:endParaRPr lang="en-IN" sz="7200" dirty="0">
              <a:solidFill>
                <a:schemeClr val="bg1"/>
              </a:solidFill>
              <a:latin typeface="Agency FB" panose="020B0503020202020204" pitchFamily="34" charset="0"/>
            </a:endParaRPr>
          </a:p>
        </p:txBody>
      </p:sp>
      <p:pic>
        <p:nvPicPr>
          <p:cNvPr id="43" name="Picture 20" descr="Green go traffic road sign on transparent background PNG - Similar PNG">
            <a:extLst>
              <a:ext uri="{FF2B5EF4-FFF2-40B4-BE49-F238E27FC236}">
                <a16:creationId xmlns:a16="http://schemas.microsoft.com/office/drawing/2014/main" id="{A9909639-0704-2706-19AE-97EDB74B941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688" t="10495" r="10861" b="13634"/>
          <a:stretch/>
        </p:blipFill>
        <p:spPr bwMode="auto">
          <a:xfrm>
            <a:off x="3752389" y="35851741"/>
            <a:ext cx="959249" cy="927694"/>
          </a:xfrm>
          <a:prstGeom prst="ellipse">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1DE1DC58-9B79-42A0-2A59-919B84944395}"/>
              </a:ext>
            </a:extLst>
          </p:cNvPr>
          <p:cNvSpPr txBox="1"/>
          <p:nvPr/>
        </p:nvSpPr>
        <p:spPr>
          <a:xfrm>
            <a:off x="4932171" y="35776762"/>
            <a:ext cx="10114508" cy="1107996"/>
          </a:xfrm>
          <a:prstGeom prst="rect">
            <a:avLst/>
          </a:prstGeom>
          <a:noFill/>
        </p:spPr>
        <p:txBody>
          <a:bodyPr wrap="square">
            <a:spAutoFit/>
          </a:bodyPr>
          <a:lstStyle/>
          <a:p>
            <a:r>
              <a:rPr lang="en-IN" sz="6600" dirty="0">
                <a:solidFill>
                  <a:schemeClr val="bg1"/>
                </a:solidFill>
                <a:latin typeface="Agency FB" panose="020B0503020202020204" pitchFamily="34" charset="0"/>
              </a:rPr>
              <a:t>Greener healthier alternative to cars </a:t>
            </a:r>
            <a:endParaRPr lang="en-IN" sz="7200" dirty="0">
              <a:solidFill>
                <a:schemeClr val="bg1"/>
              </a:solidFill>
              <a:latin typeface="Agency FB" panose="020B0503020202020204" pitchFamily="34" charset="0"/>
            </a:endParaRPr>
          </a:p>
        </p:txBody>
      </p:sp>
      <p:pic>
        <p:nvPicPr>
          <p:cNvPr id="46" name="Picture 20" descr="Green go traffic road sign on transparent background PNG - Similar PNG">
            <a:extLst>
              <a:ext uri="{FF2B5EF4-FFF2-40B4-BE49-F238E27FC236}">
                <a16:creationId xmlns:a16="http://schemas.microsoft.com/office/drawing/2014/main" id="{E6272832-B2CF-A429-D70E-17457F0356F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688" t="10495" r="10861" b="13634"/>
          <a:stretch/>
        </p:blipFill>
        <p:spPr bwMode="auto">
          <a:xfrm>
            <a:off x="3791908" y="37382397"/>
            <a:ext cx="959249" cy="927694"/>
          </a:xfrm>
          <a:prstGeom prst="ellipse">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CAA47513-50F4-8833-DBBA-56B378F212CD}"/>
              </a:ext>
            </a:extLst>
          </p:cNvPr>
          <p:cNvSpPr txBox="1"/>
          <p:nvPr/>
        </p:nvSpPr>
        <p:spPr>
          <a:xfrm>
            <a:off x="4971686" y="37248423"/>
            <a:ext cx="9865190" cy="1200329"/>
          </a:xfrm>
          <a:prstGeom prst="rect">
            <a:avLst/>
          </a:prstGeom>
          <a:noFill/>
        </p:spPr>
        <p:txBody>
          <a:bodyPr wrap="square">
            <a:spAutoFit/>
          </a:bodyPr>
          <a:lstStyle/>
          <a:p>
            <a:r>
              <a:rPr lang="en-IN" sz="7200" dirty="0">
                <a:solidFill>
                  <a:schemeClr val="bg1"/>
                </a:solidFill>
                <a:latin typeface="Agency FB" panose="020B0503020202020204" pitchFamily="34" charset="0"/>
              </a:rPr>
              <a:t>Need </a:t>
            </a:r>
            <a:r>
              <a:rPr lang="en-IN" sz="6600" dirty="0">
                <a:solidFill>
                  <a:schemeClr val="bg1"/>
                </a:solidFill>
                <a:latin typeface="Agency FB" panose="020B0503020202020204" pitchFamily="34" charset="0"/>
              </a:rPr>
              <a:t>to improve cyclist road safety</a:t>
            </a:r>
            <a:endParaRPr lang="en-IN" sz="7200" dirty="0">
              <a:solidFill>
                <a:schemeClr val="bg1"/>
              </a:solidFill>
              <a:latin typeface="Agency FB" panose="020B0503020202020204" pitchFamily="34" charset="0"/>
            </a:endParaRPr>
          </a:p>
        </p:txBody>
      </p:sp>
      <p:pic>
        <p:nvPicPr>
          <p:cNvPr id="55" name="Picture 54">
            <a:extLst>
              <a:ext uri="{FF2B5EF4-FFF2-40B4-BE49-F238E27FC236}">
                <a16:creationId xmlns:a16="http://schemas.microsoft.com/office/drawing/2014/main" id="{06849174-7D31-E27D-E97D-2FEC9A0299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397360" y="4922610"/>
            <a:ext cx="11529223" cy="8646919"/>
          </a:xfrm>
          <a:prstGeom prst="rect">
            <a:avLst/>
          </a:prstGeom>
        </p:spPr>
      </p:pic>
      <p:pic>
        <p:nvPicPr>
          <p:cNvPr id="1024" name="Picture 1023">
            <a:extLst>
              <a:ext uri="{FF2B5EF4-FFF2-40B4-BE49-F238E27FC236}">
                <a16:creationId xmlns:a16="http://schemas.microsoft.com/office/drawing/2014/main" id="{1B0948DD-F04A-8B64-A0B2-22DDB3A7E5C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524563" y="4960604"/>
            <a:ext cx="11471939" cy="8603952"/>
          </a:xfrm>
          <a:prstGeom prst="rect">
            <a:avLst/>
          </a:prstGeom>
        </p:spPr>
      </p:pic>
    </p:spTree>
    <p:extLst>
      <p:ext uri="{BB962C8B-B14F-4D97-AF65-F5344CB8AC3E}">
        <p14:creationId xmlns:p14="http://schemas.microsoft.com/office/powerpoint/2010/main" val="1417886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pic>
        <p:nvPicPr>
          <p:cNvPr id="2054" name="Picture 6" descr="Download Bicycle Black Siluete Png Image HQ PNG Image | FreePNGImg">
            <a:extLst>
              <a:ext uri="{FF2B5EF4-FFF2-40B4-BE49-F238E27FC236}">
                <a16:creationId xmlns:a16="http://schemas.microsoft.com/office/drawing/2014/main" id="{3484124A-C741-BAE2-9BFF-87CF720E7A0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trans="62000" detail="0"/>
                    </a14:imgEffect>
                  </a14:imgLayer>
                </a14:imgProps>
              </a:ext>
              <a:ext uri="{28A0092B-C50C-407E-A947-70E740481C1C}">
                <a14:useLocalDpi xmlns:a14="http://schemas.microsoft.com/office/drawing/2010/main" val="0"/>
              </a:ext>
            </a:extLst>
          </a:blip>
          <a:srcRect/>
          <a:stretch>
            <a:fillRect/>
          </a:stretch>
        </p:blipFill>
        <p:spPr bwMode="auto">
          <a:xfrm>
            <a:off x="16552050" y="3405666"/>
            <a:ext cx="11889219" cy="7844331"/>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F98F192-9BF0-78D2-FFD3-BE676F2F345C}"/>
              </a:ext>
            </a:extLst>
          </p:cNvPr>
          <p:cNvSpPr txBox="1"/>
          <p:nvPr/>
        </p:nvSpPr>
        <p:spPr>
          <a:xfrm>
            <a:off x="11979727" y="261256"/>
            <a:ext cx="7781471" cy="1569212"/>
          </a:xfrm>
          <a:prstGeom prst="rect">
            <a:avLst/>
          </a:prstGeom>
          <a:noFill/>
        </p:spPr>
        <p:txBody>
          <a:bodyPr wrap="square" rtlCol="0">
            <a:spAutoFit/>
          </a:bodyPr>
          <a:lstStyle/>
          <a:p>
            <a:r>
              <a:rPr lang="en-IN" sz="9597" b="1" dirty="0">
                <a:solidFill>
                  <a:schemeClr val="bg1"/>
                </a:solidFill>
                <a:latin typeface="Agency FB" panose="020B0503020202020204" pitchFamily="34" charset="0"/>
                <a:cs typeface="Times New Roman" panose="02020603050405020304" pitchFamily="18" charset="0"/>
              </a:rPr>
              <a:t>Is Cycling </a:t>
            </a:r>
            <a:r>
              <a:rPr lang="en-IN" sz="9597" b="1" u="sng" dirty="0">
                <a:solidFill>
                  <a:schemeClr val="accent6">
                    <a:lumMod val="40000"/>
                    <a:lumOff val="60000"/>
                  </a:schemeClr>
                </a:solidFill>
                <a:latin typeface="Agency FB" panose="020B0503020202020204" pitchFamily="34" charset="0"/>
                <a:cs typeface="Times New Roman" panose="02020603050405020304" pitchFamily="18" charset="0"/>
              </a:rPr>
              <a:t>Safer</a:t>
            </a:r>
            <a:r>
              <a:rPr lang="en-IN" sz="9597" b="1" dirty="0">
                <a:solidFill>
                  <a:schemeClr val="bg1"/>
                </a:solidFill>
                <a:latin typeface="Agency FB" panose="020B0503020202020204" pitchFamily="34" charset="0"/>
                <a:cs typeface="Times New Roman" panose="02020603050405020304" pitchFamily="18" charset="0"/>
              </a:rPr>
              <a:t> ?</a:t>
            </a:r>
          </a:p>
        </p:txBody>
      </p:sp>
      <p:sp>
        <p:nvSpPr>
          <p:cNvPr id="3" name="Rectangle 2">
            <a:extLst>
              <a:ext uri="{FF2B5EF4-FFF2-40B4-BE49-F238E27FC236}">
                <a16:creationId xmlns:a16="http://schemas.microsoft.com/office/drawing/2014/main" id="{B537AB93-B2BF-5492-DF8C-9F0130377EE5}"/>
              </a:ext>
            </a:extLst>
          </p:cNvPr>
          <p:cNvSpPr/>
          <p:nvPr/>
        </p:nvSpPr>
        <p:spPr>
          <a:xfrm>
            <a:off x="2273941" y="-2"/>
            <a:ext cx="252951" cy="428037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7" name="TextBox 6">
            <a:extLst>
              <a:ext uri="{FF2B5EF4-FFF2-40B4-BE49-F238E27FC236}">
                <a16:creationId xmlns:a16="http://schemas.microsoft.com/office/drawing/2014/main" id="{F0FDFE08-58EC-E0EE-667F-B9DAA436FD90}"/>
              </a:ext>
            </a:extLst>
          </p:cNvPr>
          <p:cNvSpPr txBox="1"/>
          <p:nvPr/>
        </p:nvSpPr>
        <p:spPr>
          <a:xfrm>
            <a:off x="3062105" y="3844229"/>
            <a:ext cx="5591308" cy="1200329"/>
          </a:xfrm>
          <a:prstGeom prst="rect">
            <a:avLst/>
          </a:prstGeom>
          <a:noFill/>
        </p:spPr>
        <p:txBody>
          <a:bodyPr wrap="square">
            <a:spAutoFit/>
          </a:bodyPr>
          <a:lstStyle/>
          <a:p>
            <a:r>
              <a:rPr lang="en-IN" sz="7200" b="1" u="sng" dirty="0">
                <a:solidFill>
                  <a:schemeClr val="bg1"/>
                </a:solidFill>
                <a:latin typeface="Agency FB" panose="020B0503020202020204" pitchFamily="34" charset="0"/>
                <a:cs typeface="Times New Roman" panose="02020603050405020304" pitchFamily="18" charset="0"/>
              </a:rPr>
              <a:t>INTRODUCTION:</a:t>
            </a:r>
            <a:endParaRPr lang="en-IN" sz="468" dirty="0"/>
          </a:p>
        </p:txBody>
      </p:sp>
      <p:sp>
        <p:nvSpPr>
          <p:cNvPr id="9" name="Arrow: Down 8">
            <a:extLst>
              <a:ext uri="{FF2B5EF4-FFF2-40B4-BE49-F238E27FC236}">
                <a16:creationId xmlns:a16="http://schemas.microsoft.com/office/drawing/2014/main" id="{658E354E-CA78-04D9-BCF3-BB8AB92ABAB4}"/>
              </a:ext>
            </a:extLst>
          </p:cNvPr>
          <p:cNvSpPr/>
          <p:nvPr/>
        </p:nvSpPr>
        <p:spPr>
          <a:xfrm>
            <a:off x="598977" y="17009907"/>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028" name="Picture 4" descr="Free Black And White Bicycle Images, Download Free Black And White Bicycle  Images png images, Free ClipArts on Clipart Library">
            <a:extLst>
              <a:ext uri="{FF2B5EF4-FFF2-40B4-BE49-F238E27FC236}">
                <a16:creationId xmlns:a16="http://schemas.microsoft.com/office/drawing/2014/main" id="{36236AF3-BABE-11FB-AEF4-2E29B98107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322927" y="4247841"/>
            <a:ext cx="2976742" cy="223444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Free Black And White Bicycle Images, Download Free Black And White Bicycle  Images png images, Free ClipArts on Clipart Library">
            <a:extLst>
              <a:ext uri="{FF2B5EF4-FFF2-40B4-BE49-F238E27FC236}">
                <a16:creationId xmlns:a16="http://schemas.microsoft.com/office/drawing/2014/main" id="{695C0145-B857-6DD3-F96D-8F6AFABC1F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331380" y="12554323"/>
            <a:ext cx="2976742" cy="223444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Free Black And White Bicycle Images, Download Free Black And White Bicycle  Images png images, Free ClipArts on Clipart Library">
            <a:extLst>
              <a:ext uri="{FF2B5EF4-FFF2-40B4-BE49-F238E27FC236}">
                <a16:creationId xmlns:a16="http://schemas.microsoft.com/office/drawing/2014/main" id="{F0CE6913-682E-FE36-C760-F6BC4ADD47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311413" y="35182497"/>
            <a:ext cx="2976742" cy="223444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7EBD8B68-77B8-E559-6FAB-903CA7604706}"/>
              </a:ext>
            </a:extLst>
          </p:cNvPr>
          <p:cNvSpPr txBox="1"/>
          <p:nvPr/>
        </p:nvSpPr>
        <p:spPr>
          <a:xfrm>
            <a:off x="7636653" y="1926086"/>
            <a:ext cx="17830798" cy="1107996"/>
          </a:xfrm>
          <a:prstGeom prst="rect">
            <a:avLst/>
          </a:prstGeom>
          <a:noFill/>
        </p:spPr>
        <p:txBody>
          <a:bodyPr wrap="square">
            <a:spAutoFit/>
          </a:bodyPr>
          <a:lstStyle/>
          <a:p>
            <a:r>
              <a:rPr lang="en-IN" sz="6600" b="1" u="sng" dirty="0">
                <a:solidFill>
                  <a:schemeClr val="bg1"/>
                </a:solidFill>
                <a:latin typeface="Agency FB" panose="020B0503020202020204" pitchFamily="34" charset="0"/>
                <a:cs typeface="Times New Roman" panose="02020603050405020304" pitchFamily="18" charset="0"/>
              </a:rPr>
              <a:t>Source Data: Stats19 Wales Collision Data 2018-2022</a:t>
            </a:r>
          </a:p>
        </p:txBody>
      </p:sp>
      <p:sp>
        <p:nvSpPr>
          <p:cNvPr id="16" name="TextBox 15">
            <a:extLst>
              <a:ext uri="{FF2B5EF4-FFF2-40B4-BE49-F238E27FC236}">
                <a16:creationId xmlns:a16="http://schemas.microsoft.com/office/drawing/2014/main" id="{875A5F3D-49AD-4124-8710-535AC9C7E6AF}"/>
              </a:ext>
            </a:extLst>
          </p:cNvPr>
          <p:cNvSpPr txBox="1"/>
          <p:nvPr/>
        </p:nvSpPr>
        <p:spPr>
          <a:xfrm>
            <a:off x="3149812" y="11952198"/>
            <a:ext cx="5104004" cy="1200329"/>
          </a:xfrm>
          <a:prstGeom prst="rect">
            <a:avLst/>
          </a:prstGeom>
          <a:noFill/>
        </p:spPr>
        <p:txBody>
          <a:bodyPr wrap="square">
            <a:spAutoFit/>
          </a:bodyPr>
          <a:lstStyle/>
          <a:p>
            <a:r>
              <a:rPr lang="en-IN" sz="7200" b="1" u="sng" dirty="0">
                <a:solidFill>
                  <a:schemeClr val="bg1"/>
                </a:solidFill>
                <a:latin typeface="Agency FB" panose="020B0503020202020204" pitchFamily="34" charset="0"/>
                <a:cs typeface="Times New Roman" panose="02020603050405020304" pitchFamily="18" charset="0"/>
              </a:rPr>
              <a:t>OBSERVATION:</a:t>
            </a:r>
            <a:endParaRPr lang="en-IN" sz="468" dirty="0"/>
          </a:p>
        </p:txBody>
      </p:sp>
      <p:sp>
        <p:nvSpPr>
          <p:cNvPr id="17" name="TextBox 16">
            <a:extLst>
              <a:ext uri="{FF2B5EF4-FFF2-40B4-BE49-F238E27FC236}">
                <a16:creationId xmlns:a16="http://schemas.microsoft.com/office/drawing/2014/main" id="{CC4BB76B-C51A-FF61-46C7-9ED0E3C39CDD}"/>
              </a:ext>
            </a:extLst>
          </p:cNvPr>
          <p:cNvSpPr txBox="1"/>
          <p:nvPr/>
        </p:nvSpPr>
        <p:spPr>
          <a:xfrm>
            <a:off x="3062107" y="34529327"/>
            <a:ext cx="5104004" cy="1200329"/>
          </a:xfrm>
          <a:prstGeom prst="rect">
            <a:avLst/>
          </a:prstGeom>
          <a:noFill/>
        </p:spPr>
        <p:txBody>
          <a:bodyPr wrap="square">
            <a:spAutoFit/>
          </a:bodyPr>
          <a:lstStyle/>
          <a:p>
            <a:r>
              <a:rPr lang="en-IN" sz="7200" b="1" u="sng" dirty="0">
                <a:solidFill>
                  <a:schemeClr val="bg1"/>
                </a:solidFill>
                <a:latin typeface="Agency FB" panose="020B0503020202020204" pitchFamily="34" charset="0"/>
                <a:cs typeface="Times New Roman" panose="02020603050405020304" pitchFamily="18" charset="0"/>
              </a:rPr>
              <a:t>CONCLUSION:</a:t>
            </a:r>
            <a:endParaRPr lang="en-IN" sz="468" dirty="0"/>
          </a:p>
        </p:txBody>
      </p:sp>
      <p:sp>
        <p:nvSpPr>
          <p:cNvPr id="18" name="Arrow: Down 17">
            <a:extLst>
              <a:ext uri="{FF2B5EF4-FFF2-40B4-BE49-F238E27FC236}">
                <a16:creationId xmlns:a16="http://schemas.microsoft.com/office/drawing/2014/main" id="{C94212B4-DF68-F0FE-19DF-C7E7C3946E7B}"/>
              </a:ext>
            </a:extLst>
          </p:cNvPr>
          <p:cNvSpPr/>
          <p:nvPr/>
        </p:nvSpPr>
        <p:spPr>
          <a:xfrm>
            <a:off x="558605" y="22878036"/>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9" name="Arrow: Down 18">
            <a:extLst>
              <a:ext uri="{FF2B5EF4-FFF2-40B4-BE49-F238E27FC236}">
                <a16:creationId xmlns:a16="http://schemas.microsoft.com/office/drawing/2014/main" id="{C5FDFE0F-705E-DBD7-95C8-1A6F41D0F928}"/>
              </a:ext>
            </a:extLst>
          </p:cNvPr>
          <p:cNvSpPr/>
          <p:nvPr/>
        </p:nvSpPr>
        <p:spPr>
          <a:xfrm>
            <a:off x="650627" y="8024866"/>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0" name="Arrow: Down 19">
            <a:extLst>
              <a:ext uri="{FF2B5EF4-FFF2-40B4-BE49-F238E27FC236}">
                <a16:creationId xmlns:a16="http://schemas.microsoft.com/office/drawing/2014/main" id="{B1D72698-F8E1-3C56-2090-EA3E7768B116}"/>
              </a:ext>
            </a:extLst>
          </p:cNvPr>
          <p:cNvSpPr/>
          <p:nvPr/>
        </p:nvSpPr>
        <p:spPr>
          <a:xfrm>
            <a:off x="555189" y="39148433"/>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1" name="Rectangle 20">
            <a:extLst>
              <a:ext uri="{FF2B5EF4-FFF2-40B4-BE49-F238E27FC236}">
                <a16:creationId xmlns:a16="http://schemas.microsoft.com/office/drawing/2014/main" id="{9A1DA351-9FAC-693D-2999-261FA0156D8E}"/>
              </a:ext>
            </a:extLst>
          </p:cNvPr>
          <p:cNvSpPr/>
          <p:nvPr/>
        </p:nvSpPr>
        <p:spPr>
          <a:xfrm>
            <a:off x="15137608" y="5854701"/>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2" name="Rectangle 21">
            <a:extLst>
              <a:ext uri="{FF2B5EF4-FFF2-40B4-BE49-F238E27FC236}">
                <a16:creationId xmlns:a16="http://schemas.microsoft.com/office/drawing/2014/main" id="{E1262912-25C4-E138-862D-C92743A203EA}"/>
              </a:ext>
            </a:extLst>
          </p:cNvPr>
          <p:cNvSpPr/>
          <p:nvPr/>
        </p:nvSpPr>
        <p:spPr>
          <a:xfrm>
            <a:off x="15137608" y="18375378"/>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3" name="Rectangle 22">
            <a:extLst>
              <a:ext uri="{FF2B5EF4-FFF2-40B4-BE49-F238E27FC236}">
                <a16:creationId xmlns:a16="http://schemas.microsoft.com/office/drawing/2014/main" id="{C759426A-7FC4-1036-AAE5-3F70F329D01E}"/>
              </a:ext>
            </a:extLst>
          </p:cNvPr>
          <p:cNvSpPr/>
          <p:nvPr/>
        </p:nvSpPr>
        <p:spPr>
          <a:xfrm>
            <a:off x="15135176" y="25592537"/>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4" name="Rectangle 23">
            <a:extLst>
              <a:ext uri="{FF2B5EF4-FFF2-40B4-BE49-F238E27FC236}">
                <a16:creationId xmlns:a16="http://schemas.microsoft.com/office/drawing/2014/main" id="{41F04C5B-5DDF-105A-273A-F227133901CA}"/>
              </a:ext>
            </a:extLst>
          </p:cNvPr>
          <p:cNvSpPr/>
          <p:nvPr/>
        </p:nvSpPr>
        <p:spPr>
          <a:xfrm>
            <a:off x="15135176" y="38549772"/>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25" name="Picture 4" descr="Wales population stats in maps and graphs.">
            <a:extLst>
              <a:ext uri="{FF2B5EF4-FFF2-40B4-BE49-F238E27FC236}">
                <a16:creationId xmlns:a16="http://schemas.microsoft.com/office/drawing/2014/main" id="{3AE1780B-1369-38EE-A62B-7E73E48B28A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977" t="7956" r="34316" b="11648"/>
          <a:stretch/>
        </p:blipFill>
        <p:spPr bwMode="auto">
          <a:xfrm>
            <a:off x="16352577" y="14553820"/>
            <a:ext cx="13221019" cy="1685682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4E38CD18-1348-9C5D-D6A1-C88989EFAE30}"/>
              </a:ext>
            </a:extLst>
          </p:cNvPr>
          <p:cNvSpPr txBox="1"/>
          <p:nvPr/>
        </p:nvSpPr>
        <p:spPr>
          <a:xfrm>
            <a:off x="17659545" y="35971617"/>
            <a:ext cx="11880681" cy="6740307"/>
          </a:xfrm>
          <a:prstGeom prst="rect">
            <a:avLst/>
          </a:prstGeom>
          <a:noFill/>
        </p:spPr>
        <p:txBody>
          <a:bodyPr wrap="square">
            <a:spAutoFit/>
          </a:bodyPr>
          <a:lstStyle/>
          <a:p>
            <a:r>
              <a:rPr lang="en-IN" sz="7200" dirty="0">
                <a:solidFill>
                  <a:schemeClr val="bg1"/>
                </a:solidFill>
                <a:latin typeface="Agency FB" panose="020B0503020202020204" pitchFamily="34" charset="0"/>
              </a:rPr>
              <a:t> 76 % </a:t>
            </a:r>
            <a:r>
              <a:rPr lang="en-IN" sz="6600" dirty="0">
                <a:solidFill>
                  <a:schemeClr val="bg1"/>
                </a:solidFill>
                <a:latin typeface="Agency FB" panose="020B0503020202020204" pitchFamily="34" charset="0"/>
              </a:rPr>
              <a:t>are Severity 3 accidents &amp;</a:t>
            </a:r>
            <a:endParaRPr lang="en-IN" sz="7200" dirty="0">
              <a:solidFill>
                <a:schemeClr val="bg1"/>
              </a:solidFill>
              <a:latin typeface="Agency FB" panose="020B0503020202020204" pitchFamily="34" charset="0"/>
            </a:endParaRPr>
          </a:p>
          <a:p>
            <a:r>
              <a:rPr lang="en-US" sz="7200" dirty="0">
                <a:solidFill>
                  <a:schemeClr val="bg1"/>
                </a:solidFill>
                <a:latin typeface="Agency FB" panose="020B0503020202020204" pitchFamily="34" charset="0"/>
              </a:rPr>
              <a:t> 84.9 % Severity 3 </a:t>
            </a:r>
            <a:r>
              <a:rPr lang="en-US" sz="6600" dirty="0">
                <a:solidFill>
                  <a:schemeClr val="bg1"/>
                </a:solidFill>
                <a:latin typeface="Agency FB" panose="020B0503020202020204" pitchFamily="34" charset="0"/>
              </a:rPr>
              <a:t>in Urban Areas &amp;</a:t>
            </a:r>
            <a:endParaRPr lang="en-US" sz="7200" dirty="0">
              <a:solidFill>
                <a:schemeClr val="bg1"/>
              </a:solidFill>
              <a:latin typeface="Agency FB" panose="020B0503020202020204" pitchFamily="34" charset="0"/>
            </a:endParaRPr>
          </a:p>
          <a:p>
            <a:r>
              <a:rPr lang="en-US" sz="7200" dirty="0">
                <a:solidFill>
                  <a:schemeClr val="bg1"/>
                </a:solidFill>
                <a:latin typeface="system-ui"/>
              </a:rPr>
              <a:t> </a:t>
            </a:r>
            <a:r>
              <a:rPr lang="en-US" sz="7200" dirty="0">
                <a:solidFill>
                  <a:schemeClr val="bg1"/>
                </a:solidFill>
                <a:latin typeface="Agency FB" panose="020B0503020202020204" pitchFamily="34" charset="0"/>
              </a:rPr>
              <a:t>74.5 % </a:t>
            </a:r>
            <a:r>
              <a:rPr lang="en-US" sz="6600" dirty="0">
                <a:solidFill>
                  <a:schemeClr val="bg1"/>
                </a:solidFill>
                <a:latin typeface="Agency FB" panose="020B0503020202020204" pitchFamily="34" charset="0"/>
              </a:rPr>
              <a:t>at the Single Carriageway roads &amp;</a:t>
            </a:r>
          </a:p>
          <a:p>
            <a:r>
              <a:rPr lang="en-US" sz="6600" dirty="0">
                <a:solidFill>
                  <a:schemeClr val="bg1"/>
                </a:solidFill>
                <a:latin typeface="Agency FB" panose="020B0503020202020204" pitchFamily="34" charset="0"/>
              </a:rPr>
              <a:t>  </a:t>
            </a:r>
            <a:r>
              <a:rPr lang="en-US" sz="7200" dirty="0">
                <a:solidFill>
                  <a:schemeClr val="bg1"/>
                </a:solidFill>
                <a:latin typeface="Agency FB" panose="020B0503020202020204" pitchFamily="34" charset="0"/>
              </a:rPr>
              <a:t>50 %  frontal impact of cycle &amp;</a:t>
            </a:r>
          </a:p>
          <a:p>
            <a:r>
              <a:rPr lang="en-US" sz="7200" dirty="0">
                <a:solidFill>
                  <a:schemeClr val="bg1"/>
                </a:solidFill>
                <a:latin typeface="Agency FB" panose="020B0503020202020204" pitchFamily="34" charset="0"/>
              </a:rPr>
              <a:t>  20 % </a:t>
            </a:r>
            <a:r>
              <a:rPr lang="en-US" sz="6600" dirty="0">
                <a:solidFill>
                  <a:schemeClr val="bg1"/>
                </a:solidFill>
                <a:latin typeface="Agency FB" panose="020B0503020202020204" pitchFamily="34" charset="0"/>
              </a:rPr>
              <a:t>during commute to office</a:t>
            </a:r>
            <a:endParaRPr lang="en-US" sz="7200" dirty="0">
              <a:solidFill>
                <a:schemeClr val="bg1"/>
              </a:solidFill>
              <a:latin typeface="Agency FB" panose="020B0503020202020204" pitchFamily="34" charset="0"/>
            </a:endParaRPr>
          </a:p>
          <a:p>
            <a:pPr marL="285722" indent="-285722">
              <a:buFont typeface="Arial" panose="020B0604020202020204" pitchFamily="34" charset="0"/>
              <a:buChar char="•"/>
            </a:pPr>
            <a:endParaRPr lang="en-IN" sz="7200" dirty="0">
              <a:solidFill>
                <a:schemeClr val="bg1"/>
              </a:solidFill>
              <a:latin typeface="Agency FB" panose="020B0503020202020204" pitchFamily="34" charset="0"/>
            </a:endParaRPr>
          </a:p>
        </p:txBody>
      </p:sp>
      <p:pic>
        <p:nvPicPr>
          <p:cNvPr id="1032" name="Picture 8" descr="Traffic light - Simple English Wikipedia, the free encyclopedia">
            <a:extLst>
              <a:ext uri="{FF2B5EF4-FFF2-40B4-BE49-F238E27FC236}">
                <a16:creationId xmlns:a16="http://schemas.microsoft.com/office/drawing/2014/main" id="{A71D7417-A004-2EF0-C514-DFD390946CC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018" r="33324" b="21759"/>
          <a:stretch/>
        </p:blipFill>
        <p:spPr bwMode="auto">
          <a:xfrm>
            <a:off x="13962954" y="35799268"/>
            <a:ext cx="638627" cy="144929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raffic light - Simple English Wikipedia, the free encyclopedia">
            <a:extLst>
              <a:ext uri="{FF2B5EF4-FFF2-40B4-BE49-F238E27FC236}">
                <a16:creationId xmlns:a16="http://schemas.microsoft.com/office/drawing/2014/main" id="{EF185533-B01A-ADC2-03E9-A3C7F3251C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6592" b="23365"/>
          <a:stretch/>
        </p:blipFill>
        <p:spPr bwMode="auto">
          <a:xfrm>
            <a:off x="16033824" y="35813776"/>
            <a:ext cx="638631" cy="143018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Traffic light - Simple English Wikipedia, the free encyclopedia">
            <a:extLst>
              <a:ext uri="{FF2B5EF4-FFF2-40B4-BE49-F238E27FC236}">
                <a16:creationId xmlns:a16="http://schemas.microsoft.com/office/drawing/2014/main" id="{A528EB16-F8EC-FA1A-EA5A-142E0C9E8B5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018" r="33324" b="21759"/>
          <a:stretch/>
        </p:blipFill>
        <p:spPr bwMode="auto">
          <a:xfrm>
            <a:off x="2846711" y="35780152"/>
            <a:ext cx="638627" cy="144929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Traffic light - Simple English Wikipedia, the free encyclopedia">
            <a:extLst>
              <a:ext uri="{FF2B5EF4-FFF2-40B4-BE49-F238E27FC236}">
                <a16:creationId xmlns:a16="http://schemas.microsoft.com/office/drawing/2014/main" id="{0458E993-D671-0086-25EC-59B6144C1EA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6592" b="23365"/>
          <a:stretch/>
        </p:blipFill>
        <p:spPr bwMode="auto">
          <a:xfrm>
            <a:off x="28901593" y="35825073"/>
            <a:ext cx="638631" cy="143018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raffic Cones PNG Transparent Images Free Download | Vector Files | Pngtree">
            <a:extLst>
              <a:ext uri="{FF2B5EF4-FFF2-40B4-BE49-F238E27FC236}">
                <a16:creationId xmlns:a16="http://schemas.microsoft.com/office/drawing/2014/main" id="{10922B25-D315-E39B-15B6-6A5DBF848C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80827" y="35942121"/>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6" descr="Traffic Cones PNG Transparent Images Free Download | Vector Files | Pngtree">
            <a:extLst>
              <a:ext uri="{FF2B5EF4-FFF2-40B4-BE49-F238E27FC236}">
                <a16:creationId xmlns:a16="http://schemas.microsoft.com/office/drawing/2014/main" id="{6394D1C5-F2E7-14B0-EAF7-9C0A95B93F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80827" y="37080894"/>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6" descr="Traffic Cones PNG Transparent Images Free Download | Vector Files | Pngtree">
            <a:extLst>
              <a:ext uri="{FF2B5EF4-FFF2-40B4-BE49-F238E27FC236}">
                <a16:creationId xmlns:a16="http://schemas.microsoft.com/office/drawing/2014/main" id="{0872E180-F968-724A-BBA0-8D99157B54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80827" y="38169429"/>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16" descr="Traffic Cones PNG Transparent Images Free Download | Vector Files | Pngtree">
            <a:extLst>
              <a:ext uri="{FF2B5EF4-FFF2-40B4-BE49-F238E27FC236}">
                <a16:creationId xmlns:a16="http://schemas.microsoft.com/office/drawing/2014/main" id="{E4D9E059-0F98-AC09-281F-3D0CF6E9A1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70095" y="39257968"/>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6" descr="Traffic Cones PNG Transparent Images Free Download | Vector Files | Pngtree">
            <a:extLst>
              <a:ext uri="{FF2B5EF4-FFF2-40B4-BE49-F238E27FC236}">
                <a16:creationId xmlns:a16="http://schemas.microsoft.com/office/drawing/2014/main" id="{5BD9784E-B21F-E19D-3D79-B70FFCC87B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70095" y="40390180"/>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Green go traffic road sign on transparent background PNG - Similar PNG">
            <a:extLst>
              <a:ext uri="{FF2B5EF4-FFF2-40B4-BE49-F238E27FC236}">
                <a16:creationId xmlns:a16="http://schemas.microsoft.com/office/drawing/2014/main" id="{EE68E4E1-8462-D913-3E4D-B51C4599977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688" t="10495" r="10861" b="13634"/>
          <a:stretch/>
        </p:blipFill>
        <p:spPr bwMode="auto">
          <a:xfrm>
            <a:off x="3791908" y="36816544"/>
            <a:ext cx="959249" cy="927694"/>
          </a:xfrm>
          <a:prstGeom prst="ellipse">
            <a:avLst/>
          </a:prstGeom>
          <a:noFill/>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F9375370-9E97-D849-9348-9F1637874FBB}"/>
              </a:ext>
            </a:extLst>
          </p:cNvPr>
          <p:cNvSpPr txBox="1"/>
          <p:nvPr/>
        </p:nvSpPr>
        <p:spPr>
          <a:xfrm>
            <a:off x="4971686" y="36682571"/>
            <a:ext cx="8209801" cy="1200329"/>
          </a:xfrm>
          <a:prstGeom prst="rect">
            <a:avLst/>
          </a:prstGeom>
          <a:noFill/>
        </p:spPr>
        <p:txBody>
          <a:bodyPr wrap="square">
            <a:spAutoFit/>
          </a:bodyPr>
          <a:lstStyle/>
          <a:p>
            <a:r>
              <a:rPr lang="en-IN" sz="7200" dirty="0">
                <a:solidFill>
                  <a:schemeClr val="bg1"/>
                </a:solidFill>
                <a:latin typeface="Agency FB" panose="020B0503020202020204" pitchFamily="34" charset="0"/>
              </a:rPr>
              <a:t>Cycles </a:t>
            </a:r>
            <a:r>
              <a:rPr lang="en-IN" sz="6600" dirty="0">
                <a:solidFill>
                  <a:schemeClr val="bg1"/>
                </a:solidFill>
                <a:latin typeface="Agency FB" panose="020B0503020202020204" pitchFamily="34" charset="0"/>
              </a:rPr>
              <a:t>are safer in general </a:t>
            </a:r>
            <a:endParaRPr lang="en-IN" sz="7200" dirty="0">
              <a:solidFill>
                <a:schemeClr val="bg1"/>
              </a:solidFill>
              <a:latin typeface="Agency FB" panose="020B0503020202020204" pitchFamily="34" charset="0"/>
            </a:endParaRPr>
          </a:p>
        </p:txBody>
      </p:sp>
      <p:pic>
        <p:nvPicPr>
          <p:cNvPr id="43" name="Picture 20" descr="Green go traffic road sign on transparent background PNG - Similar PNG">
            <a:extLst>
              <a:ext uri="{FF2B5EF4-FFF2-40B4-BE49-F238E27FC236}">
                <a16:creationId xmlns:a16="http://schemas.microsoft.com/office/drawing/2014/main" id="{A9909639-0704-2706-19AE-97EDB74B941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688" t="10495" r="10861" b="13634"/>
          <a:stretch/>
        </p:blipFill>
        <p:spPr bwMode="auto">
          <a:xfrm>
            <a:off x="3752389" y="38299985"/>
            <a:ext cx="959249" cy="927694"/>
          </a:xfrm>
          <a:prstGeom prst="ellipse">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1DE1DC58-9B79-42A0-2A59-919B84944395}"/>
              </a:ext>
            </a:extLst>
          </p:cNvPr>
          <p:cNvSpPr txBox="1"/>
          <p:nvPr/>
        </p:nvSpPr>
        <p:spPr>
          <a:xfrm>
            <a:off x="4932171" y="38225006"/>
            <a:ext cx="10114508" cy="1107996"/>
          </a:xfrm>
          <a:prstGeom prst="rect">
            <a:avLst/>
          </a:prstGeom>
          <a:noFill/>
        </p:spPr>
        <p:txBody>
          <a:bodyPr wrap="square">
            <a:spAutoFit/>
          </a:bodyPr>
          <a:lstStyle/>
          <a:p>
            <a:r>
              <a:rPr lang="en-IN" sz="6600" dirty="0">
                <a:solidFill>
                  <a:schemeClr val="bg1"/>
                </a:solidFill>
                <a:latin typeface="Agency FB" panose="020B0503020202020204" pitchFamily="34" charset="0"/>
              </a:rPr>
              <a:t>Greener healthier alternative to cars </a:t>
            </a:r>
            <a:endParaRPr lang="en-IN" sz="7200" dirty="0">
              <a:solidFill>
                <a:schemeClr val="bg1"/>
              </a:solidFill>
              <a:latin typeface="Agency FB" panose="020B0503020202020204" pitchFamily="34" charset="0"/>
            </a:endParaRPr>
          </a:p>
        </p:txBody>
      </p:sp>
      <p:pic>
        <p:nvPicPr>
          <p:cNvPr id="46" name="Picture 20" descr="Green go traffic road sign on transparent background PNG - Similar PNG">
            <a:extLst>
              <a:ext uri="{FF2B5EF4-FFF2-40B4-BE49-F238E27FC236}">
                <a16:creationId xmlns:a16="http://schemas.microsoft.com/office/drawing/2014/main" id="{E6272832-B2CF-A429-D70E-17457F0356F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688" t="10495" r="10861" b="13634"/>
          <a:stretch/>
        </p:blipFill>
        <p:spPr bwMode="auto">
          <a:xfrm>
            <a:off x="3791908" y="39830641"/>
            <a:ext cx="959249" cy="927694"/>
          </a:xfrm>
          <a:prstGeom prst="ellipse">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CAA47513-50F4-8833-DBBA-56B378F212CD}"/>
              </a:ext>
            </a:extLst>
          </p:cNvPr>
          <p:cNvSpPr txBox="1"/>
          <p:nvPr/>
        </p:nvSpPr>
        <p:spPr>
          <a:xfrm>
            <a:off x="4971686" y="39696667"/>
            <a:ext cx="9865190" cy="1200329"/>
          </a:xfrm>
          <a:prstGeom prst="rect">
            <a:avLst/>
          </a:prstGeom>
          <a:noFill/>
        </p:spPr>
        <p:txBody>
          <a:bodyPr wrap="square">
            <a:spAutoFit/>
          </a:bodyPr>
          <a:lstStyle/>
          <a:p>
            <a:r>
              <a:rPr lang="en-IN" sz="7200" dirty="0">
                <a:solidFill>
                  <a:schemeClr val="bg1"/>
                </a:solidFill>
                <a:latin typeface="Agency FB" panose="020B0503020202020204" pitchFamily="34" charset="0"/>
              </a:rPr>
              <a:t>Need </a:t>
            </a:r>
            <a:r>
              <a:rPr lang="en-IN" sz="6600" dirty="0">
                <a:solidFill>
                  <a:schemeClr val="bg1"/>
                </a:solidFill>
                <a:latin typeface="Agency FB" panose="020B0503020202020204" pitchFamily="34" charset="0"/>
              </a:rPr>
              <a:t>to improve cyclist road safety</a:t>
            </a:r>
            <a:endParaRPr lang="en-IN" sz="7200" dirty="0">
              <a:solidFill>
                <a:schemeClr val="bg1"/>
              </a:solidFill>
              <a:latin typeface="Agency FB" panose="020B0503020202020204" pitchFamily="34" charset="0"/>
            </a:endParaRPr>
          </a:p>
        </p:txBody>
      </p:sp>
      <p:sp>
        <p:nvSpPr>
          <p:cNvPr id="8" name="TextBox 7">
            <a:extLst>
              <a:ext uri="{FF2B5EF4-FFF2-40B4-BE49-F238E27FC236}">
                <a16:creationId xmlns:a16="http://schemas.microsoft.com/office/drawing/2014/main" id="{5705412B-5466-66DB-01ED-8A554DBF1540}"/>
              </a:ext>
            </a:extLst>
          </p:cNvPr>
          <p:cNvSpPr txBox="1"/>
          <p:nvPr/>
        </p:nvSpPr>
        <p:spPr>
          <a:xfrm>
            <a:off x="3166020" y="5487931"/>
            <a:ext cx="10579478" cy="6000617"/>
          </a:xfrm>
          <a:prstGeom prst="rect">
            <a:avLst/>
          </a:prstGeom>
          <a:noFill/>
        </p:spPr>
        <p:txBody>
          <a:bodyPr wrap="square">
            <a:spAutoFit/>
          </a:bodyPr>
          <a:lstStyle/>
          <a:p>
            <a:r>
              <a:rPr lang="en-IN" sz="4799" b="1" dirty="0">
                <a:solidFill>
                  <a:schemeClr val="bg1"/>
                </a:solidFill>
                <a:latin typeface="Agency FB" panose="020B0503020202020204" pitchFamily="34" charset="0"/>
              </a:rPr>
              <a:t>1. Modern age promotes use of pedal cycle more,</a:t>
            </a:r>
            <a:br>
              <a:rPr lang="en-IN" sz="4799" b="1" dirty="0">
                <a:solidFill>
                  <a:schemeClr val="bg1"/>
                </a:solidFill>
                <a:latin typeface="Agency FB" panose="020B0503020202020204" pitchFamily="34" charset="0"/>
              </a:rPr>
            </a:br>
            <a:r>
              <a:rPr lang="en-IN" sz="4799" b="1" dirty="0">
                <a:solidFill>
                  <a:schemeClr val="bg1"/>
                </a:solidFill>
                <a:latin typeface="Agency FB" panose="020B0503020202020204" pitchFamily="34" charset="0"/>
              </a:rPr>
              <a:t>   for environment and physical health benefits.  </a:t>
            </a:r>
            <a:br>
              <a:rPr lang="en-IN" sz="4799" b="1" dirty="0">
                <a:solidFill>
                  <a:schemeClr val="bg1"/>
                </a:solidFill>
                <a:latin typeface="Agency FB" panose="020B0503020202020204" pitchFamily="34" charset="0"/>
              </a:rPr>
            </a:br>
            <a:r>
              <a:rPr lang="en-IN" sz="4799" b="1" dirty="0">
                <a:solidFill>
                  <a:schemeClr val="bg1"/>
                </a:solidFill>
                <a:latin typeface="Agency FB" panose="020B0503020202020204" pitchFamily="34" charset="0"/>
              </a:rPr>
              <a:t>   </a:t>
            </a:r>
            <a:br>
              <a:rPr lang="en-IN" sz="4799" b="1" dirty="0">
                <a:solidFill>
                  <a:schemeClr val="bg1"/>
                </a:solidFill>
                <a:latin typeface="Agency FB" panose="020B0503020202020204" pitchFamily="34" charset="0"/>
              </a:rPr>
            </a:br>
            <a:r>
              <a:rPr lang="en-IN" sz="4799" b="1" dirty="0">
                <a:solidFill>
                  <a:schemeClr val="bg1"/>
                </a:solidFill>
                <a:latin typeface="Agency FB" panose="020B0503020202020204" pitchFamily="34" charset="0"/>
              </a:rPr>
              <a:t>2. This data analysis aims to investigate the </a:t>
            </a:r>
            <a:br>
              <a:rPr lang="en-IN" sz="4799" b="1" dirty="0">
                <a:solidFill>
                  <a:schemeClr val="bg1"/>
                </a:solidFill>
                <a:latin typeface="Agency FB" panose="020B0503020202020204" pitchFamily="34" charset="0"/>
              </a:rPr>
            </a:br>
            <a:r>
              <a:rPr lang="en-IN" sz="4799" b="1" dirty="0">
                <a:solidFill>
                  <a:schemeClr val="bg1"/>
                </a:solidFill>
                <a:latin typeface="Agency FB" panose="020B0503020202020204" pitchFamily="34" charset="0"/>
              </a:rPr>
              <a:t>    involvement of  pedal cycles in collisions   </a:t>
            </a:r>
            <a:br>
              <a:rPr lang="en-IN" sz="4799" b="1" dirty="0">
                <a:solidFill>
                  <a:schemeClr val="bg1"/>
                </a:solidFill>
                <a:latin typeface="Agency FB" panose="020B0503020202020204" pitchFamily="34" charset="0"/>
              </a:rPr>
            </a:br>
            <a:r>
              <a:rPr lang="en-IN" sz="4799" b="1" dirty="0">
                <a:solidFill>
                  <a:schemeClr val="bg1"/>
                </a:solidFill>
                <a:latin typeface="Agency FB" panose="020B0503020202020204" pitchFamily="34" charset="0"/>
              </a:rPr>
              <a:t>    across Wales. To find how safe is it to ride a </a:t>
            </a:r>
            <a:br>
              <a:rPr lang="en-IN" sz="4799" b="1" dirty="0">
                <a:solidFill>
                  <a:schemeClr val="bg1"/>
                </a:solidFill>
                <a:latin typeface="Agency FB" panose="020B0503020202020204" pitchFamily="34" charset="0"/>
              </a:rPr>
            </a:br>
            <a:r>
              <a:rPr lang="en-IN" sz="4799" b="1" dirty="0">
                <a:solidFill>
                  <a:schemeClr val="bg1"/>
                </a:solidFill>
                <a:latin typeface="Agency FB" panose="020B0503020202020204" pitchFamily="34" charset="0"/>
              </a:rPr>
              <a:t>    pedal cycle.</a:t>
            </a:r>
            <a:br>
              <a:rPr lang="en-IN" sz="4799" b="1" dirty="0">
                <a:solidFill>
                  <a:schemeClr val="bg1"/>
                </a:solidFill>
                <a:latin typeface="Agency FB" panose="020B0503020202020204" pitchFamily="34" charset="0"/>
              </a:rPr>
            </a:br>
            <a:endParaRPr lang="en-IN" sz="4799" b="1" dirty="0">
              <a:solidFill>
                <a:schemeClr val="bg1"/>
              </a:solidFill>
              <a:latin typeface="Agency FB" panose="020B0503020202020204" pitchFamily="34" charset="0"/>
            </a:endParaRPr>
          </a:p>
        </p:txBody>
      </p:sp>
      <p:pic>
        <p:nvPicPr>
          <p:cNvPr id="50" name="Picture 49">
            <a:extLst>
              <a:ext uri="{FF2B5EF4-FFF2-40B4-BE49-F238E27FC236}">
                <a16:creationId xmlns:a16="http://schemas.microsoft.com/office/drawing/2014/main" id="{17961901-93F4-F573-D10F-069A929EEE9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898977" y="3971113"/>
            <a:ext cx="12142170" cy="9106628"/>
          </a:xfrm>
          <a:prstGeom prst="rect">
            <a:avLst/>
          </a:prstGeom>
        </p:spPr>
      </p:pic>
      <p:pic>
        <p:nvPicPr>
          <p:cNvPr id="54" name="Picture 53">
            <a:extLst>
              <a:ext uri="{FF2B5EF4-FFF2-40B4-BE49-F238E27FC236}">
                <a16:creationId xmlns:a16="http://schemas.microsoft.com/office/drawing/2014/main" id="{035D01AD-D177-2AC0-BE07-D1DC7FC4E26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726853" y="3954845"/>
            <a:ext cx="12264211" cy="9198160"/>
          </a:xfrm>
          <a:prstGeom prst="rect">
            <a:avLst/>
          </a:prstGeom>
        </p:spPr>
      </p:pic>
      <p:sp>
        <p:nvSpPr>
          <p:cNvPr id="1033" name="Arrow: Down 1032">
            <a:extLst>
              <a:ext uri="{FF2B5EF4-FFF2-40B4-BE49-F238E27FC236}">
                <a16:creationId xmlns:a16="http://schemas.microsoft.com/office/drawing/2014/main" id="{F6221CFF-DA95-CF7E-C674-18B6A881BB23}"/>
              </a:ext>
            </a:extLst>
          </p:cNvPr>
          <p:cNvSpPr/>
          <p:nvPr/>
        </p:nvSpPr>
        <p:spPr>
          <a:xfrm>
            <a:off x="555189" y="29113180"/>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5" name="Picture 4">
            <a:extLst>
              <a:ext uri="{FF2B5EF4-FFF2-40B4-BE49-F238E27FC236}">
                <a16:creationId xmlns:a16="http://schemas.microsoft.com/office/drawing/2014/main" id="{C136D8C9-73EF-4D45-9025-A892C8432AB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91736" y="13343642"/>
            <a:ext cx="7834164" cy="7587565"/>
          </a:xfrm>
          <a:prstGeom prst="rect">
            <a:avLst/>
          </a:prstGeom>
        </p:spPr>
      </p:pic>
      <p:pic>
        <p:nvPicPr>
          <p:cNvPr id="12" name="Picture 11">
            <a:extLst>
              <a:ext uri="{FF2B5EF4-FFF2-40B4-BE49-F238E27FC236}">
                <a16:creationId xmlns:a16="http://schemas.microsoft.com/office/drawing/2014/main" id="{211A742C-5BA3-C3F2-51E1-8C643153D810}"/>
              </a:ext>
            </a:extLst>
          </p:cNvPr>
          <p:cNvPicPr>
            <a:picLocks noChangeAspect="1"/>
          </p:cNvPicPr>
          <p:nvPr/>
        </p:nvPicPr>
        <p:blipFill rotWithShape="1">
          <a:blip r:embed="rId12"/>
          <a:srcRect l="531" t="8191" r="138" b="9201"/>
          <a:stretch/>
        </p:blipFill>
        <p:spPr>
          <a:xfrm>
            <a:off x="3062103" y="20465521"/>
            <a:ext cx="11774775" cy="915302"/>
          </a:xfrm>
          <a:prstGeom prst="rect">
            <a:avLst/>
          </a:prstGeom>
          <a:effectLst/>
        </p:spPr>
      </p:pic>
      <p:pic>
        <p:nvPicPr>
          <p:cNvPr id="15" name="Picture 14">
            <a:extLst>
              <a:ext uri="{FF2B5EF4-FFF2-40B4-BE49-F238E27FC236}">
                <a16:creationId xmlns:a16="http://schemas.microsoft.com/office/drawing/2014/main" id="{CB7458CE-A44F-9EFB-68C6-F7A2EC8AB035}"/>
              </a:ext>
            </a:extLst>
          </p:cNvPr>
          <p:cNvPicPr>
            <a:picLocks noChangeAspect="1"/>
          </p:cNvPicPr>
          <p:nvPr/>
        </p:nvPicPr>
        <p:blipFill rotWithShape="1">
          <a:blip r:embed="rId13">
            <a:extLst>
              <a:ext uri="{28A0092B-C50C-407E-A947-70E740481C1C}">
                <a14:useLocalDpi xmlns:a14="http://schemas.microsoft.com/office/drawing/2010/main" val="0"/>
              </a:ext>
            </a:extLst>
          </a:blip>
          <a:srcRect r="25014"/>
          <a:stretch/>
        </p:blipFill>
        <p:spPr>
          <a:xfrm>
            <a:off x="2761807" y="22217577"/>
            <a:ext cx="9786531" cy="11947116"/>
          </a:xfrm>
          <a:prstGeom prst="rect">
            <a:avLst/>
          </a:prstGeom>
        </p:spPr>
      </p:pic>
      <p:pic>
        <p:nvPicPr>
          <p:cNvPr id="27" name="Picture 26">
            <a:extLst>
              <a:ext uri="{FF2B5EF4-FFF2-40B4-BE49-F238E27FC236}">
                <a16:creationId xmlns:a16="http://schemas.microsoft.com/office/drawing/2014/main" id="{8356C9CE-F27F-344A-FBB7-8D7CC10914A3}"/>
              </a:ext>
            </a:extLst>
          </p:cNvPr>
          <p:cNvPicPr>
            <a:picLocks noChangeAspect="1"/>
          </p:cNvPicPr>
          <p:nvPr/>
        </p:nvPicPr>
        <p:blipFill rotWithShape="1">
          <a:blip r:embed="rId14"/>
          <a:srcRect l="2501" t="4043" r="3910" b="2844"/>
          <a:stretch/>
        </p:blipFill>
        <p:spPr>
          <a:xfrm>
            <a:off x="12345139" y="23677941"/>
            <a:ext cx="2433777" cy="1768910"/>
          </a:xfrm>
          <a:prstGeom prst="rect">
            <a:avLst/>
          </a:prstGeom>
        </p:spPr>
      </p:pic>
      <p:sp>
        <p:nvSpPr>
          <p:cNvPr id="28" name="Rectangle 27">
            <a:extLst>
              <a:ext uri="{FF2B5EF4-FFF2-40B4-BE49-F238E27FC236}">
                <a16:creationId xmlns:a16="http://schemas.microsoft.com/office/drawing/2014/main" id="{14E08DEF-CB74-A151-6539-758E87721397}"/>
              </a:ext>
            </a:extLst>
          </p:cNvPr>
          <p:cNvSpPr/>
          <p:nvPr/>
        </p:nvSpPr>
        <p:spPr>
          <a:xfrm>
            <a:off x="15176858" y="32465050"/>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30" name="Rectangle 29">
            <a:extLst>
              <a:ext uri="{FF2B5EF4-FFF2-40B4-BE49-F238E27FC236}">
                <a16:creationId xmlns:a16="http://schemas.microsoft.com/office/drawing/2014/main" id="{767CD667-5571-E9FF-2BF1-30951081399F}"/>
              </a:ext>
            </a:extLst>
          </p:cNvPr>
          <p:cNvSpPr/>
          <p:nvPr/>
        </p:nvSpPr>
        <p:spPr>
          <a:xfrm>
            <a:off x="15176858" y="12077189"/>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Tree>
    <p:extLst>
      <p:ext uri="{BB962C8B-B14F-4D97-AF65-F5344CB8AC3E}">
        <p14:creationId xmlns:p14="http://schemas.microsoft.com/office/powerpoint/2010/main" val="256619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pic>
        <p:nvPicPr>
          <p:cNvPr id="1048" name="Picture 1047">
            <a:extLst>
              <a:ext uri="{FF2B5EF4-FFF2-40B4-BE49-F238E27FC236}">
                <a16:creationId xmlns:a16="http://schemas.microsoft.com/office/drawing/2014/main" id="{65459212-258B-994F-0296-FBFBD8739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7937" y="12495731"/>
            <a:ext cx="11697701" cy="10321503"/>
          </a:xfrm>
          <a:prstGeom prst="rect">
            <a:avLst/>
          </a:prstGeom>
        </p:spPr>
      </p:pic>
      <p:pic>
        <p:nvPicPr>
          <p:cNvPr id="2054" name="Picture 6" descr="Download Bicycle Black Siluete Png Image HQ PNG Image | FreePNGImg">
            <a:extLst>
              <a:ext uri="{FF2B5EF4-FFF2-40B4-BE49-F238E27FC236}">
                <a16:creationId xmlns:a16="http://schemas.microsoft.com/office/drawing/2014/main" id="{3484124A-C741-BAE2-9BFF-87CF720E7A0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artisticPhotocopy trans="62000" detail="0"/>
                    </a14:imgEffect>
                  </a14:imgLayer>
                </a14:imgProps>
              </a:ext>
              <a:ext uri="{28A0092B-C50C-407E-A947-70E740481C1C}">
                <a14:useLocalDpi xmlns:a14="http://schemas.microsoft.com/office/drawing/2010/main" val="0"/>
              </a:ext>
            </a:extLst>
          </a:blip>
          <a:srcRect/>
          <a:stretch>
            <a:fillRect/>
          </a:stretch>
        </p:blipFill>
        <p:spPr bwMode="auto">
          <a:xfrm>
            <a:off x="16552050" y="3405666"/>
            <a:ext cx="11889219" cy="7844331"/>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F98F192-9BF0-78D2-FFD3-BE676F2F345C}"/>
              </a:ext>
            </a:extLst>
          </p:cNvPr>
          <p:cNvSpPr txBox="1"/>
          <p:nvPr/>
        </p:nvSpPr>
        <p:spPr>
          <a:xfrm>
            <a:off x="11979727" y="261256"/>
            <a:ext cx="7781471" cy="1569212"/>
          </a:xfrm>
          <a:prstGeom prst="rect">
            <a:avLst/>
          </a:prstGeom>
          <a:noFill/>
        </p:spPr>
        <p:txBody>
          <a:bodyPr wrap="square" rtlCol="0">
            <a:spAutoFit/>
          </a:bodyPr>
          <a:lstStyle/>
          <a:p>
            <a:r>
              <a:rPr lang="en-IN" sz="9597" b="1" dirty="0">
                <a:solidFill>
                  <a:schemeClr val="bg1"/>
                </a:solidFill>
                <a:latin typeface="Agency FB" panose="020B0503020202020204" pitchFamily="34" charset="0"/>
                <a:cs typeface="Times New Roman" panose="02020603050405020304" pitchFamily="18" charset="0"/>
              </a:rPr>
              <a:t>Is Cycling </a:t>
            </a:r>
            <a:r>
              <a:rPr lang="en-IN" sz="9597" b="1" u="sng" dirty="0">
                <a:solidFill>
                  <a:schemeClr val="accent6">
                    <a:lumMod val="40000"/>
                    <a:lumOff val="60000"/>
                  </a:schemeClr>
                </a:solidFill>
                <a:latin typeface="Agency FB" panose="020B0503020202020204" pitchFamily="34" charset="0"/>
                <a:cs typeface="Times New Roman" panose="02020603050405020304" pitchFamily="18" charset="0"/>
              </a:rPr>
              <a:t>Safer</a:t>
            </a:r>
            <a:r>
              <a:rPr lang="en-IN" sz="9597" b="1" dirty="0">
                <a:solidFill>
                  <a:schemeClr val="bg1"/>
                </a:solidFill>
                <a:latin typeface="Agency FB" panose="020B0503020202020204" pitchFamily="34" charset="0"/>
                <a:cs typeface="Times New Roman" panose="02020603050405020304" pitchFamily="18" charset="0"/>
              </a:rPr>
              <a:t> ?</a:t>
            </a:r>
          </a:p>
        </p:txBody>
      </p:sp>
      <p:sp>
        <p:nvSpPr>
          <p:cNvPr id="3" name="Rectangle 2">
            <a:extLst>
              <a:ext uri="{FF2B5EF4-FFF2-40B4-BE49-F238E27FC236}">
                <a16:creationId xmlns:a16="http://schemas.microsoft.com/office/drawing/2014/main" id="{B537AB93-B2BF-5492-DF8C-9F0130377EE5}"/>
              </a:ext>
            </a:extLst>
          </p:cNvPr>
          <p:cNvSpPr/>
          <p:nvPr/>
        </p:nvSpPr>
        <p:spPr>
          <a:xfrm>
            <a:off x="2273941" y="-2"/>
            <a:ext cx="252951" cy="428037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7" name="TextBox 6">
            <a:extLst>
              <a:ext uri="{FF2B5EF4-FFF2-40B4-BE49-F238E27FC236}">
                <a16:creationId xmlns:a16="http://schemas.microsoft.com/office/drawing/2014/main" id="{F0FDFE08-58EC-E0EE-667F-B9DAA436FD90}"/>
              </a:ext>
            </a:extLst>
          </p:cNvPr>
          <p:cNvSpPr txBox="1"/>
          <p:nvPr/>
        </p:nvSpPr>
        <p:spPr>
          <a:xfrm>
            <a:off x="2795402" y="3136306"/>
            <a:ext cx="5591308" cy="1200329"/>
          </a:xfrm>
          <a:prstGeom prst="rect">
            <a:avLst/>
          </a:prstGeom>
          <a:noFill/>
        </p:spPr>
        <p:txBody>
          <a:bodyPr wrap="square">
            <a:spAutoFit/>
          </a:bodyPr>
          <a:lstStyle/>
          <a:p>
            <a:r>
              <a:rPr lang="en-IN" sz="7200" b="1" u="sng" dirty="0">
                <a:solidFill>
                  <a:schemeClr val="bg1"/>
                </a:solidFill>
                <a:latin typeface="Agency FB" panose="020B0503020202020204" pitchFamily="34" charset="0"/>
                <a:cs typeface="Times New Roman" panose="02020603050405020304" pitchFamily="18" charset="0"/>
              </a:rPr>
              <a:t>INTRODUCTION:</a:t>
            </a:r>
            <a:endParaRPr lang="en-IN" sz="468" dirty="0"/>
          </a:p>
        </p:txBody>
      </p:sp>
      <p:sp>
        <p:nvSpPr>
          <p:cNvPr id="9" name="Arrow: Down 8">
            <a:extLst>
              <a:ext uri="{FF2B5EF4-FFF2-40B4-BE49-F238E27FC236}">
                <a16:creationId xmlns:a16="http://schemas.microsoft.com/office/drawing/2014/main" id="{658E354E-CA78-04D9-BCF3-BB8AB92ABAB4}"/>
              </a:ext>
            </a:extLst>
          </p:cNvPr>
          <p:cNvSpPr/>
          <p:nvPr/>
        </p:nvSpPr>
        <p:spPr>
          <a:xfrm>
            <a:off x="598977" y="16107182"/>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028" name="Picture 4" descr="Free Black And White Bicycle Images, Download Free Black And White Bicycle  Images png images, Free ClipArts on Clipart Library">
            <a:extLst>
              <a:ext uri="{FF2B5EF4-FFF2-40B4-BE49-F238E27FC236}">
                <a16:creationId xmlns:a16="http://schemas.microsoft.com/office/drawing/2014/main" id="{36236AF3-BABE-11FB-AEF4-2E29B98107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322927" y="3657902"/>
            <a:ext cx="2976742" cy="223444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Free Black And White Bicycle Images, Download Free Black And White Bicycle  Images png images, Free ClipArts on Clipart Library">
            <a:extLst>
              <a:ext uri="{FF2B5EF4-FFF2-40B4-BE49-F238E27FC236}">
                <a16:creationId xmlns:a16="http://schemas.microsoft.com/office/drawing/2014/main" id="{695C0145-B857-6DD3-F96D-8F6AFABC1F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331380" y="11167968"/>
            <a:ext cx="2976742" cy="223444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Free Black And White Bicycle Images, Download Free Black And White Bicycle  Images png images, Free ClipArts on Clipart Library">
            <a:extLst>
              <a:ext uri="{FF2B5EF4-FFF2-40B4-BE49-F238E27FC236}">
                <a16:creationId xmlns:a16="http://schemas.microsoft.com/office/drawing/2014/main" id="{F0CE6913-682E-FE36-C760-F6BC4ADD47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316954" y="35311500"/>
            <a:ext cx="2976742" cy="223444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7EBD8B68-77B8-E559-6FAB-903CA7604706}"/>
              </a:ext>
            </a:extLst>
          </p:cNvPr>
          <p:cNvSpPr txBox="1"/>
          <p:nvPr/>
        </p:nvSpPr>
        <p:spPr>
          <a:xfrm>
            <a:off x="7725143" y="1690109"/>
            <a:ext cx="17830798" cy="1107996"/>
          </a:xfrm>
          <a:prstGeom prst="rect">
            <a:avLst/>
          </a:prstGeom>
          <a:noFill/>
        </p:spPr>
        <p:txBody>
          <a:bodyPr wrap="square">
            <a:spAutoFit/>
          </a:bodyPr>
          <a:lstStyle/>
          <a:p>
            <a:r>
              <a:rPr lang="en-IN" sz="6600" b="1" u="sng" dirty="0">
                <a:solidFill>
                  <a:schemeClr val="bg1"/>
                </a:solidFill>
                <a:latin typeface="Agency FB" panose="020B0503020202020204" pitchFamily="34" charset="0"/>
                <a:cs typeface="Times New Roman" panose="02020603050405020304" pitchFamily="18" charset="0"/>
              </a:rPr>
              <a:t>Source Data: Stats19 UK Collision Data 2018-2022</a:t>
            </a:r>
          </a:p>
        </p:txBody>
      </p:sp>
      <p:sp>
        <p:nvSpPr>
          <p:cNvPr id="16" name="TextBox 15">
            <a:extLst>
              <a:ext uri="{FF2B5EF4-FFF2-40B4-BE49-F238E27FC236}">
                <a16:creationId xmlns:a16="http://schemas.microsoft.com/office/drawing/2014/main" id="{875A5F3D-49AD-4124-8710-535AC9C7E6AF}"/>
              </a:ext>
            </a:extLst>
          </p:cNvPr>
          <p:cNvSpPr txBox="1"/>
          <p:nvPr/>
        </p:nvSpPr>
        <p:spPr>
          <a:xfrm>
            <a:off x="2825962" y="10654333"/>
            <a:ext cx="5104004" cy="1200329"/>
          </a:xfrm>
          <a:prstGeom prst="rect">
            <a:avLst/>
          </a:prstGeom>
          <a:noFill/>
        </p:spPr>
        <p:txBody>
          <a:bodyPr wrap="square">
            <a:spAutoFit/>
          </a:bodyPr>
          <a:lstStyle/>
          <a:p>
            <a:r>
              <a:rPr lang="en-IN" sz="7200" b="1" u="sng" dirty="0">
                <a:solidFill>
                  <a:schemeClr val="bg1"/>
                </a:solidFill>
                <a:latin typeface="Agency FB" panose="020B0503020202020204" pitchFamily="34" charset="0"/>
                <a:cs typeface="Times New Roman" panose="02020603050405020304" pitchFamily="18" charset="0"/>
              </a:rPr>
              <a:t>OBSERVATION:</a:t>
            </a:r>
            <a:endParaRPr lang="en-IN" sz="468" dirty="0"/>
          </a:p>
        </p:txBody>
      </p:sp>
      <p:sp>
        <p:nvSpPr>
          <p:cNvPr id="17" name="TextBox 16">
            <a:extLst>
              <a:ext uri="{FF2B5EF4-FFF2-40B4-BE49-F238E27FC236}">
                <a16:creationId xmlns:a16="http://schemas.microsoft.com/office/drawing/2014/main" id="{CC4BB76B-C51A-FF61-46C7-9ED0E3C39CDD}"/>
              </a:ext>
            </a:extLst>
          </p:cNvPr>
          <p:cNvSpPr txBox="1"/>
          <p:nvPr/>
        </p:nvSpPr>
        <p:spPr>
          <a:xfrm>
            <a:off x="2826223" y="34811352"/>
            <a:ext cx="5104004" cy="1200329"/>
          </a:xfrm>
          <a:prstGeom prst="rect">
            <a:avLst/>
          </a:prstGeom>
          <a:noFill/>
        </p:spPr>
        <p:txBody>
          <a:bodyPr wrap="square">
            <a:spAutoFit/>
          </a:bodyPr>
          <a:lstStyle/>
          <a:p>
            <a:r>
              <a:rPr lang="en-IN" sz="7200" b="1" u="sng" dirty="0">
                <a:solidFill>
                  <a:schemeClr val="bg1"/>
                </a:solidFill>
                <a:latin typeface="Agency FB" panose="020B0503020202020204" pitchFamily="34" charset="0"/>
                <a:cs typeface="Times New Roman" panose="02020603050405020304" pitchFamily="18" charset="0"/>
              </a:rPr>
              <a:t>CONCLUSION:</a:t>
            </a:r>
            <a:endParaRPr lang="en-IN" sz="468" dirty="0"/>
          </a:p>
        </p:txBody>
      </p:sp>
      <p:sp>
        <p:nvSpPr>
          <p:cNvPr id="18" name="Arrow: Down 17">
            <a:extLst>
              <a:ext uri="{FF2B5EF4-FFF2-40B4-BE49-F238E27FC236}">
                <a16:creationId xmlns:a16="http://schemas.microsoft.com/office/drawing/2014/main" id="{C94212B4-DF68-F0FE-19DF-C7E7C3946E7B}"/>
              </a:ext>
            </a:extLst>
          </p:cNvPr>
          <p:cNvSpPr/>
          <p:nvPr/>
        </p:nvSpPr>
        <p:spPr>
          <a:xfrm>
            <a:off x="558605" y="22398710"/>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9" name="Arrow: Down 18">
            <a:extLst>
              <a:ext uri="{FF2B5EF4-FFF2-40B4-BE49-F238E27FC236}">
                <a16:creationId xmlns:a16="http://schemas.microsoft.com/office/drawing/2014/main" id="{C5FDFE0F-705E-DBD7-95C8-1A6F41D0F928}"/>
              </a:ext>
            </a:extLst>
          </p:cNvPr>
          <p:cNvSpPr/>
          <p:nvPr/>
        </p:nvSpPr>
        <p:spPr>
          <a:xfrm>
            <a:off x="650627" y="7110460"/>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0" name="Arrow: Down 19">
            <a:extLst>
              <a:ext uri="{FF2B5EF4-FFF2-40B4-BE49-F238E27FC236}">
                <a16:creationId xmlns:a16="http://schemas.microsoft.com/office/drawing/2014/main" id="{B1D72698-F8E1-3C56-2090-EA3E7768B116}"/>
              </a:ext>
            </a:extLst>
          </p:cNvPr>
          <p:cNvSpPr/>
          <p:nvPr/>
        </p:nvSpPr>
        <p:spPr>
          <a:xfrm>
            <a:off x="555189" y="39148433"/>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1" name="Rectangle 20">
            <a:extLst>
              <a:ext uri="{FF2B5EF4-FFF2-40B4-BE49-F238E27FC236}">
                <a16:creationId xmlns:a16="http://schemas.microsoft.com/office/drawing/2014/main" id="{9A1DA351-9FAC-693D-2999-261FA0156D8E}"/>
              </a:ext>
            </a:extLst>
          </p:cNvPr>
          <p:cNvSpPr/>
          <p:nvPr/>
        </p:nvSpPr>
        <p:spPr>
          <a:xfrm>
            <a:off x="15137608" y="5854701"/>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2" name="Rectangle 21">
            <a:extLst>
              <a:ext uri="{FF2B5EF4-FFF2-40B4-BE49-F238E27FC236}">
                <a16:creationId xmlns:a16="http://schemas.microsoft.com/office/drawing/2014/main" id="{E1262912-25C4-E138-862D-C92743A203EA}"/>
              </a:ext>
            </a:extLst>
          </p:cNvPr>
          <p:cNvSpPr/>
          <p:nvPr/>
        </p:nvSpPr>
        <p:spPr>
          <a:xfrm>
            <a:off x="15137608" y="18375378"/>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3" name="Rectangle 22">
            <a:extLst>
              <a:ext uri="{FF2B5EF4-FFF2-40B4-BE49-F238E27FC236}">
                <a16:creationId xmlns:a16="http://schemas.microsoft.com/office/drawing/2014/main" id="{C759426A-7FC4-1036-AAE5-3F70F329D01E}"/>
              </a:ext>
            </a:extLst>
          </p:cNvPr>
          <p:cNvSpPr/>
          <p:nvPr/>
        </p:nvSpPr>
        <p:spPr>
          <a:xfrm>
            <a:off x="15135176" y="25592537"/>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4" name="Rectangle 23">
            <a:extLst>
              <a:ext uri="{FF2B5EF4-FFF2-40B4-BE49-F238E27FC236}">
                <a16:creationId xmlns:a16="http://schemas.microsoft.com/office/drawing/2014/main" id="{41F04C5B-5DDF-105A-273A-F227133901CA}"/>
              </a:ext>
            </a:extLst>
          </p:cNvPr>
          <p:cNvSpPr/>
          <p:nvPr/>
        </p:nvSpPr>
        <p:spPr>
          <a:xfrm>
            <a:off x="15135176" y="38549772"/>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9" name="TextBox 28">
            <a:extLst>
              <a:ext uri="{FF2B5EF4-FFF2-40B4-BE49-F238E27FC236}">
                <a16:creationId xmlns:a16="http://schemas.microsoft.com/office/drawing/2014/main" id="{4E38CD18-1348-9C5D-D6A1-C88989EFAE30}"/>
              </a:ext>
            </a:extLst>
          </p:cNvPr>
          <p:cNvSpPr txBox="1"/>
          <p:nvPr/>
        </p:nvSpPr>
        <p:spPr>
          <a:xfrm>
            <a:off x="4108383" y="24691101"/>
            <a:ext cx="10351359" cy="9324347"/>
          </a:xfrm>
          <a:prstGeom prst="rect">
            <a:avLst/>
          </a:prstGeom>
          <a:noFill/>
        </p:spPr>
        <p:txBody>
          <a:bodyPr wrap="square">
            <a:spAutoFit/>
          </a:bodyPr>
          <a:lstStyle/>
          <a:p>
            <a:pPr algn="just"/>
            <a:r>
              <a:rPr lang="en-IN" sz="5999" b="1" dirty="0">
                <a:solidFill>
                  <a:schemeClr val="bg1"/>
                </a:solidFill>
                <a:latin typeface="Agency FB" panose="020B0503020202020204" pitchFamily="34" charset="0"/>
              </a:rPr>
              <a:t>76% </a:t>
            </a:r>
            <a:r>
              <a:rPr lang="en-IN" sz="5999" dirty="0">
                <a:solidFill>
                  <a:schemeClr val="bg1"/>
                </a:solidFill>
                <a:latin typeface="Agency FB" panose="020B0503020202020204" pitchFamily="34" charset="0"/>
              </a:rPr>
              <a:t>of total</a:t>
            </a:r>
            <a:r>
              <a:rPr lang="en-IN" sz="5999" b="1" dirty="0">
                <a:solidFill>
                  <a:schemeClr val="bg1"/>
                </a:solidFill>
                <a:latin typeface="Agency FB" panose="020B0503020202020204" pitchFamily="34" charset="0"/>
              </a:rPr>
              <a:t> </a:t>
            </a:r>
            <a:r>
              <a:rPr lang="en-IN" sz="5999" dirty="0">
                <a:solidFill>
                  <a:schemeClr val="bg1"/>
                </a:solidFill>
                <a:latin typeface="Agency FB" panose="020B0503020202020204" pitchFamily="34" charset="0"/>
              </a:rPr>
              <a:t>are Severity 3 accidents and</a:t>
            </a:r>
            <a:r>
              <a:rPr lang="en-US" sz="5999" dirty="0">
                <a:solidFill>
                  <a:schemeClr val="bg1"/>
                </a:solidFill>
                <a:latin typeface="Agency FB" panose="020B0503020202020204" pitchFamily="34" charset="0"/>
              </a:rPr>
              <a:t> </a:t>
            </a:r>
            <a:r>
              <a:rPr lang="en-US" sz="5999" b="1" dirty="0">
                <a:solidFill>
                  <a:schemeClr val="bg1"/>
                </a:solidFill>
                <a:latin typeface="Agency FB" panose="020B0503020202020204" pitchFamily="34" charset="0"/>
              </a:rPr>
              <a:t>84.9% </a:t>
            </a:r>
            <a:r>
              <a:rPr lang="en-US" sz="5999" dirty="0">
                <a:solidFill>
                  <a:schemeClr val="bg1"/>
                </a:solidFill>
                <a:latin typeface="Agency FB" panose="020B0503020202020204" pitchFamily="34" charset="0"/>
              </a:rPr>
              <a:t>of Severity 3 in Urban areas.</a:t>
            </a:r>
          </a:p>
          <a:p>
            <a:pPr algn="just"/>
            <a:r>
              <a:rPr lang="en-US" sz="5999" dirty="0">
                <a:solidFill>
                  <a:schemeClr val="bg1"/>
                </a:solidFill>
                <a:latin typeface="Agency FB" panose="020B0503020202020204" pitchFamily="34" charset="0"/>
              </a:rPr>
              <a:t> In Urban areas, </a:t>
            </a:r>
            <a:r>
              <a:rPr lang="en-US" sz="5999" b="1" dirty="0">
                <a:solidFill>
                  <a:schemeClr val="bg1"/>
                </a:solidFill>
                <a:latin typeface="Agency FB" panose="020B0503020202020204" pitchFamily="34" charset="0"/>
              </a:rPr>
              <a:t>74.5% </a:t>
            </a:r>
            <a:r>
              <a:rPr lang="en-US" sz="5999" dirty="0">
                <a:solidFill>
                  <a:schemeClr val="bg1"/>
                </a:solidFill>
                <a:latin typeface="Agency FB" panose="020B0503020202020204" pitchFamily="34" charset="0"/>
              </a:rPr>
              <a:t>at the Single Carriageway roads with </a:t>
            </a:r>
            <a:r>
              <a:rPr lang="en-US" sz="5999" b="1" dirty="0">
                <a:solidFill>
                  <a:schemeClr val="bg1"/>
                </a:solidFill>
                <a:latin typeface="Agency FB" panose="020B0503020202020204" pitchFamily="34" charset="0"/>
              </a:rPr>
              <a:t>50%</a:t>
            </a:r>
            <a:r>
              <a:rPr lang="en-US" sz="5999" dirty="0">
                <a:solidFill>
                  <a:schemeClr val="bg1"/>
                </a:solidFill>
                <a:latin typeface="Agency FB" panose="020B0503020202020204" pitchFamily="34" charset="0"/>
              </a:rPr>
              <a:t>  of frontal impact on the cycle and </a:t>
            </a:r>
            <a:r>
              <a:rPr lang="en-US" sz="5999" b="1" dirty="0">
                <a:solidFill>
                  <a:schemeClr val="bg1"/>
                </a:solidFill>
                <a:latin typeface="Agency FB" panose="020B0503020202020204" pitchFamily="34" charset="0"/>
              </a:rPr>
              <a:t>20%</a:t>
            </a:r>
            <a:r>
              <a:rPr lang="en-US" sz="5999" dirty="0">
                <a:solidFill>
                  <a:schemeClr val="bg1"/>
                </a:solidFill>
                <a:latin typeface="Agency FB" panose="020B0503020202020204" pitchFamily="34" charset="0"/>
              </a:rPr>
              <a:t> during commute to office. </a:t>
            </a:r>
          </a:p>
          <a:p>
            <a:pPr algn="just"/>
            <a:r>
              <a:rPr lang="en-US" sz="5999" dirty="0">
                <a:solidFill>
                  <a:schemeClr val="bg1"/>
                </a:solidFill>
                <a:latin typeface="Agency FB" panose="020B0503020202020204" pitchFamily="34" charset="0"/>
              </a:rPr>
              <a:t>Males </a:t>
            </a:r>
            <a:r>
              <a:rPr lang="en-US" sz="5999" b="1" dirty="0">
                <a:solidFill>
                  <a:schemeClr val="bg1"/>
                </a:solidFill>
                <a:latin typeface="Agency FB" panose="020B0503020202020204" pitchFamily="34" charset="0"/>
              </a:rPr>
              <a:t>3x</a:t>
            </a:r>
            <a:r>
              <a:rPr lang="en-US" sz="5999" dirty="0">
                <a:solidFill>
                  <a:schemeClr val="bg1"/>
                </a:solidFill>
                <a:latin typeface="Agency FB" panose="020B0503020202020204" pitchFamily="34" charset="0"/>
              </a:rPr>
              <a:t> more involved than Females in collisions on average. Males of </a:t>
            </a:r>
            <a:r>
              <a:rPr lang="en-US" sz="5999" b="1" dirty="0">
                <a:solidFill>
                  <a:schemeClr val="bg1"/>
                </a:solidFill>
                <a:latin typeface="Agency FB" panose="020B0503020202020204" pitchFamily="34" charset="0"/>
              </a:rPr>
              <a:t>11-25</a:t>
            </a:r>
            <a:r>
              <a:rPr lang="en-US" sz="5999" dirty="0">
                <a:solidFill>
                  <a:schemeClr val="bg1"/>
                </a:solidFill>
                <a:latin typeface="Agency FB" panose="020B0503020202020204" pitchFamily="34" charset="0"/>
              </a:rPr>
              <a:t> age group and Females of </a:t>
            </a:r>
            <a:r>
              <a:rPr lang="en-US" sz="5999" b="1" dirty="0">
                <a:solidFill>
                  <a:schemeClr val="bg1"/>
                </a:solidFill>
                <a:latin typeface="Agency FB" panose="020B0503020202020204" pitchFamily="34" charset="0"/>
              </a:rPr>
              <a:t>21-25</a:t>
            </a:r>
            <a:r>
              <a:rPr lang="en-US" sz="5999" dirty="0">
                <a:solidFill>
                  <a:schemeClr val="bg1"/>
                </a:solidFill>
                <a:latin typeface="Agency FB" panose="020B0503020202020204" pitchFamily="34" charset="0"/>
              </a:rPr>
              <a:t> age group are more involved in collisions.</a:t>
            </a:r>
          </a:p>
        </p:txBody>
      </p:sp>
      <p:pic>
        <p:nvPicPr>
          <p:cNvPr id="1032" name="Picture 8" descr="Traffic light - Simple English Wikipedia, the free encyclopedia">
            <a:extLst>
              <a:ext uri="{FF2B5EF4-FFF2-40B4-BE49-F238E27FC236}">
                <a16:creationId xmlns:a16="http://schemas.microsoft.com/office/drawing/2014/main" id="{A71D7417-A004-2EF0-C514-DFD390946CC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018" r="33324" b="21759"/>
          <a:stretch/>
        </p:blipFill>
        <p:spPr bwMode="auto">
          <a:xfrm>
            <a:off x="13860421" y="36081293"/>
            <a:ext cx="638627" cy="144929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raffic light - Simple English Wikipedia, the free encyclopedia">
            <a:extLst>
              <a:ext uri="{FF2B5EF4-FFF2-40B4-BE49-F238E27FC236}">
                <a16:creationId xmlns:a16="http://schemas.microsoft.com/office/drawing/2014/main" id="{EF185533-B01A-ADC2-03E9-A3C7F3251C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6592" b="23365"/>
          <a:stretch/>
        </p:blipFill>
        <p:spPr bwMode="auto">
          <a:xfrm>
            <a:off x="2625966" y="23213319"/>
            <a:ext cx="638631" cy="143018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Traffic light - Simple English Wikipedia, the free encyclopedia">
            <a:extLst>
              <a:ext uri="{FF2B5EF4-FFF2-40B4-BE49-F238E27FC236}">
                <a16:creationId xmlns:a16="http://schemas.microsoft.com/office/drawing/2014/main" id="{A528EB16-F8EC-FA1A-EA5A-142E0C9E8B5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018" r="33324" b="21759"/>
          <a:stretch/>
        </p:blipFill>
        <p:spPr bwMode="auto">
          <a:xfrm>
            <a:off x="2744178" y="36062178"/>
            <a:ext cx="638627" cy="144929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Traffic light - Simple English Wikipedia, the free encyclopedia">
            <a:extLst>
              <a:ext uri="{FF2B5EF4-FFF2-40B4-BE49-F238E27FC236}">
                <a16:creationId xmlns:a16="http://schemas.microsoft.com/office/drawing/2014/main" id="{0458E993-D671-0086-25EC-59B6144C1EA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6592" b="23365"/>
          <a:stretch/>
        </p:blipFill>
        <p:spPr bwMode="auto">
          <a:xfrm>
            <a:off x="14478738" y="23295642"/>
            <a:ext cx="638631" cy="143018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raffic Cones PNG Transparent Images Free Download | Vector Files | Pngtree">
            <a:extLst>
              <a:ext uri="{FF2B5EF4-FFF2-40B4-BE49-F238E27FC236}">
                <a16:creationId xmlns:a16="http://schemas.microsoft.com/office/drawing/2014/main" id="{10922B25-D315-E39B-15B6-6A5DBF848C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0788" y="24645794"/>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6" descr="Traffic Cones PNG Transparent Images Free Download | Vector Files | Pngtree">
            <a:extLst>
              <a:ext uri="{FF2B5EF4-FFF2-40B4-BE49-F238E27FC236}">
                <a16:creationId xmlns:a16="http://schemas.microsoft.com/office/drawing/2014/main" id="{0872E180-F968-724A-BBA0-8D99157B54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0784" y="26344618"/>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Green go traffic road sign on transparent background PNG - Similar PNG">
            <a:extLst>
              <a:ext uri="{FF2B5EF4-FFF2-40B4-BE49-F238E27FC236}">
                <a16:creationId xmlns:a16="http://schemas.microsoft.com/office/drawing/2014/main" id="{EE68E4E1-8462-D913-3E4D-B51C4599977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688" t="10495" r="10861" b="13634"/>
          <a:stretch/>
        </p:blipFill>
        <p:spPr bwMode="auto">
          <a:xfrm>
            <a:off x="3689375" y="37098570"/>
            <a:ext cx="959249" cy="927694"/>
          </a:xfrm>
          <a:prstGeom prst="ellipse">
            <a:avLst/>
          </a:prstGeom>
          <a:noFill/>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F9375370-9E97-D849-9348-9F1637874FBB}"/>
              </a:ext>
            </a:extLst>
          </p:cNvPr>
          <p:cNvSpPr txBox="1"/>
          <p:nvPr/>
        </p:nvSpPr>
        <p:spPr>
          <a:xfrm>
            <a:off x="4869153" y="36964596"/>
            <a:ext cx="8209801" cy="1200329"/>
          </a:xfrm>
          <a:prstGeom prst="rect">
            <a:avLst/>
          </a:prstGeom>
          <a:noFill/>
        </p:spPr>
        <p:txBody>
          <a:bodyPr wrap="square">
            <a:spAutoFit/>
          </a:bodyPr>
          <a:lstStyle/>
          <a:p>
            <a:r>
              <a:rPr lang="en-IN" sz="7200" dirty="0">
                <a:solidFill>
                  <a:schemeClr val="bg1"/>
                </a:solidFill>
                <a:latin typeface="Agency FB" panose="020B0503020202020204" pitchFamily="34" charset="0"/>
              </a:rPr>
              <a:t>Cycles </a:t>
            </a:r>
            <a:r>
              <a:rPr lang="en-IN" sz="6600" dirty="0">
                <a:solidFill>
                  <a:schemeClr val="bg1"/>
                </a:solidFill>
                <a:latin typeface="Agency FB" panose="020B0503020202020204" pitchFamily="34" charset="0"/>
              </a:rPr>
              <a:t>are safer in general </a:t>
            </a:r>
            <a:endParaRPr lang="en-IN" sz="7200" dirty="0">
              <a:solidFill>
                <a:schemeClr val="bg1"/>
              </a:solidFill>
              <a:latin typeface="Agency FB" panose="020B0503020202020204" pitchFamily="34" charset="0"/>
            </a:endParaRPr>
          </a:p>
        </p:txBody>
      </p:sp>
      <p:pic>
        <p:nvPicPr>
          <p:cNvPr id="43" name="Picture 20" descr="Green go traffic road sign on transparent background PNG - Similar PNG">
            <a:extLst>
              <a:ext uri="{FF2B5EF4-FFF2-40B4-BE49-F238E27FC236}">
                <a16:creationId xmlns:a16="http://schemas.microsoft.com/office/drawing/2014/main" id="{A9909639-0704-2706-19AE-97EDB74B941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688" t="10495" r="10861" b="13634"/>
          <a:stretch/>
        </p:blipFill>
        <p:spPr bwMode="auto">
          <a:xfrm>
            <a:off x="3649856" y="38582011"/>
            <a:ext cx="959249" cy="927694"/>
          </a:xfrm>
          <a:prstGeom prst="ellipse">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1DE1DC58-9B79-42A0-2A59-919B84944395}"/>
              </a:ext>
            </a:extLst>
          </p:cNvPr>
          <p:cNvSpPr txBox="1"/>
          <p:nvPr/>
        </p:nvSpPr>
        <p:spPr>
          <a:xfrm>
            <a:off x="4829642" y="38507032"/>
            <a:ext cx="10114508" cy="1107996"/>
          </a:xfrm>
          <a:prstGeom prst="rect">
            <a:avLst/>
          </a:prstGeom>
          <a:noFill/>
        </p:spPr>
        <p:txBody>
          <a:bodyPr wrap="square">
            <a:spAutoFit/>
          </a:bodyPr>
          <a:lstStyle/>
          <a:p>
            <a:r>
              <a:rPr lang="en-IN" sz="6600" dirty="0">
                <a:solidFill>
                  <a:schemeClr val="bg1"/>
                </a:solidFill>
                <a:latin typeface="Agency FB" panose="020B0503020202020204" pitchFamily="34" charset="0"/>
              </a:rPr>
              <a:t>Greener healthier alternative to cars </a:t>
            </a:r>
            <a:endParaRPr lang="en-IN" sz="7200" dirty="0">
              <a:solidFill>
                <a:schemeClr val="bg1"/>
              </a:solidFill>
              <a:latin typeface="Agency FB" panose="020B0503020202020204" pitchFamily="34" charset="0"/>
            </a:endParaRPr>
          </a:p>
        </p:txBody>
      </p:sp>
      <p:pic>
        <p:nvPicPr>
          <p:cNvPr id="46" name="Picture 20" descr="Green go traffic road sign on transparent background PNG - Similar PNG">
            <a:extLst>
              <a:ext uri="{FF2B5EF4-FFF2-40B4-BE49-F238E27FC236}">
                <a16:creationId xmlns:a16="http://schemas.microsoft.com/office/drawing/2014/main" id="{E6272832-B2CF-A429-D70E-17457F0356F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688" t="10495" r="10861" b="13634"/>
          <a:stretch/>
        </p:blipFill>
        <p:spPr bwMode="auto">
          <a:xfrm>
            <a:off x="3689375" y="40112666"/>
            <a:ext cx="959249" cy="927694"/>
          </a:xfrm>
          <a:prstGeom prst="ellipse">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CAA47513-50F4-8833-DBBA-56B378F212CD}"/>
              </a:ext>
            </a:extLst>
          </p:cNvPr>
          <p:cNvSpPr txBox="1"/>
          <p:nvPr/>
        </p:nvSpPr>
        <p:spPr>
          <a:xfrm>
            <a:off x="4869157" y="39835179"/>
            <a:ext cx="9865190" cy="1200329"/>
          </a:xfrm>
          <a:prstGeom prst="rect">
            <a:avLst/>
          </a:prstGeom>
          <a:noFill/>
        </p:spPr>
        <p:txBody>
          <a:bodyPr wrap="square">
            <a:spAutoFit/>
          </a:bodyPr>
          <a:lstStyle/>
          <a:p>
            <a:r>
              <a:rPr lang="en-IN" sz="7200" dirty="0">
                <a:solidFill>
                  <a:schemeClr val="bg1"/>
                </a:solidFill>
                <a:latin typeface="Agency FB" panose="020B0503020202020204" pitchFamily="34" charset="0"/>
              </a:rPr>
              <a:t>Need </a:t>
            </a:r>
            <a:r>
              <a:rPr lang="en-IN" sz="6600" dirty="0">
                <a:solidFill>
                  <a:schemeClr val="bg1"/>
                </a:solidFill>
                <a:latin typeface="Agency FB" panose="020B0503020202020204" pitchFamily="34" charset="0"/>
              </a:rPr>
              <a:t>to improve cyclist road safety</a:t>
            </a:r>
            <a:endParaRPr lang="en-IN" sz="7200" dirty="0">
              <a:solidFill>
                <a:schemeClr val="bg1"/>
              </a:solidFill>
              <a:latin typeface="Agency FB" panose="020B0503020202020204" pitchFamily="34" charset="0"/>
            </a:endParaRPr>
          </a:p>
        </p:txBody>
      </p:sp>
      <p:sp>
        <p:nvSpPr>
          <p:cNvPr id="8" name="TextBox 7">
            <a:extLst>
              <a:ext uri="{FF2B5EF4-FFF2-40B4-BE49-F238E27FC236}">
                <a16:creationId xmlns:a16="http://schemas.microsoft.com/office/drawing/2014/main" id="{5705412B-5466-66DB-01ED-8A554DBF1540}"/>
              </a:ext>
            </a:extLst>
          </p:cNvPr>
          <p:cNvSpPr txBox="1"/>
          <p:nvPr/>
        </p:nvSpPr>
        <p:spPr>
          <a:xfrm>
            <a:off x="3121821" y="4386159"/>
            <a:ext cx="10579478" cy="5908412"/>
          </a:xfrm>
          <a:prstGeom prst="rect">
            <a:avLst/>
          </a:prstGeom>
          <a:noFill/>
        </p:spPr>
        <p:txBody>
          <a:bodyPr wrap="square">
            <a:spAutoFit/>
          </a:bodyPr>
          <a:lstStyle/>
          <a:p>
            <a:pPr algn="just"/>
            <a:r>
              <a:rPr lang="en-IN" sz="5399" dirty="0">
                <a:solidFill>
                  <a:schemeClr val="bg1"/>
                </a:solidFill>
                <a:latin typeface="Agency FB" panose="020B0503020202020204" pitchFamily="34" charset="0"/>
              </a:rPr>
              <a:t>Modern age promotes use of pedal cycle more, for environment and physical health benefits.  </a:t>
            </a:r>
            <a:br>
              <a:rPr lang="en-IN" sz="5399" dirty="0">
                <a:solidFill>
                  <a:schemeClr val="bg1"/>
                </a:solidFill>
                <a:latin typeface="Agency FB" panose="020B0503020202020204" pitchFamily="34" charset="0"/>
              </a:rPr>
            </a:br>
            <a:r>
              <a:rPr lang="en-IN" sz="5399" dirty="0">
                <a:solidFill>
                  <a:schemeClr val="bg1"/>
                </a:solidFill>
                <a:latin typeface="Agency FB" panose="020B0503020202020204" pitchFamily="34" charset="0"/>
              </a:rPr>
              <a:t>This data analysis aims to investigate the involvement of  pedal cycles in collisions across Wales. To find how safe it is to ride pedal cycle. The most collision-prone areas, roads, and the distribution as per age and gender involvement.</a:t>
            </a:r>
            <a:endParaRPr lang="en-IN" sz="5399" b="1" dirty="0">
              <a:solidFill>
                <a:schemeClr val="bg1"/>
              </a:solidFill>
              <a:latin typeface="Agency FB" panose="020B0503020202020204" pitchFamily="34" charset="0"/>
            </a:endParaRPr>
          </a:p>
        </p:txBody>
      </p:sp>
      <p:pic>
        <p:nvPicPr>
          <p:cNvPr id="50" name="Picture 49">
            <a:extLst>
              <a:ext uri="{FF2B5EF4-FFF2-40B4-BE49-F238E27FC236}">
                <a16:creationId xmlns:a16="http://schemas.microsoft.com/office/drawing/2014/main" id="{17961901-93F4-F573-D10F-069A929EEE9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898977" y="3971113"/>
            <a:ext cx="12142170" cy="9106628"/>
          </a:xfrm>
          <a:prstGeom prst="rect">
            <a:avLst/>
          </a:prstGeom>
        </p:spPr>
      </p:pic>
      <p:pic>
        <p:nvPicPr>
          <p:cNvPr id="54" name="Picture 53">
            <a:extLst>
              <a:ext uri="{FF2B5EF4-FFF2-40B4-BE49-F238E27FC236}">
                <a16:creationId xmlns:a16="http://schemas.microsoft.com/office/drawing/2014/main" id="{035D01AD-D177-2AC0-BE07-D1DC7FC4E26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726853" y="3954845"/>
            <a:ext cx="12264211" cy="9198160"/>
          </a:xfrm>
          <a:prstGeom prst="rect">
            <a:avLst/>
          </a:prstGeom>
        </p:spPr>
      </p:pic>
      <p:sp>
        <p:nvSpPr>
          <p:cNvPr id="1033" name="Arrow: Down 1032">
            <a:extLst>
              <a:ext uri="{FF2B5EF4-FFF2-40B4-BE49-F238E27FC236}">
                <a16:creationId xmlns:a16="http://schemas.microsoft.com/office/drawing/2014/main" id="{F6221CFF-DA95-CF7E-C674-18B6A881BB23}"/>
              </a:ext>
            </a:extLst>
          </p:cNvPr>
          <p:cNvSpPr/>
          <p:nvPr/>
        </p:nvSpPr>
        <p:spPr>
          <a:xfrm>
            <a:off x="555189" y="29532279"/>
            <a:ext cx="1026625" cy="29767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5" name="Picture 14">
            <a:extLst>
              <a:ext uri="{FF2B5EF4-FFF2-40B4-BE49-F238E27FC236}">
                <a16:creationId xmlns:a16="http://schemas.microsoft.com/office/drawing/2014/main" id="{CB7458CE-A44F-9EFB-68C6-F7A2EC8AB035}"/>
              </a:ext>
            </a:extLst>
          </p:cNvPr>
          <p:cNvPicPr>
            <a:picLocks noChangeAspect="1"/>
          </p:cNvPicPr>
          <p:nvPr/>
        </p:nvPicPr>
        <p:blipFill rotWithShape="1">
          <a:blip r:embed="rId11">
            <a:extLst>
              <a:ext uri="{28A0092B-C50C-407E-A947-70E740481C1C}">
                <a14:useLocalDpi xmlns:a14="http://schemas.microsoft.com/office/drawing/2010/main" val="0"/>
              </a:ext>
            </a:extLst>
          </a:blip>
          <a:srcRect r="25014"/>
          <a:stretch/>
        </p:blipFill>
        <p:spPr>
          <a:xfrm>
            <a:off x="16486734" y="12825546"/>
            <a:ext cx="10726378" cy="12187720"/>
          </a:xfrm>
          <a:prstGeom prst="rect">
            <a:avLst/>
          </a:prstGeom>
        </p:spPr>
      </p:pic>
      <p:pic>
        <p:nvPicPr>
          <p:cNvPr id="27" name="Picture 26">
            <a:extLst>
              <a:ext uri="{FF2B5EF4-FFF2-40B4-BE49-F238E27FC236}">
                <a16:creationId xmlns:a16="http://schemas.microsoft.com/office/drawing/2014/main" id="{8356C9CE-F27F-344A-FBB7-8D7CC10914A3}"/>
              </a:ext>
            </a:extLst>
          </p:cNvPr>
          <p:cNvPicPr>
            <a:picLocks noChangeAspect="1"/>
          </p:cNvPicPr>
          <p:nvPr/>
        </p:nvPicPr>
        <p:blipFill rotWithShape="1">
          <a:blip r:embed="rId12"/>
          <a:srcRect l="2501" t="4043" r="3910" b="2844"/>
          <a:stretch/>
        </p:blipFill>
        <p:spPr>
          <a:xfrm>
            <a:off x="27027807" y="14433424"/>
            <a:ext cx="2868362" cy="2084774"/>
          </a:xfrm>
          <a:prstGeom prst="rect">
            <a:avLst/>
          </a:prstGeom>
        </p:spPr>
      </p:pic>
      <p:sp>
        <p:nvSpPr>
          <p:cNvPr id="28" name="Rectangle 27">
            <a:extLst>
              <a:ext uri="{FF2B5EF4-FFF2-40B4-BE49-F238E27FC236}">
                <a16:creationId xmlns:a16="http://schemas.microsoft.com/office/drawing/2014/main" id="{14E08DEF-CB74-A151-6539-758E87721397}"/>
              </a:ext>
            </a:extLst>
          </p:cNvPr>
          <p:cNvSpPr/>
          <p:nvPr/>
        </p:nvSpPr>
        <p:spPr>
          <a:xfrm>
            <a:off x="15176858" y="32465050"/>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30" name="Rectangle 29">
            <a:extLst>
              <a:ext uri="{FF2B5EF4-FFF2-40B4-BE49-F238E27FC236}">
                <a16:creationId xmlns:a16="http://schemas.microsoft.com/office/drawing/2014/main" id="{767CD667-5571-E9FF-2BF1-30951081399F}"/>
              </a:ext>
            </a:extLst>
          </p:cNvPr>
          <p:cNvSpPr/>
          <p:nvPr/>
        </p:nvSpPr>
        <p:spPr>
          <a:xfrm>
            <a:off x="15176858" y="12372158"/>
            <a:ext cx="417871" cy="3830176"/>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6" name="Picture 16" descr="Traffic Cones PNG Transparent Images Free Download | Vector Files | Pngtree">
            <a:extLst>
              <a:ext uri="{FF2B5EF4-FFF2-40B4-BE49-F238E27FC236}">
                <a16:creationId xmlns:a16="http://schemas.microsoft.com/office/drawing/2014/main" id="{05D67A9C-38D3-D091-64B5-C77FC0EC78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3160" y="30053508"/>
            <a:ext cx="1138773" cy="113877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a:extLst>
              <a:ext uri="{FF2B5EF4-FFF2-40B4-BE49-F238E27FC236}">
                <a16:creationId xmlns:a16="http://schemas.microsoft.com/office/drawing/2014/main" id="{DC5155BB-AA85-EBF8-34FD-078C00881CB7}"/>
              </a:ext>
            </a:extLst>
          </p:cNvPr>
          <p:cNvPicPr>
            <a:picLocks noChangeAspect="1"/>
          </p:cNvPicPr>
          <p:nvPr/>
        </p:nvPicPr>
        <p:blipFill rotWithShape="1">
          <a:blip r:embed="rId13"/>
          <a:srcRect l="2746" t="6551" r="6435" b="8050"/>
          <a:stretch/>
        </p:blipFill>
        <p:spPr>
          <a:xfrm>
            <a:off x="2910830" y="14333619"/>
            <a:ext cx="2327395" cy="1295234"/>
          </a:xfrm>
          <a:prstGeom prst="rect">
            <a:avLst/>
          </a:prstGeom>
        </p:spPr>
      </p:pic>
      <p:cxnSp>
        <p:nvCxnSpPr>
          <p:cNvPr id="59" name="Connector: Elbow 58">
            <a:extLst>
              <a:ext uri="{FF2B5EF4-FFF2-40B4-BE49-F238E27FC236}">
                <a16:creationId xmlns:a16="http://schemas.microsoft.com/office/drawing/2014/main" id="{4B140D77-8720-8694-98AE-CFFCBA9CF5E5}"/>
              </a:ext>
            </a:extLst>
          </p:cNvPr>
          <p:cNvCxnSpPr>
            <a:cxnSpLocks/>
          </p:cNvCxnSpPr>
          <p:nvPr/>
        </p:nvCxnSpPr>
        <p:spPr>
          <a:xfrm rot="5400000" flipH="1" flipV="1">
            <a:off x="10382831" y="15396401"/>
            <a:ext cx="1611570" cy="632018"/>
          </a:xfrm>
          <a:prstGeom prst="bentConnector3">
            <a:avLst>
              <a:gd name="adj1" fmla="val 100238"/>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26" name="Connector: Elbow 1025">
            <a:extLst>
              <a:ext uri="{FF2B5EF4-FFF2-40B4-BE49-F238E27FC236}">
                <a16:creationId xmlns:a16="http://schemas.microsoft.com/office/drawing/2014/main" id="{9957C7DB-9B2E-6BF8-DD97-DD349C1202FF}"/>
              </a:ext>
            </a:extLst>
          </p:cNvPr>
          <p:cNvCxnSpPr>
            <a:cxnSpLocks/>
          </p:cNvCxnSpPr>
          <p:nvPr/>
        </p:nvCxnSpPr>
        <p:spPr>
          <a:xfrm flipV="1">
            <a:off x="9801750" y="21111909"/>
            <a:ext cx="2428352" cy="452512"/>
          </a:xfrm>
          <a:prstGeom prst="bentConnector3">
            <a:avLst>
              <a:gd name="adj1" fmla="val 78241"/>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6" name="Connector: Elbow 1035">
            <a:extLst>
              <a:ext uri="{FF2B5EF4-FFF2-40B4-BE49-F238E27FC236}">
                <a16:creationId xmlns:a16="http://schemas.microsoft.com/office/drawing/2014/main" id="{3BE9944F-6DC7-9223-2CFA-A60AAB6E0B9E}"/>
              </a:ext>
            </a:extLst>
          </p:cNvPr>
          <p:cNvCxnSpPr>
            <a:cxnSpLocks/>
          </p:cNvCxnSpPr>
          <p:nvPr/>
        </p:nvCxnSpPr>
        <p:spPr>
          <a:xfrm flipV="1">
            <a:off x="4746635" y="21018501"/>
            <a:ext cx="1771899" cy="319669"/>
          </a:xfrm>
          <a:prstGeom prst="bentConnector3">
            <a:avLst>
              <a:gd name="adj1" fmla="val -2681"/>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2" name="Connector: Elbow 1041">
            <a:extLst>
              <a:ext uri="{FF2B5EF4-FFF2-40B4-BE49-F238E27FC236}">
                <a16:creationId xmlns:a16="http://schemas.microsoft.com/office/drawing/2014/main" id="{0C1FD1E8-A2F1-43AB-3C9A-8E5FC76CCAE8}"/>
              </a:ext>
            </a:extLst>
          </p:cNvPr>
          <p:cNvCxnSpPr>
            <a:cxnSpLocks/>
          </p:cNvCxnSpPr>
          <p:nvPr/>
        </p:nvCxnSpPr>
        <p:spPr>
          <a:xfrm rot="5400000" flipH="1" flipV="1">
            <a:off x="7618162" y="21824390"/>
            <a:ext cx="639099" cy="476797"/>
          </a:xfrm>
          <a:prstGeom prst="bentConnector3">
            <a:avLst>
              <a:gd name="adj1" fmla="val 50000"/>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049" name="Rectangle 1048">
            <a:extLst>
              <a:ext uri="{FF2B5EF4-FFF2-40B4-BE49-F238E27FC236}">
                <a16:creationId xmlns:a16="http://schemas.microsoft.com/office/drawing/2014/main" id="{C22D0273-A403-4A67-09C5-144ABA7A8096}"/>
              </a:ext>
            </a:extLst>
          </p:cNvPr>
          <p:cNvSpPr/>
          <p:nvPr/>
        </p:nvSpPr>
        <p:spPr>
          <a:xfrm>
            <a:off x="11979726" y="18174492"/>
            <a:ext cx="474824" cy="901701"/>
          </a:xfrm>
          <a:prstGeom prst="rect">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50" name="Rectangle 1049">
            <a:extLst>
              <a:ext uri="{FF2B5EF4-FFF2-40B4-BE49-F238E27FC236}">
                <a16:creationId xmlns:a16="http://schemas.microsoft.com/office/drawing/2014/main" id="{E3D7F210-8C52-098B-FCF6-A8C5A388F282}"/>
              </a:ext>
            </a:extLst>
          </p:cNvPr>
          <p:cNvSpPr/>
          <p:nvPr/>
        </p:nvSpPr>
        <p:spPr>
          <a:xfrm>
            <a:off x="11742315" y="18838440"/>
            <a:ext cx="474824" cy="901701"/>
          </a:xfrm>
          <a:prstGeom prst="rect">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51" name="Rectangle 1050">
            <a:extLst>
              <a:ext uri="{FF2B5EF4-FFF2-40B4-BE49-F238E27FC236}">
                <a16:creationId xmlns:a16="http://schemas.microsoft.com/office/drawing/2014/main" id="{4C20B52B-4B68-EFC1-E781-E6C48F60E1E7}"/>
              </a:ext>
            </a:extLst>
          </p:cNvPr>
          <p:cNvSpPr/>
          <p:nvPr/>
        </p:nvSpPr>
        <p:spPr>
          <a:xfrm>
            <a:off x="11525638" y="19270911"/>
            <a:ext cx="474824" cy="901701"/>
          </a:xfrm>
          <a:prstGeom prst="rect">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52" name="Rectangle 1051">
            <a:extLst>
              <a:ext uri="{FF2B5EF4-FFF2-40B4-BE49-F238E27FC236}">
                <a16:creationId xmlns:a16="http://schemas.microsoft.com/office/drawing/2014/main" id="{8544F77C-2A3F-A80D-8178-15817A7C856A}"/>
              </a:ext>
            </a:extLst>
          </p:cNvPr>
          <p:cNvSpPr/>
          <p:nvPr/>
        </p:nvSpPr>
        <p:spPr>
          <a:xfrm>
            <a:off x="11266458" y="19767070"/>
            <a:ext cx="474824" cy="901701"/>
          </a:xfrm>
          <a:prstGeom prst="rect">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53" name="Rectangle 1052">
            <a:extLst>
              <a:ext uri="{FF2B5EF4-FFF2-40B4-BE49-F238E27FC236}">
                <a16:creationId xmlns:a16="http://schemas.microsoft.com/office/drawing/2014/main" id="{A60B0BDF-3CF5-1C62-9E55-3A00D8CF538A}"/>
              </a:ext>
            </a:extLst>
          </p:cNvPr>
          <p:cNvSpPr/>
          <p:nvPr/>
        </p:nvSpPr>
        <p:spPr>
          <a:xfrm>
            <a:off x="10821441" y="19985654"/>
            <a:ext cx="474824" cy="901701"/>
          </a:xfrm>
          <a:prstGeom prst="rect">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54" name="Rectangle 1053">
            <a:extLst>
              <a:ext uri="{FF2B5EF4-FFF2-40B4-BE49-F238E27FC236}">
                <a16:creationId xmlns:a16="http://schemas.microsoft.com/office/drawing/2014/main" id="{6D5CEBC0-391D-54B9-9215-8D4C7E61F39F}"/>
              </a:ext>
            </a:extLst>
          </p:cNvPr>
          <p:cNvSpPr/>
          <p:nvPr/>
        </p:nvSpPr>
        <p:spPr>
          <a:xfrm>
            <a:off x="10472464" y="20342546"/>
            <a:ext cx="474824" cy="901701"/>
          </a:xfrm>
          <a:prstGeom prst="rect">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072" name="Picture 1071">
            <a:extLst>
              <a:ext uri="{FF2B5EF4-FFF2-40B4-BE49-F238E27FC236}">
                <a16:creationId xmlns:a16="http://schemas.microsoft.com/office/drawing/2014/main" id="{DE0F11D2-9A5C-4395-BF93-D0F25556FC5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5329852" y="24531156"/>
            <a:ext cx="15723298" cy="18534138"/>
          </a:xfrm>
          <a:prstGeom prst="rect">
            <a:avLst/>
          </a:prstGeom>
        </p:spPr>
      </p:pic>
    </p:spTree>
    <p:extLst>
      <p:ext uri="{BB962C8B-B14F-4D97-AF65-F5344CB8AC3E}">
        <p14:creationId xmlns:p14="http://schemas.microsoft.com/office/powerpoint/2010/main" val="1504825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pic>
        <p:nvPicPr>
          <p:cNvPr id="55" name="Picture 6" descr="Download Bicycle Black Siluete Png Image HQ PNG Image | FreePNGImg">
            <a:extLst>
              <a:ext uri="{FF2B5EF4-FFF2-40B4-BE49-F238E27FC236}">
                <a16:creationId xmlns:a16="http://schemas.microsoft.com/office/drawing/2014/main" id="{198A02A1-9817-2B9F-0EF7-F1C2C9E06DC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trans="62000" detail="0"/>
                    </a14:imgEffect>
                  </a14:imgLayer>
                </a14:imgProps>
              </a:ext>
              <a:ext uri="{28A0092B-C50C-407E-A947-70E740481C1C}">
                <a14:useLocalDpi xmlns:a14="http://schemas.microsoft.com/office/drawing/2010/main" val="0"/>
              </a:ext>
            </a:extLst>
          </a:blip>
          <a:srcRect/>
          <a:stretch>
            <a:fillRect/>
          </a:stretch>
        </p:blipFill>
        <p:spPr bwMode="auto">
          <a:xfrm>
            <a:off x="2668554" y="11499673"/>
            <a:ext cx="10749316" cy="6740305"/>
          </a:xfrm>
          <a:prstGeom prst="rect">
            <a:avLst/>
          </a:prstGeom>
          <a:noFill/>
          <a:effectLst/>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8A1D1318-DE55-96F3-0C9D-214AAD21C4FE}"/>
              </a:ext>
            </a:extLst>
          </p:cNvPr>
          <p:cNvSpPr/>
          <p:nvPr/>
        </p:nvSpPr>
        <p:spPr>
          <a:xfrm>
            <a:off x="1457966" y="1242061"/>
            <a:ext cx="100516" cy="403218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sp>
        <p:nvSpPr>
          <p:cNvPr id="33" name="Rectangle 32">
            <a:extLst>
              <a:ext uri="{FF2B5EF4-FFF2-40B4-BE49-F238E27FC236}">
                <a16:creationId xmlns:a16="http://schemas.microsoft.com/office/drawing/2014/main" id="{E3BEFE62-1D42-67D0-0508-4828507538C8}"/>
              </a:ext>
            </a:extLst>
          </p:cNvPr>
          <p:cNvSpPr/>
          <p:nvPr/>
        </p:nvSpPr>
        <p:spPr>
          <a:xfrm rot="5400000" flipH="1">
            <a:off x="15114748" y="27871899"/>
            <a:ext cx="45717" cy="273592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pic>
        <p:nvPicPr>
          <p:cNvPr id="38" name="Picture 4" descr="Free Black And White Bicycle Images, Download Free Black And White Bicycle  Images png images, Free ClipArts on Clipart Library">
            <a:extLst>
              <a:ext uri="{FF2B5EF4-FFF2-40B4-BE49-F238E27FC236}">
                <a16:creationId xmlns:a16="http://schemas.microsoft.com/office/drawing/2014/main" id="{DEFFB945-94AA-FC1F-F7C0-2CBD361D31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34727" y="2877585"/>
            <a:ext cx="1581714" cy="1187289"/>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8D188EB5-D97B-14B8-59E8-7AE8216573F3}"/>
              </a:ext>
            </a:extLst>
          </p:cNvPr>
          <p:cNvSpPr txBox="1"/>
          <p:nvPr/>
        </p:nvSpPr>
        <p:spPr>
          <a:xfrm>
            <a:off x="10567899" y="291315"/>
            <a:ext cx="9139962" cy="1446230"/>
          </a:xfrm>
          <a:prstGeom prst="rect">
            <a:avLst/>
          </a:prstGeom>
          <a:noFill/>
        </p:spPr>
        <p:txBody>
          <a:bodyPr wrap="square" rtlCol="0">
            <a:spAutoFit/>
          </a:bodyPr>
          <a:lstStyle/>
          <a:p>
            <a:r>
              <a:rPr lang="en-IN" sz="8798" b="1" dirty="0">
                <a:solidFill>
                  <a:schemeClr val="bg1"/>
                </a:solidFill>
                <a:latin typeface="Times New Roman" panose="02020603050405020304" pitchFamily="18" charset="0"/>
                <a:cs typeface="Times New Roman" panose="02020603050405020304" pitchFamily="18" charset="0"/>
              </a:rPr>
              <a:t>Is Cycling </a:t>
            </a:r>
            <a:r>
              <a:rPr lang="en-IN" sz="8798" b="1" u="sng" dirty="0">
                <a:solidFill>
                  <a:schemeClr val="accent6">
                    <a:lumMod val="40000"/>
                    <a:lumOff val="60000"/>
                  </a:schemeClr>
                </a:solidFill>
                <a:latin typeface="Times New Roman" panose="02020603050405020304" pitchFamily="18" charset="0"/>
                <a:cs typeface="Times New Roman" panose="02020603050405020304" pitchFamily="18" charset="0"/>
              </a:rPr>
              <a:t>Safer</a:t>
            </a:r>
            <a:r>
              <a:rPr lang="en-IN" sz="8798" b="1" dirty="0">
                <a:solidFill>
                  <a:schemeClr val="bg1"/>
                </a:solidFill>
                <a:latin typeface="Times New Roman" panose="02020603050405020304" pitchFamily="18" charset="0"/>
                <a:cs typeface="Times New Roman" panose="02020603050405020304" pitchFamily="18" charset="0"/>
              </a:rPr>
              <a:t> ?</a:t>
            </a:r>
          </a:p>
        </p:txBody>
      </p:sp>
      <p:sp>
        <p:nvSpPr>
          <p:cNvPr id="42" name="TextBox 41">
            <a:extLst>
              <a:ext uri="{FF2B5EF4-FFF2-40B4-BE49-F238E27FC236}">
                <a16:creationId xmlns:a16="http://schemas.microsoft.com/office/drawing/2014/main" id="{D46F97AF-A5B3-7609-1620-DE65A8AF0A1E}"/>
              </a:ext>
            </a:extLst>
          </p:cNvPr>
          <p:cNvSpPr txBox="1"/>
          <p:nvPr/>
        </p:nvSpPr>
        <p:spPr>
          <a:xfrm>
            <a:off x="2053373" y="2195784"/>
            <a:ext cx="6709628" cy="923201"/>
          </a:xfrm>
          <a:prstGeom prst="rect">
            <a:avLst/>
          </a:prstGeom>
          <a:noFill/>
        </p:spPr>
        <p:txBody>
          <a:bodyPr wrap="square">
            <a:spAutoFit/>
          </a:bodyPr>
          <a:lstStyle/>
          <a:p>
            <a:r>
              <a:rPr lang="en-IN" sz="5399" b="1" u="sng" dirty="0">
                <a:solidFill>
                  <a:schemeClr val="bg1"/>
                </a:solidFill>
                <a:latin typeface="Times New Roman" panose="02020603050405020304" pitchFamily="18" charset="0"/>
                <a:cs typeface="Times New Roman" panose="02020603050405020304" pitchFamily="18" charset="0"/>
              </a:rPr>
              <a:t>INTRODUCTION:</a:t>
            </a:r>
            <a:endParaRPr lang="en-IN" sz="120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5A33D4B3-CF59-C6D6-EAAC-2928A8E11010}"/>
              </a:ext>
            </a:extLst>
          </p:cNvPr>
          <p:cNvSpPr txBox="1"/>
          <p:nvPr/>
        </p:nvSpPr>
        <p:spPr>
          <a:xfrm>
            <a:off x="1866007" y="3383326"/>
            <a:ext cx="14012121" cy="6739281"/>
          </a:xfrm>
          <a:prstGeom prst="rect">
            <a:avLst/>
          </a:prstGeom>
          <a:noFill/>
        </p:spPr>
        <p:txBody>
          <a:bodyPr wrap="square">
            <a:spAutoFit/>
          </a:bodyPr>
          <a:lstStyle/>
          <a:p>
            <a:r>
              <a:rPr lang="en-IN" sz="5399" dirty="0">
                <a:solidFill>
                  <a:schemeClr val="bg1"/>
                </a:solidFill>
                <a:latin typeface="Times New Roman" panose="02020603050405020304" pitchFamily="18" charset="0"/>
                <a:ea typeface="Sans Serif Collection" panose="020B0502040504020204" pitchFamily="34" charset="0"/>
                <a:cs typeface="Times New Roman" panose="02020603050405020304" pitchFamily="18" charset="0"/>
              </a:rPr>
              <a:t>1. Modern age promotes use of pedal cycle more, for environment and physical health benefits.</a:t>
            </a:r>
            <a:br>
              <a:rPr lang="en-IN" sz="5399" dirty="0">
                <a:solidFill>
                  <a:schemeClr val="bg1"/>
                </a:solidFill>
                <a:latin typeface="Times New Roman" panose="02020603050405020304" pitchFamily="18" charset="0"/>
                <a:ea typeface="Sans Serif Collection" panose="020B0502040504020204" pitchFamily="34" charset="0"/>
                <a:cs typeface="Times New Roman" panose="02020603050405020304" pitchFamily="18" charset="0"/>
              </a:rPr>
            </a:br>
            <a:r>
              <a:rPr lang="en-IN" sz="5399" dirty="0">
                <a:solidFill>
                  <a:schemeClr val="bg1"/>
                </a:solidFill>
                <a:latin typeface="Times New Roman" panose="02020603050405020304" pitchFamily="18" charset="0"/>
                <a:ea typeface="Sans Serif Collection" panose="020B0502040504020204" pitchFamily="34" charset="0"/>
                <a:cs typeface="Times New Roman" panose="02020603050405020304" pitchFamily="18" charset="0"/>
              </a:rPr>
              <a:t>2. This data analysis aims to investigate the involvement of  pedal cycles in collisions across United kingdom. To find how safe it is to ride pedal cycle. The most collision-prone areas, roads, and the distribution as per age and gender involvement.</a:t>
            </a:r>
            <a:endParaRPr lang="en-IN" sz="5399" b="1" dirty="0">
              <a:solidFill>
                <a:schemeClr val="bg1"/>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pic>
        <p:nvPicPr>
          <p:cNvPr id="48" name="Picture 4" descr="Free Black And White Bicycle Images, Download Free Black And White Bicycle  Images png images, Free ClipArts on Clipart Library">
            <a:extLst>
              <a:ext uri="{FF2B5EF4-FFF2-40B4-BE49-F238E27FC236}">
                <a16:creationId xmlns:a16="http://schemas.microsoft.com/office/drawing/2014/main" id="{22F5B6B1-D139-5FC0-192C-40774A979F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41350" y="10634741"/>
            <a:ext cx="1581715" cy="1187290"/>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4699CDB0-07D6-E2A0-31D7-E458712F10D1}"/>
              </a:ext>
            </a:extLst>
          </p:cNvPr>
          <p:cNvSpPr txBox="1"/>
          <p:nvPr/>
        </p:nvSpPr>
        <p:spPr>
          <a:xfrm>
            <a:off x="2053370" y="10337542"/>
            <a:ext cx="8005030" cy="923201"/>
          </a:xfrm>
          <a:prstGeom prst="rect">
            <a:avLst/>
          </a:prstGeom>
          <a:noFill/>
        </p:spPr>
        <p:txBody>
          <a:bodyPr wrap="square">
            <a:spAutoFit/>
          </a:bodyPr>
          <a:lstStyle/>
          <a:p>
            <a:r>
              <a:rPr lang="en-IN" sz="5399" b="1" u="sng" dirty="0">
                <a:solidFill>
                  <a:schemeClr val="bg1"/>
                </a:solidFill>
                <a:latin typeface="Times New Roman" panose="02020603050405020304" pitchFamily="18" charset="0"/>
                <a:cs typeface="Times New Roman" panose="02020603050405020304" pitchFamily="18" charset="0"/>
              </a:rPr>
              <a:t>OBSERVATION:</a:t>
            </a:r>
            <a:endParaRPr lang="en-IN" sz="5399" dirty="0">
              <a:latin typeface="Times New Roman" panose="02020603050405020304" pitchFamily="18" charset="0"/>
              <a:cs typeface="Times New Roman" panose="02020603050405020304" pitchFamily="18" charset="0"/>
            </a:endParaRPr>
          </a:p>
        </p:txBody>
      </p:sp>
      <p:sp>
        <p:nvSpPr>
          <p:cNvPr id="56" name="Rectangle 55">
            <a:extLst>
              <a:ext uri="{FF2B5EF4-FFF2-40B4-BE49-F238E27FC236}">
                <a16:creationId xmlns:a16="http://schemas.microsoft.com/office/drawing/2014/main" id="{62FB17B2-4484-B4B0-9852-9198A477037B}"/>
              </a:ext>
            </a:extLst>
          </p:cNvPr>
          <p:cNvSpPr/>
          <p:nvPr/>
        </p:nvSpPr>
        <p:spPr>
          <a:xfrm>
            <a:off x="15540225" y="2844694"/>
            <a:ext cx="149981" cy="38445185"/>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29" name="TextBox 1028">
            <a:extLst>
              <a:ext uri="{FF2B5EF4-FFF2-40B4-BE49-F238E27FC236}">
                <a16:creationId xmlns:a16="http://schemas.microsoft.com/office/drawing/2014/main" id="{2F4E8814-4B54-1A9C-76E1-01CE00D720CB}"/>
              </a:ext>
            </a:extLst>
          </p:cNvPr>
          <p:cNvSpPr txBox="1"/>
          <p:nvPr/>
        </p:nvSpPr>
        <p:spPr>
          <a:xfrm>
            <a:off x="16115264" y="2088068"/>
            <a:ext cx="6074979" cy="1200329"/>
          </a:xfrm>
          <a:prstGeom prst="rect">
            <a:avLst/>
          </a:prstGeom>
          <a:noFill/>
        </p:spPr>
        <p:txBody>
          <a:bodyPr wrap="square">
            <a:spAutoFit/>
          </a:bodyPr>
          <a:lstStyle/>
          <a:p>
            <a:r>
              <a:rPr lang="en-IN" sz="5399" b="1" u="sng" dirty="0">
                <a:solidFill>
                  <a:schemeClr val="bg1"/>
                </a:solidFill>
                <a:latin typeface="Times New Roman" panose="02020603050405020304" pitchFamily="18" charset="0"/>
                <a:cs typeface="Times New Roman" panose="02020603050405020304" pitchFamily="18" charset="0"/>
              </a:rPr>
              <a:t>CONCLUSION</a:t>
            </a:r>
            <a:r>
              <a:rPr lang="en-IN" sz="7200" b="1" u="sng" dirty="0">
                <a:solidFill>
                  <a:schemeClr val="bg1"/>
                </a:solidFill>
                <a:latin typeface="Times New Roman" panose="02020603050405020304" pitchFamily="18" charset="0"/>
                <a:cs typeface="Times New Roman" panose="02020603050405020304" pitchFamily="18" charset="0"/>
              </a:rPr>
              <a:t>:</a:t>
            </a:r>
            <a:endParaRPr lang="en-IN" sz="468" dirty="0">
              <a:latin typeface="Times New Roman" panose="02020603050405020304" pitchFamily="18" charset="0"/>
              <a:cs typeface="Times New Roman" panose="02020603050405020304" pitchFamily="18" charset="0"/>
            </a:endParaRPr>
          </a:p>
        </p:txBody>
      </p:sp>
      <p:sp>
        <p:nvSpPr>
          <p:cNvPr id="1037" name="TextBox 1036">
            <a:extLst>
              <a:ext uri="{FF2B5EF4-FFF2-40B4-BE49-F238E27FC236}">
                <a16:creationId xmlns:a16="http://schemas.microsoft.com/office/drawing/2014/main" id="{A61258AF-E14A-91FF-0C32-6EC023E9364C}"/>
              </a:ext>
            </a:extLst>
          </p:cNvPr>
          <p:cNvSpPr txBox="1"/>
          <p:nvPr/>
        </p:nvSpPr>
        <p:spPr>
          <a:xfrm>
            <a:off x="17339370" y="3519518"/>
            <a:ext cx="10812392" cy="923201"/>
          </a:xfrm>
          <a:prstGeom prst="rect">
            <a:avLst/>
          </a:prstGeom>
          <a:noFill/>
        </p:spPr>
        <p:txBody>
          <a:bodyPr wrap="square">
            <a:spAutoFit/>
          </a:bodyPr>
          <a:lstStyle/>
          <a:p>
            <a:pPr algn="just"/>
            <a:r>
              <a:rPr lang="en-IN" sz="5399" dirty="0">
                <a:solidFill>
                  <a:schemeClr val="bg1"/>
                </a:solidFill>
                <a:latin typeface="Times New Roman" panose="02020603050405020304" pitchFamily="18" charset="0"/>
                <a:cs typeface="Times New Roman" panose="02020603050405020304" pitchFamily="18" charset="0"/>
              </a:rPr>
              <a:t>Cycles are safer in general.</a:t>
            </a:r>
          </a:p>
        </p:txBody>
      </p:sp>
      <p:pic>
        <p:nvPicPr>
          <p:cNvPr id="1046" name="Picture 20" descr="Green go traffic road sign on transparent background PNG - Similar PNG">
            <a:extLst>
              <a:ext uri="{FF2B5EF4-FFF2-40B4-BE49-F238E27FC236}">
                <a16:creationId xmlns:a16="http://schemas.microsoft.com/office/drawing/2014/main" id="{DA2C269B-C5DE-2BE6-F062-C1AAAF93707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688" t="10495" r="10861" b="13634"/>
          <a:stretch/>
        </p:blipFill>
        <p:spPr bwMode="auto">
          <a:xfrm>
            <a:off x="16343606" y="3734332"/>
            <a:ext cx="677731" cy="655438"/>
          </a:xfrm>
          <a:prstGeom prst="ellipse">
            <a:avLst/>
          </a:prstGeom>
          <a:noFill/>
          <a:extLst>
            <a:ext uri="{909E8E84-426E-40DD-AFC4-6F175D3DCCD1}">
              <a14:hiddenFill xmlns:a14="http://schemas.microsoft.com/office/drawing/2010/main">
                <a:solidFill>
                  <a:srgbClr val="FFFFFF"/>
                </a:solidFill>
              </a14:hiddenFill>
            </a:ext>
          </a:extLst>
        </p:spPr>
      </p:pic>
      <p:sp>
        <p:nvSpPr>
          <p:cNvPr id="1047" name="TextBox 1046">
            <a:extLst>
              <a:ext uri="{FF2B5EF4-FFF2-40B4-BE49-F238E27FC236}">
                <a16:creationId xmlns:a16="http://schemas.microsoft.com/office/drawing/2014/main" id="{C18A6638-0AE0-B644-4B8B-2893747A93EE}"/>
              </a:ext>
            </a:extLst>
          </p:cNvPr>
          <p:cNvSpPr txBox="1"/>
          <p:nvPr/>
        </p:nvSpPr>
        <p:spPr>
          <a:xfrm>
            <a:off x="17309484" y="6753479"/>
            <a:ext cx="10812392" cy="14217097"/>
          </a:xfrm>
          <a:prstGeom prst="rect">
            <a:avLst/>
          </a:prstGeom>
          <a:noFill/>
        </p:spPr>
        <p:txBody>
          <a:bodyPr wrap="square">
            <a:spAutoFit/>
          </a:bodyPr>
          <a:lstStyle/>
          <a:p>
            <a:pPr algn="just"/>
            <a:r>
              <a:rPr lang="en-IN" sz="5399" b="1" dirty="0">
                <a:solidFill>
                  <a:schemeClr val="bg1"/>
                </a:solidFill>
                <a:latin typeface="Times New Roman" panose="02020603050405020304" pitchFamily="18" charset="0"/>
                <a:cs typeface="Times New Roman" panose="02020603050405020304" pitchFamily="18" charset="0"/>
              </a:rPr>
              <a:t>9% </a:t>
            </a:r>
            <a:r>
              <a:rPr lang="en-IN" sz="5399" dirty="0">
                <a:solidFill>
                  <a:schemeClr val="bg1"/>
                </a:solidFill>
                <a:latin typeface="Times New Roman" panose="02020603050405020304" pitchFamily="18" charset="0"/>
                <a:cs typeface="Times New Roman" panose="02020603050405020304" pitchFamily="18" charset="0"/>
              </a:rPr>
              <a:t>of total collisions are Pedal Cycles.</a:t>
            </a:r>
          </a:p>
          <a:p>
            <a:pPr algn="just"/>
            <a:r>
              <a:rPr lang="en-IN" sz="5399" b="1" dirty="0">
                <a:solidFill>
                  <a:schemeClr val="bg1"/>
                </a:solidFill>
                <a:latin typeface="Times New Roman" panose="02020603050405020304" pitchFamily="18" charset="0"/>
                <a:cs typeface="Times New Roman" panose="02020603050405020304" pitchFamily="18" charset="0"/>
              </a:rPr>
              <a:t>76% </a:t>
            </a:r>
            <a:r>
              <a:rPr lang="en-IN" sz="5399" dirty="0">
                <a:solidFill>
                  <a:schemeClr val="bg1"/>
                </a:solidFill>
                <a:latin typeface="Times New Roman" panose="02020603050405020304" pitchFamily="18" charset="0"/>
                <a:cs typeface="Times New Roman" panose="02020603050405020304" pitchFamily="18" charset="0"/>
              </a:rPr>
              <a:t>of total</a:t>
            </a:r>
            <a:r>
              <a:rPr lang="en-IN" sz="5399" b="1" dirty="0">
                <a:solidFill>
                  <a:schemeClr val="bg1"/>
                </a:solidFill>
                <a:latin typeface="Times New Roman" panose="02020603050405020304" pitchFamily="18" charset="0"/>
                <a:cs typeface="Times New Roman" panose="02020603050405020304" pitchFamily="18" charset="0"/>
              </a:rPr>
              <a:t> </a:t>
            </a:r>
            <a:r>
              <a:rPr lang="en-IN" sz="5399" dirty="0">
                <a:solidFill>
                  <a:schemeClr val="bg1"/>
                </a:solidFill>
                <a:latin typeface="Times New Roman" panose="02020603050405020304" pitchFamily="18" charset="0"/>
                <a:cs typeface="Times New Roman" panose="02020603050405020304" pitchFamily="18" charset="0"/>
              </a:rPr>
              <a:t>are Severity 3 accidents and</a:t>
            </a:r>
            <a:r>
              <a:rPr lang="en-US" sz="5399" dirty="0">
                <a:solidFill>
                  <a:schemeClr val="bg1"/>
                </a:solidFill>
                <a:latin typeface="Times New Roman" panose="02020603050405020304" pitchFamily="18" charset="0"/>
                <a:cs typeface="Times New Roman" panose="02020603050405020304" pitchFamily="18" charset="0"/>
              </a:rPr>
              <a:t> </a:t>
            </a:r>
            <a:r>
              <a:rPr lang="en-US" sz="5399" b="1" dirty="0">
                <a:solidFill>
                  <a:schemeClr val="bg1"/>
                </a:solidFill>
                <a:latin typeface="Times New Roman" panose="02020603050405020304" pitchFamily="18" charset="0"/>
                <a:cs typeface="Times New Roman" panose="02020603050405020304" pitchFamily="18" charset="0"/>
              </a:rPr>
              <a:t>85% </a:t>
            </a:r>
            <a:r>
              <a:rPr lang="en-US" sz="5399" dirty="0">
                <a:solidFill>
                  <a:schemeClr val="bg1"/>
                </a:solidFill>
                <a:latin typeface="Times New Roman" panose="02020603050405020304" pitchFamily="18" charset="0"/>
                <a:cs typeface="Times New Roman" panose="02020603050405020304" pitchFamily="18" charset="0"/>
              </a:rPr>
              <a:t>of Severity 3 in Urban areas.</a:t>
            </a:r>
          </a:p>
          <a:p>
            <a:pPr algn="just"/>
            <a:r>
              <a:rPr lang="en-US" sz="5399" dirty="0">
                <a:solidFill>
                  <a:schemeClr val="bg1"/>
                </a:solidFill>
                <a:latin typeface="Times New Roman" panose="02020603050405020304" pitchFamily="18" charset="0"/>
                <a:cs typeface="Times New Roman" panose="02020603050405020304" pitchFamily="18" charset="0"/>
              </a:rPr>
              <a:t>In Urban areas, </a:t>
            </a:r>
            <a:r>
              <a:rPr lang="en-US" sz="5399" b="1" dirty="0">
                <a:solidFill>
                  <a:schemeClr val="bg1"/>
                </a:solidFill>
                <a:latin typeface="Times New Roman" panose="02020603050405020304" pitchFamily="18" charset="0"/>
                <a:cs typeface="Times New Roman" panose="02020603050405020304" pitchFamily="18" charset="0"/>
              </a:rPr>
              <a:t>74.5% </a:t>
            </a:r>
            <a:r>
              <a:rPr lang="en-US" sz="5399" dirty="0">
                <a:solidFill>
                  <a:schemeClr val="bg1"/>
                </a:solidFill>
                <a:latin typeface="Times New Roman" panose="02020603050405020304" pitchFamily="18" charset="0"/>
                <a:cs typeface="Times New Roman" panose="02020603050405020304" pitchFamily="18" charset="0"/>
              </a:rPr>
              <a:t>at the Single Carriageway roads with </a:t>
            </a:r>
            <a:r>
              <a:rPr lang="en-US" sz="5399" b="1" dirty="0">
                <a:solidFill>
                  <a:schemeClr val="bg1"/>
                </a:solidFill>
                <a:latin typeface="Times New Roman" panose="02020603050405020304" pitchFamily="18" charset="0"/>
                <a:cs typeface="Times New Roman" panose="02020603050405020304" pitchFamily="18" charset="0"/>
              </a:rPr>
              <a:t>50%</a:t>
            </a:r>
            <a:r>
              <a:rPr lang="en-US" sz="5399" dirty="0">
                <a:solidFill>
                  <a:schemeClr val="bg1"/>
                </a:solidFill>
                <a:latin typeface="Times New Roman" panose="02020603050405020304" pitchFamily="18" charset="0"/>
                <a:cs typeface="Times New Roman" panose="02020603050405020304" pitchFamily="18" charset="0"/>
              </a:rPr>
              <a:t>  of frontal impact on the cycle and </a:t>
            </a:r>
            <a:r>
              <a:rPr lang="en-US" sz="5399" b="1" dirty="0">
                <a:solidFill>
                  <a:schemeClr val="bg1"/>
                </a:solidFill>
                <a:latin typeface="Times New Roman" panose="02020603050405020304" pitchFamily="18" charset="0"/>
                <a:cs typeface="Times New Roman" panose="02020603050405020304" pitchFamily="18" charset="0"/>
              </a:rPr>
              <a:t>20%</a:t>
            </a:r>
            <a:r>
              <a:rPr lang="en-US" sz="5399" dirty="0">
                <a:solidFill>
                  <a:schemeClr val="bg1"/>
                </a:solidFill>
                <a:latin typeface="Times New Roman" panose="02020603050405020304" pitchFamily="18" charset="0"/>
                <a:cs typeface="Times New Roman" panose="02020603050405020304" pitchFamily="18" charset="0"/>
              </a:rPr>
              <a:t> during commute to office. </a:t>
            </a:r>
          </a:p>
          <a:p>
            <a:pPr algn="just"/>
            <a:r>
              <a:rPr lang="en-US" sz="5399" dirty="0">
                <a:solidFill>
                  <a:schemeClr val="bg1"/>
                </a:solidFill>
                <a:latin typeface="Times New Roman" panose="02020603050405020304" pitchFamily="18" charset="0"/>
                <a:cs typeface="Times New Roman" panose="02020603050405020304" pitchFamily="18" charset="0"/>
              </a:rPr>
              <a:t>Males </a:t>
            </a:r>
            <a:r>
              <a:rPr lang="en-US" sz="5399" b="1" dirty="0">
                <a:solidFill>
                  <a:schemeClr val="bg1"/>
                </a:solidFill>
                <a:latin typeface="Times New Roman" panose="02020603050405020304" pitchFamily="18" charset="0"/>
                <a:cs typeface="Times New Roman" panose="02020603050405020304" pitchFamily="18" charset="0"/>
              </a:rPr>
              <a:t>3x</a:t>
            </a:r>
            <a:r>
              <a:rPr lang="en-US" sz="5399" dirty="0">
                <a:solidFill>
                  <a:schemeClr val="bg1"/>
                </a:solidFill>
                <a:latin typeface="Times New Roman" panose="02020603050405020304" pitchFamily="18" charset="0"/>
                <a:cs typeface="Times New Roman" panose="02020603050405020304" pitchFamily="18" charset="0"/>
              </a:rPr>
              <a:t> more involved than Females in collisions on average. Males of </a:t>
            </a:r>
            <a:r>
              <a:rPr lang="en-US" sz="5399" b="1" dirty="0">
                <a:solidFill>
                  <a:schemeClr val="bg1"/>
                </a:solidFill>
                <a:latin typeface="Times New Roman" panose="02020603050405020304" pitchFamily="18" charset="0"/>
                <a:cs typeface="Times New Roman" panose="02020603050405020304" pitchFamily="18" charset="0"/>
              </a:rPr>
              <a:t>11-25</a:t>
            </a:r>
            <a:r>
              <a:rPr lang="en-US" sz="5399" dirty="0">
                <a:solidFill>
                  <a:schemeClr val="bg1"/>
                </a:solidFill>
                <a:latin typeface="Times New Roman" panose="02020603050405020304" pitchFamily="18" charset="0"/>
                <a:cs typeface="Times New Roman" panose="02020603050405020304" pitchFamily="18" charset="0"/>
              </a:rPr>
              <a:t> age group and Females of </a:t>
            </a:r>
            <a:r>
              <a:rPr lang="en-US" sz="5399" b="1" dirty="0">
                <a:solidFill>
                  <a:schemeClr val="bg1"/>
                </a:solidFill>
                <a:latin typeface="Times New Roman" panose="02020603050405020304" pitchFamily="18" charset="0"/>
                <a:cs typeface="Times New Roman" panose="02020603050405020304" pitchFamily="18" charset="0"/>
              </a:rPr>
              <a:t>21-25</a:t>
            </a:r>
            <a:r>
              <a:rPr lang="en-US" sz="5399" dirty="0">
                <a:solidFill>
                  <a:schemeClr val="bg1"/>
                </a:solidFill>
                <a:latin typeface="Times New Roman" panose="02020603050405020304" pitchFamily="18" charset="0"/>
                <a:cs typeface="Times New Roman" panose="02020603050405020304" pitchFamily="18" charset="0"/>
              </a:rPr>
              <a:t> age group are more involved in collisions.</a:t>
            </a:r>
          </a:p>
          <a:p>
            <a:pPr algn="just"/>
            <a:r>
              <a:rPr lang="en-US" sz="5399" dirty="0">
                <a:solidFill>
                  <a:schemeClr val="bg1"/>
                </a:solidFill>
                <a:latin typeface="Times New Roman" panose="02020603050405020304" pitchFamily="18" charset="0"/>
                <a:cs typeface="Times New Roman" panose="02020603050405020304" pitchFamily="18" charset="0"/>
              </a:rPr>
              <a:t>Majority Collisions happen in </a:t>
            </a:r>
            <a:r>
              <a:rPr lang="en-US" sz="5399" b="1" dirty="0">
                <a:solidFill>
                  <a:schemeClr val="bg1"/>
                </a:solidFill>
                <a:latin typeface="Times New Roman" panose="02020603050405020304" pitchFamily="18" charset="0"/>
                <a:cs typeface="Times New Roman" panose="02020603050405020304" pitchFamily="18" charset="0"/>
              </a:rPr>
              <a:t>city</a:t>
            </a:r>
            <a:r>
              <a:rPr lang="en-US" sz="5399" dirty="0">
                <a:solidFill>
                  <a:schemeClr val="bg1"/>
                </a:solidFill>
                <a:latin typeface="Times New Roman" panose="02020603050405020304" pitchFamily="18" charset="0"/>
                <a:cs typeface="Times New Roman" panose="02020603050405020304" pitchFamily="18" charset="0"/>
              </a:rPr>
              <a:t> regions.</a:t>
            </a:r>
          </a:p>
          <a:p>
            <a:pPr algn="just"/>
            <a:r>
              <a:rPr lang="en-US" sz="5399" dirty="0">
                <a:solidFill>
                  <a:schemeClr val="bg1"/>
                </a:solidFill>
                <a:latin typeface="Times New Roman" panose="02020603050405020304" pitchFamily="18" charset="0"/>
                <a:cs typeface="Times New Roman" panose="02020603050405020304" pitchFamily="18" charset="0"/>
              </a:rPr>
              <a:t>Majority of the collisions happen in </a:t>
            </a:r>
          </a:p>
          <a:p>
            <a:pPr algn="just"/>
            <a:r>
              <a:rPr lang="en-US" sz="5399" b="1" dirty="0">
                <a:solidFill>
                  <a:schemeClr val="bg1"/>
                </a:solidFill>
                <a:latin typeface="Times New Roman" panose="02020603050405020304" pitchFamily="18" charset="0"/>
                <a:cs typeface="Times New Roman" panose="02020603050405020304" pitchFamily="18" charset="0"/>
              </a:rPr>
              <a:t>England</a:t>
            </a:r>
            <a:r>
              <a:rPr lang="en-US" sz="5399" dirty="0">
                <a:solidFill>
                  <a:schemeClr val="bg1"/>
                </a:solidFill>
                <a:latin typeface="Times New Roman" panose="02020603050405020304" pitchFamily="18" charset="0"/>
                <a:cs typeface="Times New Roman" panose="02020603050405020304" pitchFamily="18" charset="0"/>
              </a:rPr>
              <a:t>.</a:t>
            </a:r>
          </a:p>
        </p:txBody>
      </p:sp>
      <p:pic>
        <p:nvPicPr>
          <p:cNvPr id="1055" name="Picture 16" descr="Traffic Cones PNG Transparent Images Free Download | Vector Files | Pngtree">
            <a:extLst>
              <a:ext uri="{FF2B5EF4-FFF2-40B4-BE49-F238E27FC236}">
                <a16:creationId xmlns:a16="http://schemas.microsoft.com/office/drawing/2014/main" id="{419214B1-116B-B6B0-5F30-523CD7B2F2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00209" y="6733660"/>
            <a:ext cx="1086703" cy="1086703"/>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20" descr="Green go traffic road sign on transparent background PNG - Similar PNG">
            <a:extLst>
              <a:ext uri="{FF2B5EF4-FFF2-40B4-BE49-F238E27FC236}">
                <a16:creationId xmlns:a16="http://schemas.microsoft.com/office/drawing/2014/main" id="{D2E858EA-18D8-06EB-F7E8-D102ED4ABFE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688" t="10495" r="10861" b="13634"/>
          <a:stretch/>
        </p:blipFill>
        <p:spPr bwMode="auto">
          <a:xfrm>
            <a:off x="16343606" y="4644288"/>
            <a:ext cx="677731" cy="655438"/>
          </a:xfrm>
          <a:prstGeom prst="ellipse">
            <a:avLst/>
          </a:prstGeom>
          <a:noFill/>
          <a:extLst>
            <a:ext uri="{909E8E84-426E-40DD-AFC4-6F175D3DCCD1}">
              <a14:hiddenFill xmlns:a14="http://schemas.microsoft.com/office/drawing/2010/main">
                <a:solidFill>
                  <a:srgbClr val="FFFFFF"/>
                </a:solidFill>
              </a14:hiddenFill>
            </a:ext>
          </a:extLst>
        </p:spPr>
      </p:pic>
      <p:pic>
        <p:nvPicPr>
          <p:cNvPr id="1059" name="Picture 20" descr="Green go traffic road sign on transparent background PNG - Similar PNG">
            <a:extLst>
              <a:ext uri="{FF2B5EF4-FFF2-40B4-BE49-F238E27FC236}">
                <a16:creationId xmlns:a16="http://schemas.microsoft.com/office/drawing/2014/main" id="{E994DF41-5B10-93C6-C976-707377A46C6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688" t="10495" r="10861" b="13634"/>
          <a:stretch/>
        </p:blipFill>
        <p:spPr bwMode="auto">
          <a:xfrm>
            <a:off x="16343606" y="5510800"/>
            <a:ext cx="677731" cy="655438"/>
          </a:xfrm>
          <a:prstGeom prst="ellipse">
            <a:avLst/>
          </a:prstGeom>
          <a:noFill/>
          <a:extLst>
            <a:ext uri="{909E8E84-426E-40DD-AFC4-6F175D3DCCD1}">
              <a14:hiddenFill xmlns:a14="http://schemas.microsoft.com/office/drawing/2010/main">
                <a:solidFill>
                  <a:srgbClr val="FFFFFF"/>
                </a:solidFill>
              </a14:hiddenFill>
            </a:ext>
          </a:extLst>
        </p:spPr>
      </p:pic>
      <p:pic>
        <p:nvPicPr>
          <p:cNvPr id="1060" name="Picture 16" descr="Traffic Cones PNG Transparent Images Free Download | Vector Files | Pngtree">
            <a:extLst>
              <a:ext uri="{FF2B5EF4-FFF2-40B4-BE49-F238E27FC236}">
                <a16:creationId xmlns:a16="http://schemas.microsoft.com/office/drawing/2014/main" id="{985D3F6E-BA40-47AF-18D0-9605FDB8DB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85654" y="8419730"/>
            <a:ext cx="1086703" cy="108670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16" descr="Traffic Cones PNG Transparent Images Free Download | Vector Files | Pngtree">
            <a:extLst>
              <a:ext uri="{FF2B5EF4-FFF2-40B4-BE49-F238E27FC236}">
                <a16:creationId xmlns:a16="http://schemas.microsoft.com/office/drawing/2014/main" id="{9426047D-E352-C4F9-72D7-858F7E4A72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22663" y="10038951"/>
            <a:ext cx="1086703" cy="1086703"/>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 descr="Free Black And White Bicycle Images, Download Free Black And White Bicycle  Images png images, Free ClipArts on Clipart Library">
            <a:extLst>
              <a:ext uri="{FF2B5EF4-FFF2-40B4-BE49-F238E27FC236}">
                <a16:creationId xmlns:a16="http://schemas.microsoft.com/office/drawing/2014/main" id="{E06FCCE2-C148-6F0D-79F7-79EABC023B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7753" y="39793186"/>
            <a:ext cx="1581715" cy="1187290"/>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 descr="Free Black And White Bicycle Images, Download Free Black And White Bicycle  Images png images, Free ClipArts on Clipart Library">
            <a:extLst>
              <a:ext uri="{FF2B5EF4-FFF2-40B4-BE49-F238E27FC236}">
                <a16:creationId xmlns:a16="http://schemas.microsoft.com/office/drawing/2014/main" id="{D6AB33AA-B13A-88BE-B58B-C62B0E7D61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398308" y="41598787"/>
            <a:ext cx="1581714" cy="1187289"/>
          </a:xfrm>
          <a:prstGeom prst="rect">
            <a:avLst/>
          </a:prstGeom>
          <a:noFill/>
          <a:extLst>
            <a:ext uri="{909E8E84-426E-40DD-AFC4-6F175D3DCCD1}">
              <a14:hiddenFill xmlns:a14="http://schemas.microsoft.com/office/drawing/2010/main">
                <a:solidFill>
                  <a:srgbClr val="FFFFFF"/>
                </a:solidFill>
              </a14:hiddenFill>
            </a:ext>
          </a:extLst>
        </p:spPr>
      </p:pic>
      <p:pic>
        <p:nvPicPr>
          <p:cNvPr id="1067" name="Picture 4" descr="Free Black And White Bicycle Images, Download Free Black And White Bicycle  Images png images, Free ClipArts on Clipart Library">
            <a:extLst>
              <a:ext uri="{FF2B5EF4-FFF2-40B4-BE49-F238E27FC236}">
                <a16:creationId xmlns:a16="http://schemas.microsoft.com/office/drawing/2014/main" id="{88FD3EF3-D6A0-8F9E-2B53-0A7CD7BF05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986187" y="41628520"/>
            <a:ext cx="1581714" cy="1187289"/>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 descr="Free Black And White Bicycle Images, Download Free Black And White Bicycle  Images png images, Free ClipArts on Clipart Library">
            <a:extLst>
              <a:ext uri="{FF2B5EF4-FFF2-40B4-BE49-F238E27FC236}">
                <a16:creationId xmlns:a16="http://schemas.microsoft.com/office/drawing/2014/main" id="{2F22DA66-4B69-3E84-1269-0C70C9A8A7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6959299" y="41610879"/>
            <a:ext cx="1581714" cy="1187289"/>
          </a:xfrm>
          <a:prstGeom prst="rect">
            <a:avLst/>
          </a:prstGeom>
          <a:noFill/>
          <a:extLst>
            <a:ext uri="{909E8E84-426E-40DD-AFC4-6F175D3DCCD1}">
              <a14:hiddenFill xmlns:a14="http://schemas.microsoft.com/office/drawing/2010/main">
                <a:solidFill>
                  <a:srgbClr val="FFFFFF"/>
                </a:solidFill>
              </a14:hiddenFill>
            </a:ext>
          </a:extLst>
        </p:spPr>
      </p:pic>
      <p:pic>
        <p:nvPicPr>
          <p:cNvPr id="1069" name="Picture 4" descr="Free Black And White Bicycle Images, Download Free Black And White Bicycle  Images png images, Free ClipArts on Clipart Library">
            <a:extLst>
              <a:ext uri="{FF2B5EF4-FFF2-40B4-BE49-F238E27FC236}">
                <a16:creationId xmlns:a16="http://schemas.microsoft.com/office/drawing/2014/main" id="{59AEAB6B-57A6-F623-9573-30C59C163D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4496097" y="41628520"/>
            <a:ext cx="1581714" cy="1187289"/>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4" descr="Free Black And White Bicycle Images, Download Free Black And White Bicycle  Images png images, Free ClipArts on Clipart Library">
            <a:extLst>
              <a:ext uri="{FF2B5EF4-FFF2-40B4-BE49-F238E27FC236}">
                <a16:creationId xmlns:a16="http://schemas.microsoft.com/office/drawing/2014/main" id="{C5934D6E-95EF-4ECA-4173-7EBA17719C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flipV="1">
            <a:off x="28798607" y="2877585"/>
            <a:ext cx="1581714" cy="1187289"/>
          </a:xfrm>
          <a:prstGeom prst="rect">
            <a:avLst/>
          </a:prstGeom>
          <a:noFill/>
          <a:extLst>
            <a:ext uri="{909E8E84-426E-40DD-AFC4-6F175D3DCCD1}">
              <a14:hiddenFill xmlns:a14="http://schemas.microsoft.com/office/drawing/2010/main">
                <a:solidFill>
                  <a:srgbClr val="FFFFFF"/>
                </a:solidFill>
              </a14:hiddenFill>
            </a:ext>
          </a:extLst>
        </p:spPr>
      </p:pic>
      <p:pic>
        <p:nvPicPr>
          <p:cNvPr id="1071" name="Picture 4" descr="Free Black And White Bicycle Images, Download Free Black And White Bicycle  Images png images, Free ClipArts on Clipart Library">
            <a:extLst>
              <a:ext uri="{FF2B5EF4-FFF2-40B4-BE49-F238E27FC236}">
                <a16:creationId xmlns:a16="http://schemas.microsoft.com/office/drawing/2014/main" id="{464CBFA6-B85D-730C-D919-C4B86A1B57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143195" flipV="1">
            <a:off x="28743010" y="10642303"/>
            <a:ext cx="1581714" cy="1187289"/>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4" descr="Free Black And White Bicycle Images, Download Free Black And White Bicycle  Images png images, Free ClipArts on Clipart Library">
            <a:extLst>
              <a:ext uri="{FF2B5EF4-FFF2-40B4-BE49-F238E27FC236}">
                <a16:creationId xmlns:a16="http://schemas.microsoft.com/office/drawing/2014/main" id="{81779938-B1AB-D704-9D34-D3E257D37A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flipV="1">
            <a:off x="28753106" y="39674457"/>
            <a:ext cx="1581714" cy="1187289"/>
          </a:xfrm>
          <a:prstGeom prst="rect">
            <a:avLst/>
          </a:prstGeom>
          <a:noFill/>
          <a:extLst>
            <a:ext uri="{909E8E84-426E-40DD-AFC4-6F175D3DCCD1}">
              <a14:hiddenFill xmlns:a14="http://schemas.microsoft.com/office/drawing/2010/main">
                <a:solidFill>
                  <a:srgbClr val="FFFFFF"/>
                </a:solidFill>
              </a14:hiddenFill>
            </a:ext>
          </a:extLst>
        </p:spPr>
      </p:pic>
      <p:sp>
        <p:nvSpPr>
          <p:cNvPr id="1077" name="Arrow: Down 1076">
            <a:extLst>
              <a:ext uri="{FF2B5EF4-FFF2-40B4-BE49-F238E27FC236}">
                <a16:creationId xmlns:a16="http://schemas.microsoft.com/office/drawing/2014/main" id="{AF86C676-AF5D-5EDF-C89C-7F93B6B86ACA}"/>
              </a:ext>
            </a:extLst>
          </p:cNvPr>
          <p:cNvSpPr/>
          <p:nvPr/>
        </p:nvSpPr>
        <p:spPr>
          <a:xfrm>
            <a:off x="353241" y="5596361"/>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78" name="Arrow: Down 1077">
            <a:extLst>
              <a:ext uri="{FF2B5EF4-FFF2-40B4-BE49-F238E27FC236}">
                <a16:creationId xmlns:a16="http://schemas.microsoft.com/office/drawing/2014/main" id="{1FB25238-2236-A864-0928-0093C362E397}"/>
              </a:ext>
            </a:extLst>
          </p:cNvPr>
          <p:cNvSpPr/>
          <p:nvPr/>
        </p:nvSpPr>
        <p:spPr>
          <a:xfrm>
            <a:off x="293808" y="13568507"/>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81" name="Arrow: Down 1080">
            <a:extLst>
              <a:ext uri="{FF2B5EF4-FFF2-40B4-BE49-F238E27FC236}">
                <a16:creationId xmlns:a16="http://schemas.microsoft.com/office/drawing/2014/main" id="{1151D078-6A4A-5DE8-BBDF-CDB956E4CA4D}"/>
              </a:ext>
            </a:extLst>
          </p:cNvPr>
          <p:cNvSpPr/>
          <p:nvPr/>
        </p:nvSpPr>
        <p:spPr>
          <a:xfrm>
            <a:off x="381587" y="32848264"/>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82" name="Arrow: Down 1081">
            <a:extLst>
              <a:ext uri="{FF2B5EF4-FFF2-40B4-BE49-F238E27FC236}">
                <a16:creationId xmlns:a16="http://schemas.microsoft.com/office/drawing/2014/main" id="{C254D4BC-6E92-2CBE-4E28-1F0124CA272F}"/>
              </a:ext>
            </a:extLst>
          </p:cNvPr>
          <p:cNvSpPr/>
          <p:nvPr/>
        </p:nvSpPr>
        <p:spPr>
          <a:xfrm rot="16200000">
            <a:off x="6091785" y="40645509"/>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83" name="Arrow: Down 1082">
            <a:extLst>
              <a:ext uri="{FF2B5EF4-FFF2-40B4-BE49-F238E27FC236}">
                <a16:creationId xmlns:a16="http://schemas.microsoft.com/office/drawing/2014/main" id="{FA031729-3D7C-93F3-71BE-6A5217244434}"/>
              </a:ext>
            </a:extLst>
          </p:cNvPr>
          <p:cNvSpPr/>
          <p:nvPr/>
        </p:nvSpPr>
        <p:spPr>
          <a:xfrm rot="16200000">
            <a:off x="13219386" y="40677616"/>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84" name="Arrow: Down 1083">
            <a:extLst>
              <a:ext uri="{FF2B5EF4-FFF2-40B4-BE49-F238E27FC236}">
                <a16:creationId xmlns:a16="http://schemas.microsoft.com/office/drawing/2014/main" id="{F75DAB6D-0A2C-5D5F-8347-90568504505E}"/>
              </a:ext>
            </a:extLst>
          </p:cNvPr>
          <p:cNvSpPr/>
          <p:nvPr/>
        </p:nvSpPr>
        <p:spPr>
          <a:xfrm rot="16200000">
            <a:off x="21140106" y="40645509"/>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85" name="Arrow: Down 1084">
            <a:extLst>
              <a:ext uri="{FF2B5EF4-FFF2-40B4-BE49-F238E27FC236}">
                <a16:creationId xmlns:a16="http://schemas.microsoft.com/office/drawing/2014/main" id="{97C2ED4B-EE2B-5750-BFB1-20F4A03090C5}"/>
              </a:ext>
            </a:extLst>
          </p:cNvPr>
          <p:cNvSpPr/>
          <p:nvPr/>
        </p:nvSpPr>
        <p:spPr>
          <a:xfrm rot="10800000">
            <a:off x="29198147" y="32877705"/>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048" name="Arrow: Down 2047">
            <a:extLst>
              <a:ext uri="{FF2B5EF4-FFF2-40B4-BE49-F238E27FC236}">
                <a16:creationId xmlns:a16="http://schemas.microsoft.com/office/drawing/2014/main" id="{9DE7AA98-843A-1355-4C6B-D4A377FA8469}"/>
              </a:ext>
            </a:extLst>
          </p:cNvPr>
          <p:cNvSpPr/>
          <p:nvPr/>
        </p:nvSpPr>
        <p:spPr>
          <a:xfrm rot="10800000">
            <a:off x="29163510" y="13556813"/>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049" name="Arrow: Down 2048">
            <a:extLst>
              <a:ext uri="{FF2B5EF4-FFF2-40B4-BE49-F238E27FC236}">
                <a16:creationId xmlns:a16="http://schemas.microsoft.com/office/drawing/2014/main" id="{935A6C7D-F9C2-5F90-99D0-672FFAA23145}"/>
              </a:ext>
            </a:extLst>
          </p:cNvPr>
          <p:cNvSpPr/>
          <p:nvPr/>
        </p:nvSpPr>
        <p:spPr>
          <a:xfrm rot="10800000">
            <a:off x="29139336" y="5560378"/>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050" name="TextBox 2049">
            <a:extLst>
              <a:ext uri="{FF2B5EF4-FFF2-40B4-BE49-F238E27FC236}">
                <a16:creationId xmlns:a16="http://schemas.microsoft.com/office/drawing/2014/main" id="{4B8F7950-8FB7-5128-1D53-9FB507EE94E4}"/>
              </a:ext>
            </a:extLst>
          </p:cNvPr>
          <p:cNvSpPr txBox="1"/>
          <p:nvPr/>
        </p:nvSpPr>
        <p:spPr>
          <a:xfrm>
            <a:off x="17196530" y="39381015"/>
            <a:ext cx="11451522" cy="1569404"/>
          </a:xfrm>
          <a:prstGeom prst="rect">
            <a:avLst/>
          </a:prstGeom>
          <a:noFill/>
        </p:spPr>
        <p:txBody>
          <a:bodyPr wrap="square">
            <a:spAutoFit/>
          </a:bodyPr>
          <a:lstStyle/>
          <a:p>
            <a:r>
              <a:rPr lang="en-IN" sz="4799" b="1" u="sng" dirty="0">
                <a:solidFill>
                  <a:schemeClr val="bg1"/>
                </a:solidFill>
                <a:latin typeface="Times New Roman" panose="02020603050405020304" pitchFamily="18" charset="0"/>
                <a:cs typeface="Times New Roman" panose="02020603050405020304" pitchFamily="18" charset="0"/>
              </a:rPr>
              <a:t>Source Data:</a:t>
            </a:r>
          </a:p>
          <a:p>
            <a:r>
              <a:rPr lang="en-IN" sz="4799" b="1" u="sng" dirty="0">
                <a:solidFill>
                  <a:schemeClr val="bg1"/>
                </a:solidFill>
                <a:latin typeface="Times New Roman" panose="02020603050405020304" pitchFamily="18" charset="0"/>
                <a:cs typeface="Times New Roman" panose="02020603050405020304" pitchFamily="18" charset="0"/>
              </a:rPr>
              <a:t> Stats19 UK Collision Data 2018-2022</a:t>
            </a:r>
          </a:p>
        </p:txBody>
      </p:sp>
      <p:sp>
        <p:nvSpPr>
          <p:cNvPr id="2052" name="TextBox 2051">
            <a:extLst>
              <a:ext uri="{FF2B5EF4-FFF2-40B4-BE49-F238E27FC236}">
                <a16:creationId xmlns:a16="http://schemas.microsoft.com/office/drawing/2014/main" id="{7F549547-70BE-6213-C774-A2E3890ACDD7}"/>
              </a:ext>
            </a:extLst>
          </p:cNvPr>
          <p:cNvSpPr txBox="1"/>
          <p:nvPr/>
        </p:nvSpPr>
        <p:spPr>
          <a:xfrm>
            <a:off x="17315159" y="4522110"/>
            <a:ext cx="10680391" cy="1754070"/>
          </a:xfrm>
          <a:prstGeom prst="rect">
            <a:avLst/>
          </a:prstGeom>
          <a:noFill/>
        </p:spPr>
        <p:txBody>
          <a:bodyPr wrap="square">
            <a:spAutoFit/>
          </a:bodyPr>
          <a:lstStyle/>
          <a:p>
            <a:pPr algn="just"/>
            <a:r>
              <a:rPr lang="en-IN" sz="5399" dirty="0">
                <a:solidFill>
                  <a:schemeClr val="bg1"/>
                </a:solidFill>
                <a:latin typeface="Times New Roman" panose="02020603050405020304" pitchFamily="18" charset="0"/>
                <a:cs typeface="Times New Roman" panose="02020603050405020304" pitchFamily="18" charset="0"/>
              </a:rPr>
              <a:t>Greener healthier alternative to cars. </a:t>
            </a:r>
          </a:p>
          <a:p>
            <a:pPr algn="just"/>
            <a:r>
              <a:rPr lang="en-IN" sz="5399" dirty="0">
                <a:solidFill>
                  <a:schemeClr val="bg1"/>
                </a:solidFill>
                <a:latin typeface="Times New Roman" panose="02020603050405020304" pitchFamily="18" charset="0"/>
                <a:cs typeface="Times New Roman" panose="02020603050405020304" pitchFamily="18" charset="0"/>
              </a:rPr>
              <a:t>Need to improve cyclist road safety.</a:t>
            </a:r>
          </a:p>
        </p:txBody>
      </p:sp>
      <p:sp>
        <p:nvSpPr>
          <p:cNvPr id="2053" name="Rectangle 2052">
            <a:extLst>
              <a:ext uri="{FF2B5EF4-FFF2-40B4-BE49-F238E27FC236}">
                <a16:creationId xmlns:a16="http://schemas.microsoft.com/office/drawing/2014/main" id="{4F4EE477-2590-3CD6-C75C-D0420EF666D6}"/>
              </a:ext>
            </a:extLst>
          </p:cNvPr>
          <p:cNvSpPr/>
          <p:nvPr/>
        </p:nvSpPr>
        <p:spPr>
          <a:xfrm>
            <a:off x="28709370" y="1257870"/>
            <a:ext cx="100516" cy="403218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pic>
        <p:nvPicPr>
          <p:cNvPr id="2055" name="Picture 16" descr="Traffic Cones PNG Transparent Images Free Download | Vector Files | Pngtree">
            <a:extLst>
              <a:ext uri="{FF2B5EF4-FFF2-40B4-BE49-F238E27FC236}">
                <a16:creationId xmlns:a16="http://schemas.microsoft.com/office/drawing/2014/main" id="{13F2ACA5-89CF-E26E-4A80-5FE7F69072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3666" y="13473196"/>
            <a:ext cx="1086703" cy="1086703"/>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67">
            <a:extLst>
              <a:ext uri="{FF2B5EF4-FFF2-40B4-BE49-F238E27FC236}">
                <a16:creationId xmlns:a16="http://schemas.microsoft.com/office/drawing/2014/main" id="{E75AEE73-2F57-EF7A-CAD6-8100B81F9E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84306" y="28742936"/>
            <a:ext cx="10870134" cy="12623377"/>
          </a:xfrm>
          <a:prstGeom prst="rect">
            <a:avLst/>
          </a:prstGeom>
        </p:spPr>
      </p:pic>
      <p:pic>
        <p:nvPicPr>
          <p:cNvPr id="2070" name="Picture 2069">
            <a:extLst>
              <a:ext uri="{FF2B5EF4-FFF2-40B4-BE49-F238E27FC236}">
                <a16:creationId xmlns:a16="http://schemas.microsoft.com/office/drawing/2014/main" id="{C594CA94-3356-4931-E931-E957B6B9C4B6}"/>
              </a:ext>
            </a:extLst>
          </p:cNvPr>
          <p:cNvPicPr>
            <a:picLocks noChangeAspect="1"/>
          </p:cNvPicPr>
          <p:nvPr/>
        </p:nvPicPr>
        <p:blipFill rotWithShape="1">
          <a:blip r:embed="rId8"/>
          <a:srcRect t="4247"/>
          <a:stretch/>
        </p:blipFill>
        <p:spPr>
          <a:xfrm>
            <a:off x="12451745" y="31075785"/>
            <a:ext cx="2898726" cy="1616722"/>
          </a:xfrm>
          <a:prstGeom prst="rect">
            <a:avLst/>
          </a:prstGeom>
        </p:spPr>
      </p:pic>
      <p:pic>
        <p:nvPicPr>
          <p:cNvPr id="2076" name="Picture 2075">
            <a:extLst>
              <a:ext uri="{FF2B5EF4-FFF2-40B4-BE49-F238E27FC236}">
                <a16:creationId xmlns:a16="http://schemas.microsoft.com/office/drawing/2014/main" id="{81EF5F5D-97DE-968A-0A9E-F8F8531587E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137606" y="20128839"/>
            <a:ext cx="14707008" cy="19198061"/>
          </a:xfrm>
          <a:prstGeom prst="rect">
            <a:avLst/>
          </a:prstGeom>
        </p:spPr>
      </p:pic>
      <p:pic>
        <p:nvPicPr>
          <p:cNvPr id="2077" name="Picture 16" descr="Traffic Cones PNG Transparent Images Free Download | Vector Files | Pngtree">
            <a:extLst>
              <a:ext uri="{FF2B5EF4-FFF2-40B4-BE49-F238E27FC236}">
                <a16:creationId xmlns:a16="http://schemas.microsoft.com/office/drawing/2014/main" id="{16EF885A-D3A7-436C-8F6A-E54AE47E13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15335" y="17468006"/>
            <a:ext cx="1086703" cy="1086703"/>
          </a:xfrm>
          <a:prstGeom prst="rect">
            <a:avLst/>
          </a:prstGeom>
          <a:noFill/>
          <a:extLst>
            <a:ext uri="{909E8E84-426E-40DD-AFC4-6F175D3DCCD1}">
              <a14:hiddenFill xmlns:a14="http://schemas.microsoft.com/office/drawing/2010/main">
                <a:solidFill>
                  <a:srgbClr val="FFFFFF"/>
                </a:solidFill>
              </a14:hiddenFill>
            </a:ext>
          </a:extLst>
        </p:spPr>
      </p:pic>
      <p:pic>
        <p:nvPicPr>
          <p:cNvPr id="2081" name="Picture 4" descr="Free Black And White Bicycle Images, Download Free Black And White Bicycle  Images png images, Free ClipArts on Clipart Library">
            <a:extLst>
              <a:ext uri="{FF2B5EF4-FFF2-40B4-BE49-F238E27FC236}">
                <a16:creationId xmlns:a16="http://schemas.microsoft.com/office/drawing/2014/main" id="{09E45A98-6638-5E89-E09B-DEBA33992D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66038" y="19156256"/>
            <a:ext cx="1581715" cy="1187290"/>
          </a:xfrm>
          <a:prstGeom prst="rect">
            <a:avLst/>
          </a:prstGeom>
          <a:noFill/>
          <a:extLst>
            <a:ext uri="{909E8E84-426E-40DD-AFC4-6F175D3DCCD1}">
              <a14:hiddenFill xmlns:a14="http://schemas.microsoft.com/office/drawing/2010/main">
                <a:solidFill>
                  <a:srgbClr val="FFFFFF"/>
                </a:solidFill>
              </a14:hiddenFill>
            </a:ext>
          </a:extLst>
        </p:spPr>
      </p:pic>
      <p:sp>
        <p:nvSpPr>
          <p:cNvPr id="2082" name="Arrow: Down 2081">
            <a:extLst>
              <a:ext uri="{FF2B5EF4-FFF2-40B4-BE49-F238E27FC236}">
                <a16:creationId xmlns:a16="http://schemas.microsoft.com/office/drawing/2014/main" id="{0A217B44-35A7-0405-2505-A625F632BE0D}"/>
              </a:ext>
            </a:extLst>
          </p:cNvPr>
          <p:cNvSpPr/>
          <p:nvPr/>
        </p:nvSpPr>
        <p:spPr>
          <a:xfrm>
            <a:off x="269122" y="22090022"/>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2083" name="Picture 4" descr="Free Black And White Bicycle Images, Download Free Black And White Bicycle  Images png images, Free ClipArts on Clipart Library">
            <a:extLst>
              <a:ext uri="{FF2B5EF4-FFF2-40B4-BE49-F238E27FC236}">
                <a16:creationId xmlns:a16="http://schemas.microsoft.com/office/drawing/2014/main" id="{63CF87A6-0BBD-8739-7938-7053D18F2F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91960" y="28362045"/>
            <a:ext cx="1581715" cy="1187290"/>
          </a:xfrm>
          <a:prstGeom prst="rect">
            <a:avLst/>
          </a:prstGeom>
          <a:noFill/>
          <a:extLst>
            <a:ext uri="{909E8E84-426E-40DD-AFC4-6F175D3DCCD1}">
              <a14:hiddenFill xmlns:a14="http://schemas.microsoft.com/office/drawing/2010/main">
                <a:solidFill>
                  <a:srgbClr val="FFFFFF"/>
                </a:solidFill>
              </a14:hiddenFill>
            </a:ext>
          </a:extLst>
        </p:spPr>
      </p:pic>
      <p:pic>
        <p:nvPicPr>
          <p:cNvPr id="2084" name="Picture 4" descr="Free Black And White Bicycle Images, Download Free Black And White Bicycle  Images png images, Free ClipArts on Clipart Library">
            <a:extLst>
              <a:ext uri="{FF2B5EF4-FFF2-40B4-BE49-F238E27FC236}">
                <a16:creationId xmlns:a16="http://schemas.microsoft.com/office/drawing/2014/main" id="{6627368F-6F44-6F7C-9523-D57269509A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flipV="1">
            <a:off x="28741641" y="19178006"/>
            <a:ext cx="1581714" cy="1187289"/>
          </a:xfrm>
          <a:prstGeom prst="rect">
            <a:avLst/>
          </a:prstGeom>
          <a:noFill/>
          <a:extLst>
            <a:ext uri="{909E8E84-426E-40DD-AFC4-6F175D3DCCD1}">
              <a14:hiddenFill xmlns:a14="http://schemas.microsoft.com/office/drawing/2010/main">
                <a:solidFill>
                  <a:srgbClr val="FFFFFF"/>
                </a:solidFill>
              </a14:hiddenFill>
            </a:ext>
          </a:extLst>
        </p:spPr>
      </p:pic>
      <p:sp>
        <p:nvSpPr>
          <p:cNvPr id="2085" name="Arrow: Down 2084">
            <a:extLst>
              <a:ext uri="{FF2B5EF4-FFF2-40B4-BE49-F238E27FC236}">
                <a16:creationId xmlns:a16="http://schemas.microsoft.com/office/drawing/2014/main" id="{C63CCC3C-9A2E-6E19-1C2F-23489806CA41}"/>
              </a:ext>
            </a:extLst>
          </p:cNvPr>
          <p:cNvSpPr/>
          <p:nvPr/>
        </p:nvSpPr>
        <p:spPr>
          <a:xfrm rot="10800000">
            <a:off x="29221133" y="22092512"/>
            <a:ext cx="782635" cy="3053806"/>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2086" name="Picture 4" descr="Free Black And White Bicycle Images, Download Free Black And White Bicycle  Images png images, Free ClipArts on Clipart Library">
            <a:extLst>
              <a:ext uri="{FF2B5EF4-FFF2-40B4-BE49-F238E27FC236}">
                <a16:creationId xmlns:a16="http://schemas.microsoft.com/office/drawing/2014/main" id="{2801A968-4536-36DE-0E26-D56D0AA7D0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218464" flipV="1">
            <a:off x="28748457" y="28295493"/>
            <a:ext cx="1581714" cy="1187289"/>
          </a:xfrm>
          <a:prstGeom prst="rect">
            <a:avLst/>
          </a:prstGeom>
          <a:noFill/>
          <a:extLst>
            <a:ext uri="{909E8E84-426E-40DD-AFC4-6F175D3DCCD1}">
              <a14:hiddenFill xmlns:a14="http://schemas.microsoft.com/office/drawing/2010/main">
                <a:solidFill>
                  <a:srgbClr val="FFFFFF"/>
                </a:solidFill>
              </a14:hiddenFill>
            </a:ext>
          </a:extLst>
        </p:spPr>
      </p:pic>
      <p:pic>
        <p:nvPicPr>
          <p:cNvPr id="2094" name="Picture 2093">
            <a:extLst>
              <a:ext uri="{FF2B5EF4-FFF2-40B4-BE49-F238E27FC236}">
                <a16:creationId xmlns:a16="http://schemas.microsoft.com/office/drawing/2014/main" id="{0D4BDC87-ECEF-918C-1307-741E0D5A83C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8391" y="12017085"/>
            <a:ext cx="10579877" cy="7934907"/>
          </a:xfrm>
          <a:prstGeom prst="rect">
            <a:avLst/>
          </a:prstGeom>
        </p:spPr>
      </p:pic>
      <p:pic>
        <p:nvPicPr>
          <p:cNvPr id="2098" name="Picture 2097">
            <a:extLst>
              <a:ext uri="{FF2B5EF4-FFF2-40B4-BE49-F238E27FC236}">
                <a16:creationId xmlns:a16="http://schemas.microsoft.com/office/drawing/2014/main" id="{D3ED831A-B3FD-9F46-ACCB-ACB1038DE8B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21777" y="20096767"/>
            <a:ext cx="13000506" cy="7800304"/>
          </a:xfrm>
          <a:prstGeom prst="rect">
            <a:avLst/>
          </a:prstGeom>
        </p:spPr>
      </p:pic>
      <p:sp>
        <p:nvSpPr>
          <p:cNvPr id="2100" name="Oval 2099">
            <a:extLst>
              <a:ext uri="{FF2B5EF4-FFF2-40B4-BE49-F238E27FC236}">
                <a16:creationId xmlns:a16="http://schemas.microsoft.com/office/drawing/2014/main" id="{4F3C74F0-8466-717C-CC25-EE65F83C1B54}"/>
              </a:ext>
            </a:extLst>
          </p:cNvPr>
          <p:cNvSpPr/>
          <p:nvPr/>
        </p:nvSpPr>
        <p:spPr>
          <a:xfrm rot="1740832">
            <a:off x="10446780" y="24136205"/>
            <a:ext cx="945392" cy="2792043"/>
          </a:xfrm>
          <a:prstGeom prst="ellipse">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2101" name="Picture 16" descr="Traffic Cones PNG Transparent Images Free Download | Vector Files | Pngtree">
            <a:extLst>
              <a:ext uri="{FF2B5EF4-FFF2-40B4-BE49-F238E27FC236}">
                <a16:creationId xmlns:a16="http://schemas.microsoft.com/office/drawing/2014/main" id="{4B2C7C78-F8C5-034A-6A30-6B45F0C810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86618" y="19007481"/>
            <a:ext cx="1086703" cy="1086703"/>
          </a:xfrm>
          <a:prstGeom prst="rect">
            <a:avLst/>
          </a:prstGeom>
          <a:noFill/>
          <a:extLst>
            <a:ext uri="{909E8E84-426E-40DD-AFC4-6F175D3DCCD1}">
              <a14:hiddenFill xmlns:a14="http://schemas.microsoft.com/office/drawing/2010/main">
                <a:solidFill>
                  <a:srgbClr val="FFFFFF"/>
                </a:solidFill>
              </a14:hiddenFill>
            </a:ext>
          </a:extLst>
        </p:spPr>
      </p:pic>
      <p:pic>
        <p:nvPicPr>
          <p:cNvPr id="2096" name="Picture 2095">
            <a:extLst>
              <a:ext uri="{FF2B5EF4-FFF2-40B4-BE49-F238E27FC236}">
                <a16:creationId xmlns:a16="http://schemas.microsoft.com/office/drawing/2014/main" id="{75FF6431-12E0-9475-8A62-7DAC43DA58A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925839" y="12041468"/>
            <a:ext cx="10680391" cy="8062989"/>
          </a:xfrm>
          <a:prstGeom prst="rect">
            <a:avLst/>
          </a:prstGeom>
        </p:spPr>
      </p:pic>
    </p:spTree>
    <p:extLst>
      <p:ext uri="{BB962C8B-B14F-4D97-AF65-F5344CB8AC3E}">
        <p14:creationId xmlns:p14="http://schemas.microsoft.com/office/powerpoint/2010/main" val="3032910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6" descr="Download Bicycle Black Siluete Png Image HQ PNG Image | FreePNGImg">
            <a:extLst>
              <a:ext uri="{FF2B5EF4-FFF2-40B4-BE49-F238E27FC236}">
                <a16:creationId xmlns:a16="http://schemas.microsoft.com/office/drawing/2014/main" id="{00895EB1-14DB-B4E6-EC62-2E6744855CE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trans="5000" detail="0"/>
                    </a14:imgEffect>
                  </a14:imgLayer>
                </a14:imgProps>
              </a:ext>
              <a:ext uri="{28A0092B-C50C-407E-A947-70E740481C1C}">
                <a14:useLocalDpi xmlns:a14="http://schemas.microsoft.com/office/drawing/2010/main" val="0"/>
              </a:ext>
            </a:extLst>
          </a:blip>
          <a:srcRect/>
          <a:stretch>
            <a:fillRect/>
          </a:stretch>
        </p:blipFill>
        <p:spPr bwMode="auto">
          <a:xfrm>
            <a:off x="15542169" y="11202567"/>
            <a:ext cx="12983718" cy="7840234"/>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EA10203-C68B-652A-668D-2AB7F9BC2D2A}"/>
              </a:ext>
            </a:extLst>
          </p:cNvPr>
          <p:cNvSpPr/>
          <p:nvPr/>
        </p:nvSpPr>
        <p:spPr>
          <a:xfrm>
            <a:off x="0" y="-2"/>
            <a:ext cx="1672253" cy="42803765"/>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sp>
        <p:nvSpPr>
          <p:cNvPr id="32" name="Rectangle 31">
            <a:extLst>
              <a:ext uri="{FF2B5EF4-FFF2-40B4-BE49-F238E27FC236}">
                <a16:creationId xmlns:a16="http://schemas.microsoft.com/office/drawing/2014/main" id="{8A1D1318-DE55-96F3-0C9D-214AAD21C4FE}"/>
              </a:ext>
            </a:extLst>
          </p:cNvPr>
          <p:cNvSpPr/>
          <p:nvPr/>
        </p:nvSpPr>
        <p:spPr>
          <a:xfrm>
            <a:off x="1404462" y="-2"/>
            <a:ext cx="85329" cy="428037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pic>
        <p:nvPicPr>
          <p:cNvPr id="38" name="Picture 4" descr="Free Black And White Bicycle Images, Download Free Black And White Bicycle  Images png images, Free ClipArts on Clipart Library">
            <a:extLst>
              <a:ext uri="{FF2B5EF4-FFF2-40B4-BE49-F238E27FC236}">
                <a16:creationId xmlns:a16="http://schemas.microsoft.com/office/drawing/2014/main" id="{DEFFB945-94AA-FC1F-F7C0-2CBD361D31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7161" y="2175274"/>
            <a:ext cx="1366726" cy="1025912"/>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8D188EB5-D97B-14B8-59E8-7AE8216573F3}"/>
              </a:ext>
            </a:extLst>
          </p:cNvPr>
          <p:cNvSpPr txBox="1"/>
          <p:nvPr/>
        </p:nvSpPr>
        <p:spPr>
          <a:xfrm>
            <a:off x="10567899" y="291315"/>
            <a:ext cx="9139962" cy="1446230"/>
          </a:xfrm>
          <a:prstGeom prst="rect">
            <a:avLst/>
          </a:prstGeom>
          <a:noFill/>
        </p:spPr>
        <p:txBody>
          <a:bodyPr wrap="square" rtlCol="0">
            <a:spAutoFit/>
          </a:bodyPr>
          <a:lstStyle/>
          <a:p>
            <a:r>
              <a:rPr lang="en-IN" sz="8798" b="1" dirty="0">
                <a:latin typeface="Times New Roman" panose="02020603050405020304" pitchFamily="18" charset="0"/>
                <a:cs typeface="Times New Roman" panose="02020603050405020304" pitchFamily="18" charset="0"/>
              </a:rPr>
              <a:t>Is Cycling </a:t>
            </a:r>
            <a:r>
              <a:rPr lang="en-IN" sz="8798" b="1" u="sng" dirty="0">
                <a:solidFill>
                  <a:schemeClr val="accent6"/>
                </a:solidFill>
                <a:latin typeface="Times New Roman" panose="02020603050405020304" pitchFamily="18" charset="0"/>
                <a:cs typeface="Times New Roman" panose="02020603050405020304" pitchFamily="18" charset="0"/>
              </a:rPr>
              <a:t>Safer</a:t>
            </a:r>
            <a:r>
              <a:rPr lang="en-IN" sz="8798" b="1" dirty="0">
                <a:latin typeface="Times New Roman" panose="02020603050405020304" pitchFamily="18" charset="0"/>
                <a:cs typeface="Times New Roman" panose="02020603050405020304" pitchFamily="18" charset="0"/>
              </a:rPr>
              <a:t> ?</a:t>
            </a:r>
          </a:p>
        </p:txBody>
      </p:sp>
      <p:sp>
        <p:nvSpPr>
          <p:cNvPr id="42" name="TextBox 41">
            <a:extLst>
              <a:ext uri="{FF2B5EF4-FFF2-40B4-BE49-F238E27FC236}">
                <a16:creationId xmlns:a16="http://schemas.microsoft.com/office/drawing/2014/main" id="{D46F97AF-A5B3-7609-1620-DE65A8AF0A1E}"/>
              </a:ext>
            </a:extLst>
          </p:cNvPr>
          <p:cNvSpPr txBox="1"/>
          <p:nvPr/>
        </p:nvSpPr>
        <p:spPr>
          <a:xfrm>
            <a:off x="2053373" y="1865025"/>
            <a:ext cx="6709628"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INTRODUCTION:</a:t>
            </a:r>
            <a:endParaRPr lang="en-IN" sz="120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5A33D4B3-CF59-C6D6-EAAC-2928A8E11010}"/>
              </a:ext>
            </a:extLst>
          </p:cNvPr>
          <p:cNvSpPr txBox="1"/>
          <p:nvPr/>
        </p:nvSpPr>
        <p:spPr>
          <a:xfrm>
            <a:off x="2053370" y="3160778"/>
            <a:ext cx="13084238" cy="5908412"/>
          </a:xfrm>
          <a:prstGeom prst="rect">
            <a:avLst/>
          </a:prstGeom>
          <a:noFill/>
        </p:spPr>
        <p:txBody>
          <a:bodyPr wrap="square">
            <a:spAutoFit/>
          </a:bodyPr>
          <a:lstStyle/>
          <a:p>
            <a:pPr algn="just"/>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Modern age promotes use of pedal cycle more, for environment and physical health benefits.</a:t>
            </a:r>
            <a:br>
              <a:rPr lang="en-IN" sz="5399" dirty="0">
                <a:latin typeface="Times New Roman" panose="02020603050405020304" pitchFamily="18" charset="0"/>
                <a:ea typeface="Sans Serif Collection" panose="020B0502040504020204" pitchFamily="34" charset="0"/>
                <a:cs typeface="Times New Roman" panose="02020603050405020304" pitchFamily="18" charset="0"/>
              </a:rPr>
            </a:b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This data analysis aims to investigate the involvement of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pedal cycles in collisions </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across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United Kingdom</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 for the year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2018 - 2022</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 To answer some WH questions about safety of pedal cycles.</a:t>
            </a:r>
            <a:endParaRPr lang="en-IN" sz="5399" b="1" dirty="0">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49" name="TextBox 48">
            <a:extLst>
              <a:ext uri="{FF2B5EF4-FFF2-40B4-BE49-F238E27FC236}">
                <a16:creationId xmlns:a16="http://schemas.microsoft.com/office/drawing/2014/main" id="{4699CDB0-07D6-E2A0-31D7-E458712F10D1}"/>
              </a:ext>
            </a:extLst>
          </p:cNvPr>
          <p:cNvSpPr txBox="1"/>
          <p:nvPr/>
        </p:nvSpPr>
        <p:spPr>
          <a:xfrm>
            <a:off x="2032626" y="9725926"/>
            <a:ext cx="5798860"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OBSERVATION:</a:t>
            </a:r>
            <a:endParaRPr lang="en-IN" sz="5399" dirty="0">
              <a:latin typeface="Times New Roman" panose="02020603050405020304" pitchFamily="18" charset="0"/>
              <a:cs typeface="Times New Roman" panose="02020603050405020304" pitchFamily="18" charset="0"/>
            </a:endParaRPr>
          </a:p>
        </p:txBody>
      </p:sp>
      <p:sp>
        <p:nvSpPr>
          <p:cNvPr id="1029" name="TextBox 1028">
            <a:extLst>
              <a:ext uri="{FF2B5EF4-FFF2-40B4-BE49-F238E27FC236}">
                <a16:creationId xmlns:a16="http://schemas.microsoft.com/office/drawing/2014/main" id="{2F4E8814-4B54-1A9C-76E1-01CE00D720CB}"/>
              </a:ext>
            </a:extLst>
          </p:cNvPr>
          <p:cNvSpPr txBox="1"/>
          <p:nvPr/>
        </p:nvSpPr>
        <p:spPr>
          <a:xfrm>
            <a:off x="16683319" y="1774536"/>
            <a:ext cx="6074979" cy="1200329"/>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CONCLUSION</a:t>
            </a:r>
            <a:r>
              <a:rPr lang="en-IN" sz="7200" b="1" u="sng" dirty="0">
                <a:latin typeface="Times New Roman" panose="02020603050405020304" pitchFamily="18" charset="0"/>
                <a:cs typeface="Times New Roman" panose="02020603050405020304" pitchFamily="18" charset="0"/>
              </a:rPr>
              <a:t>:</a:t>
            </a:r>
            <a:endParaRPr lang="en-IN" sz="468" dirty="0">
              <a:latin typeface="Times New Roman" panose="02020603050405020304" pitchFamily="18" charset="0"/>
              <a:cs typeface="Times New Roman" panose="02020603050405020304" pitchFamily="18" charset="0"/>
            </a:endParaRPr>
          </a:p>
        </p:txBody>
      </p:sp>
      <p:sp>
        <p:nvSpPr>
          <p:cNvPr id="1077" name="Arrow: Down 1076">
            <a:extLst>
              <a:ext uri="{FF2B5EF4-FFF2-40B4-BE49-F238E27FC236}">
                <a16:creationId xmlns:a16="http://schemas.microsoft.com/office/drawing/2014/main" id="{AF86C676-AF5D-5EDF-C89C-7F93B6B86ACA}"/>
              </a:ext>
            </a:extLst>
          </p:cNvPr>
          <p:cNvSpPr/>
          <p:nvPr/>
        </p:nvSpPr>
        <p:spPr>
          <a:xfrm>
            <a:off x="445683" y="4842651"/>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050" name="TextBox 2049">
            <a:extLst>
              <a:ext uri="{FF2B5EF4-FFF2-40B4-BE49-F238E27FC236}">
                <a16:creationId xmlns:a16="http://schemas.microsoft.com/office/drawing/2014/main" id="{4B8F7950-8FB7-5128-1D53-9FB507EE94E4}"/>
              </a:ext>
            </a:extLst>
          </p:cNvPr>
          <p:cNvSpPr txBox="1"/>
          <p:nvPr/>
        </p:nvSpPr>
        <p:spPr>
          <a:xfrm>
            <a:off x="17196530" y="39381015"/>
            <a:ext cx="11451522" cy="1569404"/>
          </a:xfrm>
          <a:prstGeom prst="rect">
            <a:avLst/>
          </a:prstGeom>
          <a:noFill/>
        </p:spPr>
        <p:txBody>
          <a:bodyPr wrap="square">
            <a:spAutoFit/>
          </a:bodyPr>
          <a:lstStyle/>
          <a:p>
            <a:r>
              <a:rPr lang="en-IN" sz="4799" b="1" u="sng" dirty="0">
                <a:solidFill>
                  <a:schemeClr val="bg1"/>
                </a:solidFill>
                <a:latin typeface="Times New Roman" panose="02020603050405020304" pitchFamily="18" charset="0"/>
                <a:cs typeface="Times New Roman" panose="02020603050405020304" pitchFamily="18" charset="0"/>
              </a:rPr>
              <a:t>Source Data:</a:t>
            </a:r>
          </a:p>
          <a:p>
            <a:r>
              <a:rPr lang="en-IN" sz="4799" b="1" u="sng" dirty="0">
                <a:solidFill>
                  <a:schemeClr val="bg1"/>
                </a:solidFill>
                <a:latin typeface="Times New Roman" panose="02020603050405020304" pitchFamily="18" charset="0"/>
                <a:cs typeface="Times New Roman" panose="02020603050405020304" pitchFamily="18" charset="0"/>
              </a:rPr>
              <a:t> Stats19 UK Collision Data 2018-2022</a:t>
            </a:r>
          </a:p>
        </p:txBody>
      </p:sp>
      <p:pic>
        <p:nvPicPr>
          <p:cNvPr id="4" name="Picture 4" descr="Free Black And White Bicycle Images, Download Free Black And White Bicycle  Images png images, Free ClipArts on Clipart Library">
            <a:extLst>
              <a:ext uri="{FF2B5EF4-FFF2-40B4-BE49-F238E27FC236}">
                <a16:creationId xmlns:a16="http://schemas.microsoft.com/office/drawing/2014/main" id="{6792B8FD-EA13-08DE-CCDC-A0727A772D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69368" y="10065167"/>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5" name="Arrow: Down 4">
            <a:extLst>
              <a:ext uri="{FF2B5EF4-FFF2-40B4-BE49-F238E27FC236}">
                <a16:creationId xmlns:a16="http://schemas.microsoft.com/office/drawing/2014/main" id="{915A2F39-37C3-CB93-2D8B-D5DE892C952B}"/>
              </a:ext>
            </a:extLst>
          </p:cNvPr>
          <p:cNvSpPr/>
          <p:nvPr/>
        </p:nvSpPr>
        <p:spPr>
          <a:xfrm>
            <a:off x="461469" y="13102455"/>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6" name="TextBox 5">
            <a:extLst>
              <a:ext uri="{FF2B5EF4-FFF2-40B4-BE49-F238E27FC236}">
                <a16:creationId xmlns:a16="http://schemas.microsoft.com/office/drawing/2014/main" id="{46DFDF63-DD6B-EE7F-B1FF-B02781321CF7}"/>
              </a:ext>
            </a:extLst>
          </p:cNvPr>
          <p:cNvSpPr txBox="1"/>
          <p:nvPr/>
        </p:nvSpPr>
        <p:spPr>
          <a:xfrm>
            <a:off x="2191783" y="10755028"/>
            <a:ext cx="3555876" cy="830868"/>
          </a:xfrm>
          <a:prstGeom prst="rect">
            <a:avLst/>
          </a:prstGeom>
          <a:noFill/>
        </p:spPr>
        <p:txBody>
          <a:bodyPr wrap="square">
            <a:spAutoFit/>
          </a:bodyPr>
          <a:lstStyle/>
          <a:p>
            <a:r>
              <a:rPr lang="en-IN" sz="4799" b="1" i="1" u="sng" dirty="0">
                <a:latin typeface="Times New Roman" panose="02020603050405020304" pitchFamily="18" charset="0"/>
                <a:cs typeface="Times New Roman" panose="02020603050405020304" pitchFamily="18" charset="0"/>
              </a:rPr>
              <a:t>How many?</a:t>
            </a:r>
            <a:endParaRPr lang="en-IN" sz="4799"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E0B2075-306E-6DF9-071D-9C850E8D043B}"/>
              </a:ext>
            </a:extLst>
          </p:cNvPr>
          <p:cNvSpPr txBox="1"/>
          <p:nvPr/>
        </p:nvSpPr>
        <p:spPr>
          <a:xfrm>
            <a:off x="15137608" y="10755028"/>
            <a:ext cx="3447520" cy="830868"/>
          </a:xfrm>
          <a:prstGeom prst="rect">
            <a:avLst/>
          </a:prstGeom>
          <a:noFill/>
        </p:spPr>
        <p:txBody>
          <a:bodyPr wrap="square">
            <a:spAutoFit/>
          </a:bodyPr>
          <a:lstStyle/>
          <a:p>
            <a:r>
              <a:rPr lang="en-IN" sz="4799" b="1" i="1" u="sng" dirty="0">
                <a:latin typeface="Times New Roman" panose="02020603050405020304" pitchFamily="18" charset="0"/>
                <a:cs typeface="Times New Roman" panose="02020603050405020304" pitchFamily="18" charset="0"/>
              </a:rPr>
              <a:t>How bad?</a:t>
            </a:r>
            <a:endParaRPr lang="en-IN" sz="4799" i="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EE7A023-1623-91EC-205D-51A11735F41E}"/>
              </a:ext>
            </a:extLst>
          </p:cNvPr>
          <p:cNvSpPr txBox="1"/>
          <p:nvPr/>
        </p:nvSpPr>
        <p:spPr>
          <a:xfrm>
            <a:off x="2153681" y="21271955"/>
            <a:ext cx="2678266" cy="830868"/>
          </a:xfrm>
          <a:prstGeom prst="rect">
            <a:avLst/>
          </a:prstGeom>
          <a:noFill/>
        </p:spPr>
        <p:txBody>
          <a:bodyPr wrap="square">
            <a:spAutoFit/>
          </a:bodyPr>
          <a:lstStyle/>
          <a:p>
            <a:r>
              <a:rPr lang="en-IN" sz="4799" b="1" i="1" u="sng" dirty="0">
                <a:latin typeface="Times New Roman" panose="02020603050405020304" pitchFamily="18" charset="0"/>
                <a:cs typeface="Times New Roman" panose="02020603050405020304" pitchFamily="18" charset="0"/>
              </a:rPr>
              <a:t>Where?</a:t>
            </a:r>
            <a:endParaRPr lang="en-IN" sz="4799"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27CF1D5-B03B-C522-10BD-FE4974BCE6FD}"/>
              </a:ext>
            </a:extLst>
          </p:cNvPr>
          <p:cNvSpPr txBox="1"/>
          <p:nvPr/>
        </p:nvSpPr>
        <p:spPr>
          <a:xfrm>
            <a:off x="15137606" y="21222192"/>
            <a:ext cx="2344435" cy="830868"/>
          </a:xfrm>
          <a:prstGeom prst="rect">
            <a:avLst/>
          </a:prstGeom>
          <a:noFill/>
        </p:spPr>
        <p:txBody>
          <a:bodyPr wrap="square">
            <a:spAutoFit/>
          </a:bodyPr>
          <a:lstStyle/>
          <a:p>
            <a:r>
              <a:rPr lang="en-IN" sz="4799" b="1" i="1" u="sng" dirty="0">
                <a:latin typeface="Times New Roman" panose="02020603050405020304" pitchFamily="18" charset="0"/>
                <a:cs typeface="Times New Roman" panose="02020603050405020304" pitchFamily="18" charset="0"/>
              </a:rPr>
              <a:t>When?</a:t>
            </a:r>
            <a:endParaRPr lang="en-IN" sz="4799" i="1" dirty="0">
              <a:latin typeface="Times New Roman" panose="02020603050405020304" pitchFamily="18" charset="0"/>
              <a:cs typeface="Times New Roman" panose="02020603050405020304" pitchFamily="18" charset="0"/>
            </a:endParaRPr>
          </a:p>
        </p:txBody>
      </p:sp>
      <p:pic>
        <p:nvPicPr>
          <p:cNvPr id="15" name="Picture 4" descr="Free Black And White Bicycle Images, Download Free Black And White Bicycle  Images png images, Free ClipArts on Clipart Library">
            <a:extLst>
              <a:ext uri="{FF2B5EF4-FFF2-40B4-BE49-F238E27FC236}">
                <a16:creationId xmlns:a16="http://schemas.microsoft.com/office/drawing/2014/main" id="{89599FD4-0519-E20E-DD02-D48CC70362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69368" y="1730285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16" name="Arrow: Down 15">
            <a:extLst>
              <a:ext uri="{FF2B5EF4-FFF2-40B4-BE49-F238E27FC236}">
                <a16:creationId xmlns:a16="http://schemas.microsoft.com/office/drawing/2014/main" id="{704A4F26-A41B-7C6A-07B5-F1004E24CCDD}"/>
              </a:ext>
            </a:extLst>
          </p:cNvPr>
          <p:cNvSpPr/>
          <p:nvPr/>
        </p:nvSpPr>
        <p:spPr>
          <a:xfrm>
            <a:off x="461469" y="20873544"/>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7" name="Picture 4" descr="Free Black And White Bicycle Images, Download Free Black And White Bicycle  Images png images, Free ClipArts on Clipart Library">
            <a:extLst>
              <a:ext uri="{FF2B5EF4-FFF2-40B4-BE49-F238E27FC236}">
                <a16:creationId xmlns:a16="http://schemas.microsoft.com/office/drawing/2014/main" id="{2369B72F-386E-787B-FF4E-6CA9B17860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5974" y="26076541"/>
            <a:ext cx="1427981" cy="1025914"/>
          </a:xfrm>
          <a:prstGeom prst="rect">
            <a:avLst/>
          </a:prstGeom>
          <a:noFill/>
          <a:extLst>
            <a:ext uri="{909E8E84-426E-40DD-AFC4-6F175D3DCCD1}">
              <a14:hiddenFill xmlns:a14="http://schemas.microsoft.com/office/drawing/2010/main">
                <a:solidFill>
                  <a:srgbClr val="FFFFFF"/>
                </a:solidFill>
              </a14:hiddenFill>
            </a:ext>
          </a:extLst>
        </p:spPr>
      </p:pic>
      <p:sp>
        <p:nvSpPr>
          <p:cNvPr id="18" name="Arrow: Down 17">
            <a:extLst>
              <a:ext uri="{FF2B5EF4-FFF2-40B4-BE49-F238E27FC236}">
                <a16:creationId xmlns:a16="http://schemas.microsoft.com/office/drawing/2014/main" id="{97A02F6C-D076-B1C8-8597-6C81803787D9}"/>
              </a:ext>
            </a:extLst>
          </p:cNvPr>
          <p:cNvSpPr/>
          <p:nvPr/>
        </p:nvSpPr>
        <p:spPr>
          <a:xfrm>
            <a:off x="502830" y="31080855"/>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9" name="Picture 4" descr="Free Black And White Bicycle Images, Download Free Black And White Bicycle  Images png images, Free ClipArts on Clipart Library">
            <a:extLst>
              <a:ext uri="{FF2B5EF4-FFF2-40B4-BE49-F238E27FC236}">
                <a16:creationId xmlns:a16="http://schemas.microsoft.com/office/drawing/2014/main" id="{DC906657-058D-79D9-B739-5A487ADF85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69368" y="3550768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20" name="Arrow: Down 19">
            <a:extLst>
              <a:ext uri="{FF2B5EF4-FFF2-40B4-BE49-F238E27FC236}">
                <a16:creationId xmlns:a16="http://schemas.microsoft.com/office/drawing/2014/main" id="{25360AF1-08CE-8201-61F1-0393D0CDE9C1}"/>
              </a:ext>
            </a:extLst>
          </p:cNvPr>
          <p:cNvSpPr/>
          <p:nvPr/>
        </p:nvSpPr>
        <p:spPr>
          <a:xfrm>
            <a:off x="461469" y="39268874"/>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1" name="TextBox 20">
            <a:extLst>
              <a:ext uri="{FF2B5EF4-FFF2-40B4-BE49-F238E27FC236}">
                <a16:creationId xmlns:a16="http://schemas.microsoft.com/office/drawing/2014/main" id="{F1377369-B23E-C68E-B145-0FCB4EC6F091}"/>
              </a:ext>
            </a:extLst>
          </p:cNvPr>
          <p:cNvSpPr txBox="1"/>
          <p:nvPr/>
        </p:nvSpPr>
        <p:spPr>
          <a:xfrm>
            <a:off x="15099711" y="30301604"/>
            <a:ext cx="2678266" cy="830868"/>
          </a:xfrm>
          <a:prstGeom prst="rect">
            <a:avLst/>
          </a:prstGeom>
          <a:noFill/>
        </p:spPr>
        <p:txBody>
          <a:bodyPr wrap="square">
            <a:spAutoFit/>
          </a:bodyPr>
          <a:lstStyle/>
          <a:p>
            <a:r>
              <a:rPr lang="en-IN" sz="4799" b="1" i="1" u="sng" dirty="0">
                <a:latin typeface="Times New Roman" panose="02020603050405020304" pitchFamily="18" charset="0"/>
                <a:cs typeface="Times New Roman" panose="02020603050405020304" pitchFamily="18" charset="0"/>
              </a:rPr>
              <a:t>Who?</a:t>
            </a:r>
            <a:endParaRPr lang="en-IN" sz="4799" i="1" dirty="0">
              <a:latin typeface="Times New Roman" panose="02020603050405020304" pitchFamily="18" charset="0"/>
              <a:cs typeface="Times New Roman" panose="02020603050405020304" pitchFamily="18" charset="0"/>
            </a:endParaRPr>
          </a:p>
        </p:txBody>
      </p:sp>
      <p:pic>
        <p:nvPicPr>
          <p:cNvPr id="59" name="Picture 58">
            <a:extLst>
              <a:ext uri="{FF2B5EF4-FFF2-40B4-BE49-F238E27FC236}">
                <a16:creationId xmlns:a16="http://schemas.microsoft.com/office/drawing/2014/main" id="{182303E8-05F6-3E96-09C5-67EDA3703C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618192" y="11774600"/>
            <a:ext cx="12179085" cy="9134316"/>
          </a:xfrm>
          <a:prstGeom prst="rect">
            <a:avLst/>
          </a:prstGeom>
        </p:spPr>
      </p:pic>
      <p:pic>
        <p:nvPicPr>
          <p:cNvPr id="61" name="Picture 60">
            <a:extLst>
              <a:ext uri="{FF2B5EF4-FFF2-40B4-BE49-F238E27FC236}">
                <a16:creationId xmlns:a16="http://schemas.microsoft.com/office/drawing/2014/main" id="{434B8AB6-BBF7-F107-A3BB-135110C4C0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651341" y="11785506"/>
            <a:ext cx="12048789" cy="9036590"/>
          </a:xfrm>
          <a:prstGeom prst="rect">
            <a:avLst/>
          </a:prstGeom>
        </p:spPr>
      </p:pic>
      <p:pic>
        <p:nvPicPr>
          <p:cNvPr id="63" name="Picture 62">
            <a:extLst>
              <a:ext uri="{FF2B5EF4-FFF2-40B4-BE49-F238E27FC236}">
                <a16:creationId xmlns:a16="http://schemas.microsoft.com/office/drawing/2014/main" id="{BFBDBAA4-6653-8A63-04A7-F55C85BA89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33724" y="11747496"/>
            <a:ext cx="12048789" cy="9036590"/>
          </a:xfrm>
          <a:prstGeom prst="rect">
            <a:avLst/>
          </a:prstGeom>
        </p:spPr>
      </p:pic>
    </p:spTree>
    <p:extLst>
      <p:ext uri="{BB962C8B-B14F-4D97-AF65-F5344CB8AC3E}">
        <p14:creationId xmlns:p14="http://schemas.microsoft.com/office/powerpoint/2010/main" val="3758401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55" name="Picture 1054">
            <a:extLst>
              <a:ext uri="{FF2B5EF4-FFF2-40B4-BE49-F238E27FC236}">
                <a16:creationId xmlns:a16="http://schemas.microsoft.com/office/drawing/2014/main" id="{7114E62F-3028-83EB-3755-2B3E35A2A2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05983" y="20771589"/>
            <a:ext cx="17236021" cy="20881809"/>
          </a:xfrm>
          <a:prstGeom prst="rect">
            <a:avLst/>
          </a:prstGeom>
        </p:spPr>
      </p:pic>
      <p:pic>
        <p:nvPicPr>
          <p:cNvPr id="12" name="Picture 6" descr="Download Bicycle Black Siluete Png Image HQ PNG Image | FreePNGImg">
            <a:extLst>
              <a:ext uri="{FF2B5EF4-FFF2-40B4-BE49-F238E27FC236}">
                <a16:creationId xmlns:a16="http://schemas.microsoft.com/office/drawing/2014/main" id="{00895EB1-14DB-B4E6-EC62-2E6744855CE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artisticPhotocopy trans="3000"/>
                    </a14:imgEffect>
                  </a14:imgLayer>
                </a14:imgProps>
              </a:ext>
              <a:ext uri="{28A0092B-C50C-407E-A947-70E740481C1C}">
                <a14:useLocalDpi xmlns:a14="http://schemas.microsoft.com/office/drawing/2010/main" val="0"/>
              </a:ext>
            </a:extLst>
          </a:blip>
          <a:srcRect/>
          <a:stretch>
            <a:fillRect/>
          </a:stretch>
        </p:blipFill>
        <p:spPr bwMode="auto">
          <a:xfrm rot="16200000">
            <a:off x="-2427207" y="28409147"/>
            <a:ext cx="18014148" cy="10192460"/>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EA10203-C68B-652A-668D-2AB7F9BC2D2A}"/>
              </a:ext>
            </a:extLst>
          </p:cNvPr>
          <p:cNvSpPr/>
          <p:nvPr/>
        </p:nvSpPr>
        <p:spPr>
          <a:xfrm>
            <a:off x="0" y="-2"/>
            <a:ext cx="1672253" cy="42803765"/>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sp>
        <p:nvSpPr>
          <p:cNvPr id="32" name="Rectangle 31">
            <a:extLst>
              <a:ext uri="{FF2B5EF4-FFF2-40B4-BE49-F238E27FC236}">
                <a16:creationId xmlns:a16="http://schemas.microsoft.com/office/drawing/2014/main" id="{8A1D1318-DE55-96F3-0C9D-214AAD21C4FE}"/>
              </a:ext>
            </a:extLst>
          </p:cNvPr>
          <p:cNvSpPr/>
          <p:nvPr/>
        </p:nvSpPr>
        <p:spPr>
          <a:xfrm>
            <a:off x="1404462" y="-2"/>
            <a:ext cx="85329" cy="428037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pic>
        <p:nvPicPr>
          <p:cNvPr id="38" name="Picture 4" descr="Free Black And White Bicycle Images, Download Free Black And White Bicycle  Images png images, Free ClipArts on Clipart Library">
            <a:extLst>
              <a:ext uri="{FF2B5EF4-FFF2-40B4-BE49-F238E27FC236}">
                <a16:creationId xmlns:a16="http://schemas.microsoft.com/office/drawing/2014/main" id="{DEFFB945-94AA-FC1F-F7C0-2CBD361D31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7161" y="2175274"/>
            <a:ext cx="1366726" cy="1025912"/>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8D188EB5-D97B-14B8-59E8-7AE8216573F3}"/>
              </a:ext>
            </a:extLst>
          </p:cNvPr>
          <p:cNvSpPr txBox="1"/>
          <p:nvPr/>
        </p:nvSpPr>
        <p:spPr>
          <a:xfrm>
            <a:off x="10567899" y="291315"/>
            <a:ext cx="9139962" cy="1446230"/>
          </a:xfrm>
          <a:prstGeom prst="rect">
            <a:avLst/>
          </a:prstGeom>
          <a:noFill/>
        </p:spPr>
        <p:txBody>
          <a:bodyPr wrap="square" rtlCol="0">
            <a:spAutoFit/>
          </a:bodyPr>
          <a:lstStyle/>
          <a:p>
            <a:r>
              <a:rPr lang="en-IN" sz="8798" b="1" dirty="0">
                <a:latin typeface="Times New Roman" panose="02020603050405020304" pitchFamily="18" charset="0"/>
                <a:cs typeface="Times New Roman" panose="02020603050405020304" pitchFamily="18" charset="0"/>
              </a:rPr>
              <a:t>Is Cycling </a:t>
            </a:r>
            <a:r>
              <a:rPr lang="en-IN" sz="8798" b="1" u="sng" dirty="0">
                <a:solidFill>
                  <a:schemeClr val="accent6"/>
                </a:solidFill>
                <a:latin typeface="Times New Roman" panose="02020603050405020304" pitchFamily="18" charset="0"/>
                <a:cs typeface="Times New Roman" panose="02020603050405020304" pitchFamily="18" charset="0"/>
              </a:rPr>
              <a:t>Safer</a:t>
            </a:r>
            <a:r>
              <a:rPr lang="en-IN" sz="8798" b="1" dirty="0">
                <a:latin typeface="Times New Roman" panose="02020603050405020304" pitchFamily="18" charset="0"/>
                <a:cs typeface="Times New Roman" panose="02020603050405020304" pitchFamily="18" charset="0"/>
              </a:rPr>
              <a:t> ?</a:t>
            </a:r>
          </a:p>
        </p:txBody>
      </p:sp>
      <p:sp>
        <p:nvSpPr>
          <p:cNvPr id="42" name="TextBox 41">
            <a:extLst>
              <a:ext uri="{FF2B5EF4-FFF2-40B4-BE49-F238E27FC236}">
                <a16:creationId xmlns:a16="http://schemas.microsoft.com/office/drawing/2014/main" id="{D46F97AF-A5B3-7609-1620-DE65A8AF0A1E}"/>
              </a:ext>
            </a:extLst>
          </p:cNvPr>
          <p:cNvSpPr txBox="1"/>
          <p:nvPr/>
        </p:nvSpPr>
        <p:spPr>
          <a:xfrm>
            <a:off x="2053373" y="1865025"/>
            <a:ext cx="6709628"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INTRODUCTION:</a:t>
            </a:r>
            <a:endParaRPr lang="en-IN" sz="120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5A33D4B3-CF59-C6D6-EAAC-2928A8E11010}"/>
              </a:ext>
            </a:extLst>
          </p:cNvPr>
          <p:cNvSpPr txBox="1"/>
          <p:nvPr/>
        </p:nvSpPr>
        <p:spPr>
          <a:xfrm>
            <a:off x="2053370" y="3160778"/>
            <a:ext cx="13084238" cy="5908412"/>
          </a:xfrm>
          <a:prstGeom prst="rect">
            <a:avLst/>
          </a:prstGeom>
          <a:noFill/>
        </p:spPr>
        <p:txBody>
          <a:bodyPr wrap="square">
            <a:spAutoFit/>
          </a:bodyPr>
          <a:lstStyle/>
          <a:p>
            <a:pPr algn="just"/>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Modern age promotes use of pedal cycle more for environment and physical health benefits.</a:t>
            </a:r>
            <a:br>
              <a:rPr lang="en-IN" sz="5399" dirty="0">
                <a:latin typeface="Times New Roman" panose="02020603050405020304" pitchFamily="18" charset="0"/>
                <a:ea typeface="Sans Serif Collection" panose="020B0502040504020204" pitchFamily="34" charset="0"/>
                <a:cs typeface="Times New Roman" panose="02020603050405020304" pitchFamily="18" charset="0"/>
              </a:rPr>
            </a:b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This data analysis aims to investigate the involvement of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pedal cycles in collisions </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across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United Kingdom</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 for the period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2018 – 2022,</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 to address common WH questions about safety concerns related to pedal cycles.</a:t>
            </a:r>
            <a:endParaRPr lang="en-IN" sz="5399" b="1" dirty="0">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49" name="TextBox 48">
            <a:extLst>
              <a:ext uri="{FF2B5EF4-FFF2-40B4-BE49-F238E27FC236}">
                <a16:creationId xmlns:a16="http://schemas.microsoft.com/office/drawing/2014/main" id="{4699CDB0-07D6-E2A0-31D7-E458712F10D1}"/>
              </a:ext>
            </a:extLst>
          </p:cNvPr>
          <p:cNvSpPr txBox="1"/>
          <p:nvPr/>
        </p:nvSpPr>
        <p:spPr>
          <a:xfrm>
            <a:off x="2032626" y="9344926"/>
            <a:ext cx="5798860"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OBSERVATION:</a:t>
            </a:r>
            <a:endParaRPr lang="en-IN" sz="5399" dirty="0">
              <a:latin typeface="Times New Roman" panose="02020603050405020304" pitchFamily="18" charset="0"/>
              <a:cs typeface="Times New Roman" panose="02020603050405020304" pitchFamily="18" charset="0"/>
            </a:endParaRPr>
          </a:p>
        </p:txBody>
      </p:sp>
      <p:sp>
        <p:nvSpPr>
          <p:cNvPr id="1029" name="TextBox 1028">
            <a:extLst>
              <a:ext uri="{FF2B5EF4-FFF2-40B4-BE49-F238E27FC236}">
                <a16:creationId xmlns:a16="http://schemas.microsoft.com/office/drawing/2014/main" id="{2F4E8814-4B54-1A9C-76E1-01CE00D720CB}"/>
              </a:ext>
            </a:extLst>
          </p:cNvPr>
          <p:cNvSpPr txBox="1"/>
          <p:nvPr/>
        </p:nvSpPr>
        <p:spPr>
          <a:xfrm>
            <a:off x="15240598" y="1716727"/>
            <a:ext cx="6074979" cy="1200329"/>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CONCLUSION</a:t>
            </a:r>
            <a:r>
              <a:rPr lang="en-IN" sz="7200" b="1" u="sng" dirty="0">
                <a:latin typeface="Times New Roman" panose="02020603050405020304" pitchFamily="18" charset="0"/>
                <a:cs typeface="Times New Roman" panose="02020603050405020304" pitchFamily="18" charset="0"/>
              </a:rPr>
              <a:t>:</a:t>
            </a:r>
            <a:endParaRPr lang="en-IN" sz="468" dirty="0">
              <a:latin typeface="Times New Roman" panose="02020603050405020304" pitchFamily="18" charset="0"/>
              <a:cs typeface="Times New Roman" panose="02020603050405020304" pitchFamily="18" charset="0"/>
            </a:endParaRPr>
          </a:p>
        </p:txBody>
      </p:sp>
      <p:sp>
        <p:nvSpPr>
          <p:cNvPr id="1077" name="Arrow: Down 1076">
            <a:extLst>
              <a:ext uri="{FF2B5EF4-FFF2-40B4-BE49-F238E27FC236}">
                <a16:creationId xmlns:a16="http://schemas.microsoft.com/office/drawing/2014/main" id="{AF86C676-AF5D-5EDF-C89C-7F93B6B86ACA}"/>
              </a:ext>
            </a:extLst>
          </p:cNvPr>
          <p:cNvSpPr/>
          <p:nvPr/>
        </p:nvSpPr>
        <p:spPr>
          <a:xfrm>
            <a:off x="445683" y="4842651"/>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4" name="Picture 4" descr="Free Black And White Bicycle Images, Download Free Black And White Bicycle  Images png images, Free ClipArts on Clipart Library">
            <a:extLst>
              <a:ext uri="{FF2B5EF4-FFF2-40B4-BE49-F238E27FC236}">
                <a16:creationId xmlns:a16="http://schemas.microsoft.com/office/drawing/2014/main" id="{6792B8FD-EA13-08DE-CCDC-A0727A772D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10065167"/>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5" name="Arrow: Down 4">
            <a:extLst>
              <a:ext uri="{FF2B5EF4-FFF2-40B4-BE49-F238E27FC236}">
                <a16:creationId xmlns:a16="http://schemas.microsoft.com/office/drawing/2014/main" id="{915A2F39-37C3-CB93-2D8B-D5DE892C952B}"/>
              </a:ext>
            </a:extLst>
          </p:cNvPr>
          <p:cNvSpPr/>
          <p:nvPr/>
        </p:nvSpPr>
        <p:spPr>
          <a:xfrm>
            <a:off x="461469" y="13102455"/>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6" name="TextBox 5">
            <a:extLst>
              <a:ext uri="{FF2B5EF4-FFF2-40B4-BE49-F238E27FC236}">
                <a16:creationId xmlns:a16="http://schemas.microsoft.com/office/drawing/2014/main" id="{46DFDF63-DD6B-EE7F-B1FF-B02781321CF7}"/>
              </a:ext>
            </a:extLst>
          </p:cNvPr>
          <p:cNvSpPr txBox="1"/>
          <p:nvPr/>
        </p:nvSpPr>
        <p:spPr>
          <a:xfrm rot="18800103">
            <a:off x="12139115" y="18764117"/>
            <a:ext cx="3555876" cy="1323247"/>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HOW</a:t>
            </a:r>
            <a:endParaRPr lang="en-IN" sz="3598" b="1" u="sng" dirty="0">
              <a:latin typeface="Times New Roman" panose="02020603050405020304" pitchFamily="18" charset="0"/>
              <a:cs typeface="Times New Roman" panose="02020603050405020304" pitchFamily="18" charset="0"/>
            </a:endParaRPr>
          </a:p>
          <a:p>
            <a:pPr algn="ctr"/>
            <a:r>
              <a:rPr lang="en-IN" sz="3598" b="1" u="sng" dirty="0">
                <a:latin typeface="Times New Roman" panose="02020603050405020304" pitchFamily="18" charset="0"/>
                <a:cs typeface="Times New Roman" panose="02020603050405020304" pitchFamily="18" charset="0"/>
              </a:rPr>
              <a:t>MANY</a:t>
            </a:r>
            <a:endParaRPr lang="en-IN" sz="3598"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E0B2075-306E-6DF9-071D-9C850E8D043B}"/>
              </a:ext>
            </a:extLst>
          </p:cNvPr>
          <p:cNvSpPr txBox="1"/>
          <p:nvPr/>
        </p:nvSpPr>
        <p:spPr>
          <a:xfrm rot="13615659">
            <a:off x="12129820" y="21028574"/>
            <a:ext cx="3447520" cy="1323247"/>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HOW</a:t>
            </a:r>
            <a:endParaRPr lang="en-IN" sz="3598" b="1" u="sng" dirty="0">
              <a:latin typeface="Times New Roman" panose="02020603050405020304" pitchFamily="18" charset="0"/>
              <a:cs typeface="Times New Roman" panose="02020603050405020304" pitchFamily="18" charset="0"/>
            </a:endParaRPr>
          </a:p>
          <a:p>
            <a:pPr algn="ctr"/>
            <a:r>
              <a:rPr lang="en-IN" sz="3598" b="1" u="sng" dirty="0">
                <a:latin typeface="Times New Roman" panose="02020603050405020304" pitchFamily="18" charset="0"/>
                <a:cs typeface="Times New Roman" panose="02020603050405020304" pitchFamily="18" charset="0"/>
              </a:rPr>
              <a:t>BAD</a:t>
            </a:r>
            <a:endParaRPr lang="en-IN" sz="3598"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EE7A023-1623-91EC-205D-51A11735F41E}"/>
              </a:ext>
            </a:extLst>
          </p:cNvPr>
          <p:cNvSpPr txBox="1"/>
          <p:nvPr/>
        </p:nvSpPr>
        <p:spPr>
          <a:xfrm rot="8009455">
            <a:off x="15096524" y="21576626"/>
            <a:ext cx="267826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WHERE</a:t>
            </a:r>
            <a:endParaRPr lang="en-IN" sz="3598" dirty="0">
              <a:latin typeface="Times New Roman" panose="02020603050405020304" pitchFamily="18" charset="0"/>
              <a:cs typeface="Times New Roman" panose="02020603050405020304" pitchFamily="18" charset="0"/>
            </a:endParaRPr>
          </a:p>
        </p:txBody>
      </p:sp>
      <p:pic>
        <p:nvPicPr>
          <p:cNvPr id="15" name="Picture 4" descr="Free Black And White Bicycle Images, Download Free Black And White Bicycle  Images png images, Free ClipArts on Clipart Library">
            <a:extLst>
              <a:ext uri="{FF2B5EF4-FFF2-40B4-BE49-F238E27FC236}">
                <a16:creationId xmlns:a16="http://schemas.microsoft.com/office/drawing/2014/main" id="{89599FD4-0519-E20E-DD02-D48CC70362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1730285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16" name="Arrow: Down 15">
            <a:extLst>
              <a:ext uri="{FF2B5EF4-FFF2-40B4-BE49-F238E27FC236}">
                <a16:creationId xmlns:a16="http://schemas.microsoft.com/office/drawing/2014/main" id="{704A4F26-A41B-7C6A-07B5-F1004E24CCDD}"/>
              </a:ext>
            </a:extLst>
          </p:cNvPr>
          <p:cNvSpPr/>
          <p:nvPr/>
        </p:nvSpPr>
        <p:spPr>
          <a:xfrm>
            <a:off x="461469" y="20873544"/>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7" name="Picture 4" descr="Free Black And White Bicycle Images, Download Free Black And White Bicycle  Images png images, Free ClipArts on Clipart Library">
            <a:extLst>
              <a:ext uri="{FF2B5EF4-FFF2-40B4-BE49-F238E27FC236}">
                <a16:creationId xmlns:a16="http://schemas.microsoft.com/office/drawing/2014/main" id="{2369B72F-386E-787B-FF4E-6CA9B17860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15974" y="26076541"/>
            <a:ext cx="1427981" cy="1025914"/>
          </a:xfrm>
          <a:prstGeom prst="rect">
            <a:avLst/>
          </a:prstGeom>
          <a:noFill/>
          <a:extLst>
            <a:ext uri="{909E8E84-426E-40DD-AFC4-6F175D3DCCD1}">
              <a14:hiddenFill xmlns:a14="http://schemas.microsoft.com/office/drawing/2010/main">
                <a:solidFill>
                  <a:srgbClr val="FFFFFF"/>
                </a:solidFill>
              </a14:hiddenFill>
            </a:ext>
          </a:extLst>
        </p:spPr>
      </p:pic>
      <p:sp>
        <p:nvSpPr>
          <p:cNvPr id="18" name="Arrow: Down 17">
            <a:extLst>
              <a:ext uri="{FF2B5EF4-FFF2-40B4-BE49-F238E27FC236}">
                <a16:creationId xmlns:a16="http://schemas.microsoft.com/office/drawing/2014/main" id="{97A02F6C-D076-B1C8-8597-6C81803787D9}"/>
              </a:ext>
            </a:extLst>
          </p:cNvPr>
          <p:cNvSpPr/>
          <p:nvPr/>
        </p:nvSpPr>
        <p:spPr>
          <a:xfrm>
            <a:off x="502830" y="31080855"/>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9" name="Picture 4" descr="Free Black And White Bicycle Images, Download Free Black And White Bicycle  Images png images, Free ClipArts on Clipart Library">
            <a:extLst>
              <a:ext uri="{FF2B5EF4-FFF2-40B4-BE49-F238E27FC236}">
                <a16:creationId xmlns:a16="http://schemas.microsoft.com/office/drawing/2014/main" id="{DC906657-058D-79D9-B739-5A487ADF85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3550768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20" name="Arrow: Down 19">
            <a:extLst>
              <a:ext uri="{FF2B5EF4-FFF2-40B4-BE49-F238E27FC236}">
                <a16:creationId xmlns:a16="http://schemas.microsoft.com/office/drawing/2014/main" id="{25360AF1-08CE-8201-61F1-0393D0CDE9C1}"/>
              </a:ext>
            </a:extLst>
          </p:cNvPr>
          <p:cNvSpPr/>
          <p:nvPr/>
        </p:nvSpPr>
        <p:spPr>
          <a:xfrm>
            <a:off x="461469" y="39268874"/>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21" name="TextBox 20">
            <a:extLst>
              <a:ext uri="{FF2B5EF4-FFF2-40B4-BE49-F238E27FC236}">
                <a16:creationId xmlns:a16="http://schemas.microsoft.com/office/drawing/2014/main" id="{F1377369-B23E-C68E-B145-0FCB4EC6F091}"/>
              </a:ext>
            </a:extLst>
          </p:cNvPr>
          <p:cNvSpPr txBox="1"/>
          <p:nvPr/>
        </p:nvSpPr>
        <p:spPr>
          <a:xfrm rot="2721329">
            <a:off x="15110509" y="18818099"/>
            <a:ext cx="267826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WHO</a:t>
            </a:r>
            <a:endParaRPr lang="en-IN" sz="4799" dirty="0">
              <a:latin typeface="Times New Roman" panose="02020603050405020304" pitchFamily="18" charset="0"/>
              <a:cs typeface="Times New Roman" panose="02020603050405020304" pitchFamily="18" charset="0"/>
            </a:endParaRPr>
          </a:p>
        </p:txBody>
      </p:sp>
      <p:pic>
        <p:nvPicPr>
          <p:cNvPr id="63" name="Picture 62">
            <a:extLst>
              <a:ext uri="{FF2B5EF4-FFF2-40B4-BE49-F238E27FC236}">
                <a16:creationId xmlns:a16="http://schemas.microsoft.com/office/drawing/2014/main" id="{BFBDBAA4-6653-8A63-04A7-F55C85BA89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11471" y="10027365"/>
            <a:ext cx="13027382" cy="9770537"/>
          </a:xfrm>
          <a:prstGeom prst="rect">
            <a:avLst/>
          </a:prstGeom>
        </p:spPr>
      </p:pic>
      <p:sp>
        <p:nvSpPr>
          <p:cNvPr id="11" name="TextBox 10">
            <a:extLst>
              <a:ext uri="{FF2B5EF4-FFF2-40B4-BE49-F238E27FC236}">
                <a16:creationId xmlns:a16="http://schemas.microsoft.com/office/drawing/2014/main" id="{DAD6646B-78C2-9E06-0B0E-906F82794511}"/>
              </a:ext>
            </a:extLst>
          </p:cNvPr>
          <p:cNvSpPr txBox="1"/>
          <p:nvPr/>
        </p:nvSpPr>
        <p:spPr>
          <a:xfrm>
            <a:off x="14596003" y="19411224"/>
            <a:ext cx="1152295" cy="2215991"/>
          </a:xfrm>
          <a:prstGeom prst="rect">
            <a:avLst/>
          </a:prstGeom>
          <a:noFill/>
        </p:spPr>
        <p:txBody>
          <a:bodyPr wrap="square" rtlCol="0">
            <a:spAutoFit/>
          </a:bodyPr>
          <a:lstStyle/>
          <a:p>
            <a:r>
              <a:rPr lang="en-IN" sz="13800" b="1" u="sng" dirty="0">
                <a:latin typeface="Times New Roman" panose="02020603050405020304" pitchFamily="18" charset="0"/>
                <a:cs typeface="Times New Roman" panose="02020603050405020304" pitchFamily="18" charset="0"/>
              </a:rPr>
              <a:t>?</a:t>
            </a:r>
            <a:endParaRPr lang="en-IN" sz="13800" dirty="0"/>
          </a:p>
        </p:txBody>
      </p:sp>
      <p:cxnSp>
        <p:nvCxnSpPr>
          <p:cNvPr id="23" name="Straight Connector 22">
            <a:extLst>
              <a:ext uri="{FF2B5EF4-FFF2-40B4-BE49-F238E27FC236}">
                <a16:creationId xmlns:a16="http://schemas.microsoft.com/office/drawing/2014/main" id="{BBD84204-3D39-25D7-1EC7-A23B19694740}"/>
              </a:ext>
            </a:extLst>
          </p:cNvPr>
          <p:cNvCxnSpPr>
            <a:cxnSpLocks/>
          </p:cNvCxnSpPr>
          <p:nvPr/>
        </p:nvCxnSpPr>
        <p:spPr>
          <a:xfrm>
            <a:off x="8934364" y="20579890"/>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Diamond 27">
            <a:extLst>
              <a:ext uri="{FF2B5EF4-FFF2-40B4-BE49-F238E27FC236}">
                <a16:creationId xmlns:a16="http://schemas.microsoft.com/office/drawing/2014/main" id="{2A2B1C86-82BA-5994-8935-A32EC308CB27}"/>
              </a:ext>
            </a:extLst>
          </p:cNvPr>
          <p:cNvSpPr/>
          <p:nvPr/>
        </p:nvSpPr>
        <p:spPr>
          <a:xfrm>
            <a:off x="12846899" y="18250109"/>
            <a:ext cx="4480674" cy="4659571"/>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cxnSp>
        <p:nvCxnSpPr>
          <p:cNvPr id="31" name="Straight Connector 30">
            <a:extLst>
              <a:ext uri="{FF2B5EF4-FFF2-40B4-BE49-F238E27FC236}">
                <a16:creationId xmlns:a16="http://schemas.microsoft.com/office/drawing/2014/main" id="{253C2834-664A-F5A7-F373-ADAE6A0F7C3B}"/>
              </a:ext>
            </a:extLst>
          </p:cNvPr>
          <p:cNvCxnSpPr>
            <a:cxnSpLocks/>
          </p:cNvCxnSpPr>
          <p:nvPr/>
        </p:nvCxnSpPr>
        <p:spPr>
          <a:xfrm>
            <a:off x="17310824" y="20617992"/>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56BF68E-5F55-108B-870A-BE6C6BBF66F5}"/>
              </a:ext>
            </a:extLst>
          </p:cNvPr>
          <p:cNvCxnSpPr>
            <a:cxnSpLocks/>
          </p:cNvCxnSpPr>
          <p:nvPr/>
        </p:nvCxnSpPr>
        <p:spPr>
          <a:xfrm rot="16200000">
            <a:off x="13144468" y="16358745"/>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C57B0E6-E629-F9F4-719D-C0574A219B17}"/>
              </a:ext>
            </a:extLst>
          </p:cNvPr>
          <p:cNvCxnSpPr>
            <a:cxnSpLocks/>
          </p:cNvCxnSpPr>
          <p:nvPr/>
        </p:nvCxnSpPr>
        <p:spPr>
          <a:xfrm rot="16200000">
            <a:off x="13162201" y="24713542"/>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3BFA9B10-1A62-77B2-51B0-1274AA63026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1452" y="32657911"/>
            <a:ext cx="16101693" cy="12076270"/>
          </a:xfrm>
          <a:prstGeom prst="rect">
            <a:avLst/>
          </a:prstGeom>
        </p:spPr>
      </p:pic>
      <p:sp>
        <p:nvSpPr>
          <p:cNvPr id="54" name="TextBox 53">
            <a:extLst>
              <a:ext uri="{FF2B5EF4-FFF2-40B4-BE49-F238E27FC236}">
                <a16:creationId xmlns:a16="http://schemas.microsoft.com/office/drawing/2014/main" id="{0E07F566-7457-8659-2B44-5D4F5E2A7B0B}"/>
              </a:ext>
            </a:extLst>
          </p:cNvPr>
          <p:cNvSpPr txBox="1"/>
          <p:nvPr/>
        </p:nvSpPr>
        <p:spPr>
          <a:xfrm>
            <a:off x="16732281" y="10279665"/>
            <a:ext cx="12651490" cy="923201"/>
          </a:xfrm>
          <a:prstGeom prst="rect">
            <a:avLst/>
          </a:prstGeom>
          <a:noFill/>
        </p:spPr>
        <p:txBody>
          <a:bodyPr wrap="square" rtlCol="0">
            <a:spAutoFit/>
          </a:bodyPr>
          <a:lstStyle/>
          <a:p>
            <a:pPr algn="ctr"/>
            <a:r>
              <a:rPr lang="en-IN" sz="5399" b="1" dirty="0">
                <a:latin typeface="Times New Roman" panose="02020603050405020304" pitchFamily="18" charset="0"/>
                <a:cs typeface="Times New Roman" panose="02020603050405020304" pitchFamily="18" charset="0"/>
              </a:rPr>
              <a:t>Top Age Bands as per Severity &amp; Gender</a:t>
            </a:r>
          </a:p>
        </p:txBody>
      </p:sp>
      <p:sp>
        <p:nvSpPr>
          <p:cNvPr id="55" name="TextBox 54">
            <a:extLst>
              <a:ext uri="{FF2B5EF4-FFF2-40B4-BE49-F238E27FC236}">
                <a16:creationId xmlns:a16="http://schemas.microsoft.com/office/drawing/2014/main" id="{01E49A8C-611F-1E14-6DA7-5478B899D6D1}"/>
              </a:ext>
            </a:extLst>
          </p:cNvPr>
          <p:cNvSpPr txBox="1"/>
          <p:nvPr/>
        </p:nvSpPr>
        <p:spPr>
          <a:xfrm>
            <a:off x="15970241" y="41052246"/>
            <a:ext cx="13401880" cy="1569404"/>
          </a:xfrm>
          <a:prstGeom prst="rect">
            <a:avLst/>
          </a:prstGeom>
          <a:noFill/>
        </p:spPr>
        <p:txBody>
          <a:bodyPr wrap="square">
            <a:spAutoFit/>
          </a:bodyPr>
          <a:lstStyle/>
          <a:p>
            <a:r>
              <a:rPr lang="en-IN" sz="4799" b="1" u="sng" dirty="0">
                <a:latin typeface="Times New Roman" panose="02020603050405020304" pitchFamily="18" charset="0"/>
                <a:cs typeface="Times New Roman" panose="02020603050405020304" pitchFamily="18" charset="0"/>
              </a:rPr>
              <a:t>Source Data:</a:t>
            </a:r>
            <a:r>
              <a:rPr lang="en-IN" sz="4799" b="1" dirty="0">
                <a:latin typeface="Times New Roman" panose="02020603050405020304" pitchFamily="18" charset="0"/>
                <a:cs typeface="Times New Roman" panose="02020603050405020304" pitchFamily="18" charset="0"/>
              </a:rPr>
              <a:t> Stats19 UK Collision Data 2018-2022</a:t>
            </a:r>
          </a:p>
          <a:p>
            <a:r>
              <a:rPr lang="en-IN" sz="4799" b="1" u="sng" dirty="0">
                <a:latin typeface="Times New Roman" panose="02020603050405020304" pitchFamily="18" charset="0"/>
                <a:cs typeface="Times New Roman" panose="02020603050405020304" pitchFamily="18" charset="0"/>
              </a:rPr>
              <a:t>Poster Design</a:t>
            </a:r>
            <a:r>
              <a:rPr lang="en-IN" sz="4799" b="1" dirty="0">
                <a:latin typeface="Times New Roman" panose="02020603050405020304" pitchFamily="18" charset="0"/>
                <a:cs typeface="Times New Roman" panose="02020603050405020304" pitchFamily="18" charset="0"/>
              </a:rPr>
              <a:t>: Akson SV, 2311233</a:t>
            </a:r>
          </a:p>
        </p:txBody>
      </p:sp>
      <p:sp>
        <p:nvSpPr>
          <p:cNvPr id="56" name="Oval 55">
            <a:extLst>
              <a:ext uri="{FF2B5EF4-FFF2-40B4-BE49-F238E27FC236}">
                <a16:creationId xmlns:a16="http://schemas.microsoft.com/office/drawing/2014/main" id="{371B8C32-2D8E-3467-14B4-BAD1E4869ACA}"/>
              </a:ext>
            </a:extLst>
          </p:cNvPr>
          <p:cNvSpPr/>
          <p:nvPr/>
        </p:nvSpPr>
        <p:spPr>
          <a:xfrm>
            <a:off x="28276523" y="16756984"/>
            <a:ext cx="1614961" cy="171382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57" name="Arrow: Down 56">
            <a:extLst>
              <a:ext uri="{FF2B5EF4-FFF2-40B4-BE49-F238E27FC236}">
                <a16:creationId xmlns:a16="http://schemas.microsoft.com/office/drawing/2014/main" id="{62A8E883-DB82-D1BB-54A9-C20FD72F904E}"/>
              </a:ext>
            </a:extLst>
          </p:cNvPr>
          <p:cNvSpPr/>
          <p:nvPr/>
        </p:nvSpPr>
        <p:spPr>
          <a:xfrm rot="10800000">
            <a:off x="28784233" y="15835228"/>
            <a:ext cx="599540" cy="1155729"/>
          </a:xfrm>
          <a:prstGeom prst="dow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58" name="Oval 57">
            <a:extLst>
              <a:ext uri="{FF2B5EF4-FFF2-40B4-BE49-F238E27FC236}">
                <a16:creationId xmlns:a16="http://schemas.microsoft.com/office/drawing/2014/main" id="{B50ABD66-36C2-3606-F06A-7E5FBE113D9D}"/>
              </a:ext>
            </a:extLst>
          </p:cNvPr>
          <p:cNvSpPr/>
          <p:nvPr/>
        </p:nvSpPr>
        <p:spPr>
          <a:xfrm>
            <a:off x="28539641" y="17023639"/>
            <a:ext cx="1088725" cy="115572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60" name="Oval 59">
            <a:extLst>
              <a:ext uri="{FF2B5EF4-FFF2-40B4-BE49-F238E27FC236}">
                <a16:creationId xmlns:a16="http://schemas.microsoft.com/office/drawing/2014/main" id="{88B626DD-11F9-0114-EB04-A9037B6D1BCA}"/>
              </a:ext>
            </a:extLst>
          </p:cNvPr>
          <p:cNvSpPr/>
          <p:nvPr/>
        </p:nvSpPr>
        <p:spPr>
          <a:xfrm>
            <a:off x="28256335" y="13551193"/>
            <a:ext cx="1614961" cy="1713821"/>
          </a:xfrm>
          <a:prstGeom prst="ellipse">
            <a:avLst/>
          </a:prstGeom>
          <a:solidFill>
            <a:srgbClr val="FFC0CB"/>
          </a:solidFill>
          <a:ln>
            <a:solidFill>
              <a:srgbClr val="FFC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62" name="Oval 61">
            <a:extLst>
              <a:ext uri="{FF2B5EF4-FFF2-40B4-BE49-F238E27FC236}">
                <a16:creationId xmlns:a16="http://schemas.microsoft.com/office/drawing/2014/main" id="{30B623EF-0892-6F9A-41DD-AE034CAB5696}"/>
              </a:ext>
            </a:extLst>
          </p:cNvPr>
          <p:cNvSpPr/>
          <p:nvPr/>
        </p:nvSpPr>
        <p:spPr>
          <a:xfrm>
            <a:off x="28519453" y="13832358"/>
            <a:ext cx="1088725" cy="115572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26" name="Plus Sign 1025">
            <a:extLst>
              <a:ext uri="{FF2B5EF4-FFF2-40B4-BE49-F238E27FC236}">
                <a16:creationId xmlns:a16="http://schemas.microsoft.com/office/drawing/2014/main" id="{60FB1CBF-C941-44F3-12F5-4359FC0A572C}"/>
              </a:ext>
            </a:extLst>
          </p:cNvPr>
          <p:cNvSpPr/>
          <p:nvPr/>
        </p:nvSpPr>
        <p:spPr>
          <a:xfrm>
            <a:off x="28402467" y="12536828"/>
            <a:ext cx="1317488" cy="1372732"/>
          </a:xfrm>
          <a:prstGeom prst="mathPlus">
            <a:avLst/>
          </a:prstGeom>
          <a:solidFill>
            <a:srgbClr val="FFC0CB"/>
          </a:solidFill>
          <a:ln>
            <a:solidFill>
              <a:srgbClr val="FFC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graphicFrame>
        <p:nvGraphicFramePr>
          <p:cNvPr id="1027" name="Table 1026">
            <a:extLst>
              <a:ext uri="{FF2B5EF4-FFF2-40B4-BE49-F238E27FC236}">
                <a16:creationId xmlns:a16="http://schemas.microsoft.com/office/drawing/2014/main" id="{1CC95592-2EAB-2FD9-CD71-FA993A4D94FB}"/>
              </a:ext>
            </a:extLst>
          </p:cNvPr>
          <p:cNvGraphicFramePr>
            <a:graphicFrameLocks noGrp="1"/>
          </p:cNvGraphicFramePr>
          <p:nvPr>
            <p:extLst>
              <p:ext uri="{D42A27DB-BD31-4B8C-83A1-F6EECF244321}">
                <p14:modId xmlns:p14="http://schemas.microsoft.com/office/powerpoint/2010/main" val="3076340189"/>
              </p:ext>
            </p:extLst>
          </p:nvPr>
        </p:nvGraphicFramePr>
        <p:xfrm>
          <a:off x="17444552" y="12860594"/>
          <a:ext cx="10606854" cy="5723896"/>
        </p:xfrm>
        <a:graphic>
          <a:graphicData uri="http://schemas.openxmlformats.org/drawingml/2006/table">
            <a:tbl>
              <a:tblPr firstRow="1" bandRow="1">
                <a:tableStyleId>{5940675A-B579-460E-94D1-54222C63F5DA}</a:tableStyleId>
              </a:tblPr>
              <a:tblGrid>
                <a:gridCol w="3535618">
                  <a:extLst>
                    <a:ext uri="{9D8B030D-6E8A-4147-A177-3AD203B41FA5}">
                      <a16:colId xmlns:a16="http://schemas.microsoft.com/office/drawing/2014/main" val="1040416973"/>
                    </a:ext>
                  </a:extLst>
                </a:gridCol>
                <a:gridCol w="3535618">
                  <a:extLst>
                    <a:ext uri="{9D8B030D-6E8A-4147-A177-3AD203B41FA5}">
                      <a16:colId xmlns:a16="http://schemas.microsoft.com/office/drawing/2014/main" val="4256780530"/>
                    </a:ext>
                  </a:extLst>
                </a:gridCol>
                <a:gridCol w="3535618">
                  <a:extLst>
                    <a:ext uri="{9D8B030D-6E8A-4147-A177-3AD203B41FA5}">
                      <a16:colId xmlns:a16="http://schemas.microsoft.com/office/drawing/2014/main" val="950959739"/>
                    </a:ext>
                  </a:extLst>
                </a:gridCol>
              </a:tblGrid>
              <a:tr h="2861948">
                <a:tc>
                  <a:txBody>
                    <a:bodyPr/>
                    <a:lstStyle/>
                    <a:p>
                      <a:pPr algn="ctr"/>
                      <a:r>
                        <a:rPr lang="en-IN" sz="1300" dirty="0"/>
                        <a:t>46-55</a:t>
                      </a:r>
                    </a:p>
                    <a:p>
                      <a:pPr algn="ctr"/>
                      <a:r>
                        <a:rPr lang="en-IN" sz="4400" b="1" dirty="0"/>
                        <a:t>21.5%</a:t>
                      </a:r>
                      <a:endParaRPr lang="en-IN" sz="1300" dirty="0"/>
                    </a:p>
                  </a:txBody>
                  <a:tcPr marL="91439" marR="91439" marT="45722" marB="45722" anchor="ctr"/>
                </a:tc>
                <a:tc>
                  <a:txBody>
                    <a:bodyPr/>
                    <a:lstStyle/>
                    <a:p>
                      <a:pPr algn="ctr"/>
                      <a:r>
                        <a:rPr lang="en-IN" sz="1300" dirty="0"/>
                        <a:t>26-35</a:t>
                      </a:r>
                    </a:p>
                    <a:p>
                      <a:pPr algn="ctr"/>
                      <a:r>
                        <a:rPr lang="en-IN" sz="4900" b="1" dirty="0"/>
                        <a:t>22.3%</a:t>
                      </a:r>
                    </a:p>
                  </a:txBody>
                  <a:tcPr marL="91439" marR="91439" marT="45722" marB="45722" anchor="ctr"/>
                </a:tc>
                <a:tc>
                  <a:txBody>
                    <a:bodyPr/>
                    <a:lstStyle/>
                    <a:p>
                      <a:pPr algn="ctr"/>
                      <a:r>
                        <a:rPr lang="en-IN" sz="1300" dirty="0"/>
                        <a:t>26-35</a:t>
                      </a:r>
                    </a:p>
                    <a:p>
                      <a:pPr algn="ctr"/>
                      <a:r>
                        <a:rPr lang="en-IN" sz="5300" b="1" dirty="0"/>
                        <a:t>28.9%</a:t>
                      </a:r>
                    </a:p>
                  </a:txBody>
                  <a:tcPr marL="91439" marR="91439" marT="45722" marB="45722" anchor="ctr"/>
                </a:tc>
                <a:extLst>
                  <a:ext uri="{0D108BD9-81ED-4DB2-BD59-A6C34878D82A}">
                    <a16:rowId xmlns:a16="http://schemas.microsoft.com/office/drawing/2014/main" val="3440127682"/>
                  </a:ext>
                </a:extLst>
              </a:tr>
              <a:tr h="2861948">
                <a:tc>
                  <a:txBody>
                    <a:bodyPr/>
                    <a:lstStyle/>
                    <a:p>
                      <a:pPr algn="ctr"/>
                      <a:r>
                        <a:rPr lang="en-IN" sz="1300" dirty="0"/>
                        <a:t>56-65</a:t>
                      </a:r>
                    </a:p>
                    <a:p>
                      <a:pPr algn="ctr"/>
                      <a:r>
                        <a:rPr lang="en-IN" sz="4000" b="1" dirty="0"/>
                        <a:t>18.7%</a:t>
                      </a:r>
                    </a:p>
                  </a:txBody>
                  <a:tcPr marL="91439" marR="91439" marT="45722" marB="45722" anchor="ctr"/>
                </a:tc>
                <a:tc>
                  <a:txBody>
                    <a:bodyPr/>
                    <a:lstStyle/>
                    <a:p>
                      <a:pPr algn="ctr"/>
                      <a:r>
                        <a:rPr lang="en-IN" sz="1300" dirty="0"/>
                        <a:t>46-55</a:t>
                      </a:r>
                    </a:p>
                    <a:p>
                      <a:pPr algn="ctr"/>
                      <a:r>
                        <a:rPr lang="en-IN" sz="4900" b="1" dirty="0"/>
                        <a:t>19.3%</a:t>
                      </a:r>
                    </a:p>
                  </a:txBody>
                  <a:tcPr marL="91439" marR="91439" marT="45722" marB="45722" anchor="ctr"/>
                </a:tc>
                <a:tc>
                  <a:txBody>
                    <a:bodyPr/>
                    <a:lstStyle/>
                    <a:p>
                      <a:pPr algn="ctr"/>
                      <a:r>
                        <a:rPr lang="en-IN" sz="1300" dirty="0"/>
                        <a:t>26-35</a:t>
                      </a:r>
                    </a:p>
                    <a:p>
                      <a:pPr algn="ctr"/>
                      <a:r>
                        <a:rPr lang="en-IN" sz="5300" b="1" dirty="0"/>
                        <a:t>22.2%</a:t>
                      </a:r>
                    </a:p>
                  </a:txBody>
                  <a:tcPr marL="91439" marR="91439" marT="45722" marB="45722" anchor="ctr"/>
                </a:tc>
                <a:extLst>
                  <a:ext uri="{0D108BD9-81ED-4DB2-BD59-A6C34878D82A}">
                    <a16:rowId xmlns:a16="http://schemas.microsoft.com/office/drawing/2014/main" val="3602409120"/>
                  </a:ext>
                </a:extLst>
              </a:tr>
            </a:tbl>
          </a:graphicData>
        </a:graphic>
      </p:graphicFrame>
      <p:sp>
        <p:nvSpPr>
          <p:cNvPr id="1028" name="TextBox 1027">
            <a:extLst>
              <a:ext uri="{FF2B5EF4-FFF2-40B4-BE49-F238E27FC236}">
                <a16:creationId xmlns:a16="http://schemas.microsoft.com/office/drawing/2014/main" id="{853F4E17-EFDC-0F3F-BA58-EF3B119D9955}"/>
              </a:ext>
            </a:extLst>
          </p:cNvPr>
          <p:cNvSpPr txBox="1"/>
          <p:nvPr/>
        </p:nvSpPr>
        <p:spPr>
          <a:xfrm>
            <a:off x="16431476" y="22120430"/>
            <a:ext cx="13348331" cy="1015534"/>
          </a:xfrm>
          <a:prstGeom prst="rect">
            <a:avLst/>
          </a:prstGeom>
          <a:noFill/>
        </p:spPr>
        <p:txBody>
          <a:bodyPr wrap="square" rtlCol="0">
            <a:spAutoFit/>
          </a:bodyPr>
          <a:lstStyle/>
          <a:p>
            <a:pPr algn="ctr"/>
            <a:r>
              <a:rPr lang="en-IN" sz="5999" b="1" dirty="0">
                <a:latin typeface="Times New Roman" panose="02020603050405020304" pitchFamily="18" charset="0"/>
                <a:cs typeface="Times New Roman" panose="02020603050405020304" pitchFamily="18" charset="0"/>
              </a:rPr>
              <a:t>Cycle Collision Counts in UK Districts</a:t>
            </a:r>
          </a:p>
        </p:txBody>
      </p:sp>
      <p:sp>
        <p:nvSpPr>
          <p:cNvPr id="1030" name="TextBox 1029">
            <a:extLst>
              <a:ext uri="{FF2B5EF4-FFF2-40B4-BE49-F238E27FC236}">
                <a16:creationId xmlns:a16="http://schemas.microsoft.com/office/drawing/2014/main" id="{2CA405D0-C01E-D0DC-BD78-E2DFCA8A851E}"/>
              </a:ext>
            </a:extLst>
          </p:cNvPr>
          <p:cNvSpPr txBox="1"/>
          <p:nvPr/>
        </p:nvSpPr>
        <p:spPr>
          <a:xfrm>
            <a:off x="17832222" y="12086033"/>
            <a:ext cx="3425703" cy="830868"/>
          </a:xfrm>
          <a:prstGeom prst="rect">
            <a:avLst/>
          </a:prstGeom>
          <a:noFill/>
        </p:spPr>
        <p:txBody>
          <a:bodyPr wrap="square" rtlCol="0" anchor="ctr">
            <a:spAutoFit/>
          </a:bodyPr>
          <a:lstStyle/>
          <a:p>
            <a:pPr algn="ctr"/>
            <a:r>
              <a:rPr lang="en-IN" sz="4401" b="1" dirty="0">
                <a:latin typeface="Times New Roman" panose="02020603050405020304" pitchFamily="18" charset="0"/>
                <a:cs typeface="Times New Roman" panose="02020603050405020304" pitchFamily="18" charset="0"/>
              </a:rPr>
              <a:t>    Fatal</a:t>
            </a:r>
            <a:r>
              <a:rPr lang="en-IN" sz="4799" b="1" dirty="0">
                <a:latin typeface="Times New Roman" panose="02020603050405020304" pitchFamily="18" charset="0"/>
                <a:cs typeface="Times New Roman" panose="02020603050405020304" pitchFamily="18" charset="0"/>
              </a:rPr>
              <a:t>       | </a:t>
            </a:r>
          </a:p>
        </p:txBody>
      </p:sp>
      <p:sp>
        <p:nvSpPr>
          <p:cNvPr id="1031" name="TextBox 1030">
            <a:extLst>
              <a:ext uri="{FF2B5EF4-FFF2-40B4-BE49-F238E27FC236}">
                <a16:creationId xmlns:a16="http://schemas.microsoft.com/office/drawing/2014/main" id="{2D5B2C4E-CA11-6A6A-F990-A16EE6CC4538}"/>
              </a:ext>
            </a:extLst>
          </p:cNvPr>
          <p:cNvSpPr txBox="1"/>
          <p:nvPr/>
        </p:nvSpPr>
        <p:spPr>
          <a:xfrm>
            <a:off x="20818939" y="12083254"/>
            <a:ext cx="3942739" cy="830868"/>
          </a:xfrm>
          <a:prstGeom prst="rect">
            <a:avLst/>
          </a:prstGeom>
          <a:noFill/>
        </p:spPr>
        <p:txBody>
          <a:bodyPr wrap="square" rtlCol="0">
            <a:spAutoFit/>
          </a:bodyPr>
          <a:lstStyle/>
          <a:p>
            <a:pPr algn="ctr"/>
            <a:r>
              <a:rPr lang="en-IN" sz="4799" b="1" dirty="0">
                <a:latin typeface="Times New Roman" panose="02020603050405020304" pitchFamily="18" charset="0"/>
                <a:cs typeface="Times New Roman" panose="02020603050405020304" pitchFamily="18" charset="0"/>
              </a:rPr>
              <a:t>     </a:t>
            </a:r>
            <a:r>
              <a:rPr lang="en-IN" sz="4401" b="1" dirty="0">
                <a:latin typeface="Times New Roman" panose="02020603050405020304" pitchFamily="18" charset="0"/>
                <a:cs typeface="Times New Roman" panose="02020603050405020304" pitchFamily="18" charset="0"/>
              </a:rPr>
              <a:t>Serious</a:t>
            </a:r>
            <a:r>
              <a:rPr lang="en-IN" sz="4799" b="1" dirty="0">
                <a:latin typeface="Times New Roman" panose="02020603050405020304" pitchFamily="18" charset="0"/>
                <a:cs typeface="Times New Roman" panose="02020603050405020304" pitchFamily="18" charset="0"/>
              </a:rPr>
              <a:t>      |</a:t>
            </a:r>
          </a:p>
        </p:txBody>
      </p:sp>
      <p:sp>
        <p:nvSpPr>
          <p:cNvPr id="1032" name="TextBox 1031">
            <a:extLst>
              <a:ext uri="{FF2B5EF4-FFF2-40B4-BE49-F238E27FC236}">
                <a16:creationId xmlns:a16="http://schemas.microsoft.com/office/drawing/2014/main" id="{212651FB-0550-D267-380C-3F863071CE01}"/>
              </a:ext>
            </a:extLst>
          </p:cNvPr>
          <p:cNvSpPr txBox="1"/>
          <p:nvPr/>
        </p:nvSpPr>
        <p:spPr>
          <a:xfrm>
            <a:off x="24818317" y="12063327"/>
            <a:ext cx="3020012" cy="769570"/>
          </a:xfrm>
          <a:prstGeom prst="rect">
            <a:avLst/>
          </a:prstGeom>
          <a:noFill/>
        </p:spPr>
        <p:txBody>
          <a:bodyPr wrap="square" rtlCol="0" anchor="ctr">
            <a:spAutoFit/>
          </a:bodyPr>
          <a:lstStyle/>
          <a:p>
            <a:pPr algn="ctr"/>
            <a:r>
              <a:rPr lang="en-IN" sz="4401" b="1" dirty="0">
                <a:latin typeface="Times New Roman" panose="02020603050405020304" pitchFamily="18" charset="0"/>
                <a:cs typeface="Times New Roman" panose="02020603050405020304" pitchFamily="18" charset="0"/>
              </a:rPr>
              <a:t>Slight</a:t>
            </a:r>
            <a:endParaRPr lang="en-IN" sz="4799" b="1" dirty="0">
              <a:latin typeface="Times New Roman" panose="02020603050405020304" pitchFamily="18" charset="0"/>
              <a:cs typeface="Times New Roman" panose="02020603050405020304" pitchFamily="18" charset="0"/>
            </a:endParaRPr>
          </a:p>
        </p:txBody>
      </p:sp>
      <p:pic>
        <p:nvPicPr>
          <p:cNvPr id="1035" name="Picture 20" descr="Green go traffic road sign on transparent background PNG - Similar PNG">
            <a:extLst>
              <a:ext uri="{FF2B5EF4-FFF2-40B4-BE49-F238E27FC236}">
                <a16:creationId xmlns:a16="http://schemas.microsoft.com/office/drawing/2014/main" id="{FFC888D7-F969-34E2-75C8-50A1824F9861}"/>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0688" t="10495" r="10861" b="13634"/>
          <a:stretch/>
        </p:blipFill>
        <p:spPr bwMode="auto">
          <a:xfrm>
            <a:off x="15474891" y="3174863"/>
            <a:ext cx="677731" cy="655438"/>
          </a:xfrm>
          <a:prstGeom prst="ellipse">
            <a:avLst/>
          </a:prstGeom>
          <a:noFill/>
          <a:extLst>
            <a:ext uri="{909E8E84-426E-40DD-AFC4-6F175D3DCCD1}">
              <a14:hiddenFill xmlns:a14="http://schemas.microsoft.com/office/drawing/2010/main">
                <a:solidFill>
                  <a:srgbClr val="FFFFFF"/>
                </a:solidFill>
              </a14:hiddenFill>
            </a:ext>
          </a:extLst>
        </p:spPr>
      </p:pic>
      <p:sp>
        <p:nvSpPr>
          <p:cNvPr id="1036" name="TextBox 1035">
            <a:extLst>
              <a:ext uri="{FF2B5EF4-FFF2-40B4-BE49-F238E27FC236}">
                <a16:creationId xmlns:a16="http://schemas.microsoft.com/office/drawing/2014/main" id="{D9E08B11-20C8-56A9-2E74-CB7D880CCCE2}"/>
              </a:ext>
            </a:extLst>
          </p:cNvPr>
          <p:cNvSpPr txBox="1"/>
          <p:nvPr/>
        </p:nvSpPr>
        <p:spPr>
          <a:xfrm>
            <a:off x="16470653" y="2960047"/>
            <a:ext cx="11335913" cy="923201"/>
          </a:xfrm>
          <a:prstGeom prst="rect">
            <a:avLst/>
          </a:prstGeom>
          <a:noFill/>
        </p:spPr>
        <p:txBody>
          <a:bodyPr wrap="square">
            <a:spAutoFit/>
          </a:bodyPr>
          <a:lstStyle/>
          <a:p>
            <a:pPr algn="just"/>
            <a:r>
              <a:rPr lang="en-IN" sz="5399" dirty="0">
                <a:latin typeface="Times New Roman" panose="02020603050405020304" pitchFamily="18" charset="0"/>
                <a:cs typeface="Times New Roman" panose="02020603050405020304" pitchFamily="18" charset="0"/>
              </a:rPr>
              <a:t>Cycles are </a:t>
            </a:r>
            <a:r>
              <a:rPr lang="en-IN" sz="5399" b="1" dirty="0">
                <a:latin typeface="Times New Roman" panose="02020603050405020304" pitchFamily="18" charset="0"/>
                <a:cs typeface="Times New Roman" panose="02020603050405020304" pitchFamily="18" charset="0"/>
              </a:rPr>
              <a:t>becoming</a:t>
            </a:r>
            <a:r>
              <a:rPr lang="en-IN" sz="5399" dirty="0">
                <a:latin typeface="Times New Roman" panose="02020603050405020304" pitchFamily="18" charset="0"/>
                <a:cs typeface="Times New Roman" panose="02020603050405020304" pitchFamily="18" charset="0"/>
              </a:rPr>
              <a:t> </a:t>
            </a:r>
            <a:r>
              <a:rPr lang="en-IN" sz="5399" b="1" u="sng" dirty="0">
                <a:solidFill>
                  <a:schemeClr val="accent6"/>
                </a:solidFill>
                <a:latin typeface="Times New Roman" panose="02020603050405020304" pitchFamily="18" charset="0"/>
                <a:cs typeface="Times New Roman" panose="02020603050405020304" pitchFamily="18" charset="0"/>
              </a:rPr>
              <a:t>safer</a:t>
            </a:r>
            <a:r>
              <a:rPr lang="en-IN" sz="5399" dirty="0">
                <a:latin typeface="Times New Roman" panose="02020603050405020304" pitchFamily="18" charset="0"/>
                <a:cs typeface="Times New Roman" panose="02020603050405020304" pitchFamily="18" charset="0"/>
              </a:rPr>
              <a:t> in general.</a:t>
            </a:r>
          </a:p>
        </p:txBody>
      </p:sp>
      <p:sp>
        <p:nvSpPr>
          <p:cNvPr id="1038" name="TextBox 1037">
            <a:extLst>
              <a:ext uri="{FF2B5EF4-FFF2-40B4-BE49-F238E27FC236}">
                <a16:creationId xmlns:a16="http://schemas.microsoft.com/office/drawing/2014/main" id="{D38E07E3-8971-8495-45F8-C44A49A1E107}"/>
              </a:ext>
            </a:extLst>
          </p:cNvPr>
          <p:cNvSpPr txBox="1"/>
          <p:nvPr/>
        </p:nvSpPr>
        <p:spPr>
          <a:xfrm>
            <a:off x="16515424" y="4145006"/>
            <a:ext cx="12268807" cy="923201"/>
          </a:xfrm>
          <a:prstGeom prst="rect">
            <a:avLst/>
          </a:prstGeom>
          <a:noFill/>
        </p:spPr>
        <p:txBody>
          <a:bodyPr wrap="square">
            <a:spAutoFit/>
          </a:bodyPr>
          <a:lstStyle/>
          <a:p>
            <a:pPr algn="just"/>
            <a:r>
              <a:rPr lang="en-IN" sz="5399" b="1" dirty="0">
                <a:latin typeface="Times New Roman" panose="02020603050405020304" pitchFamily="18" charset="0"/>
                <a:cs typeface="Times New Roman" panose="02020603050405020304" pitchFamily="18" charset="0"/>
              </a:rPr>
              <a:t>1% </a:t>
            </a:r>
            <a:r>
              <a:rPr lang="en-IN" sz="5399" dirty="0">
                <a:latin typeface="Times New Roman" panose="02020603050405020304" pitchFamily="18" charset="0"/>
                <a:cs typeface="Times New Roman" panose="02020603050405020304" pitchFamily="18" charset="0"/>
              </a:rPr>
              <a:t>fatal, </a:t>
            </a:r>
            <a:r>
              <a:rPr lang="en-IN" sz="5399" b="1" dirty="0">
                <a:latin typeface="Times New Roman" panose="02020603050405020304" pitchFamily="18" charset="0"/>
                <a:cs typeface="Times New Roman" panose="02020603050405020304" pitchFamily="18" charset="0"/>
              </a:rPr>
              <a:t>23% </a:t>
            </a:r>
            <a:r>
              <a:rPr lang="en-IN" sz="5399" dirty="0">
                <a:latin typeface="Times New Roman" panose="02020603050405020304" pitchFamily="18" charset="0"/>
                <a:cs typeface="Times New Roman" panose="02020603050405020304" pitchFamily="18" charset="0"/>
              </a:rPr>
              <a:t>serious, </a:t>
            </a:r>
            <a:r>
              <a:rPr lang="en-IN" sz="5399" b="1" dirty="0">
                <a:latin typeface="Times New Roman" panose="02020603050405020304" pitchFamily="18" charset="0"/>
                <a:cs typeface="Times New Roman" panose="02020603050405020304" pitchFamily="18" charset="0"/>
              </a:rPr>
              <a:t>76% </a:t>
            </a:r>
            <a:r>
              <a:rPr lang="en-IN" sz="5399" dirty="0">
                <a:latin typeface="Times New Roman" panose="02020603050405020304" pitchFamily="18" charset="0"/>
                <a:cs typeface="Times New Roman" panose="02020603050405020304" pitchFamily="18" charset="0"/>
              </a:rPr>
              <a:t>slight injuries.</a:t>
            </a:r>
          </a:p>
        </p:txBody>
      </p:sp>
      <p:pic>
        <p:nvPicPr>
          <p:cNvPr id="1039" name="Picture 16" descr="Traffic Cones PNG Transparent Images Free Download | Vector Files | Pngtree">
            <a:extLst>
              <a:ext uri="{FF2B5EF4-FFF2-40B4-BE49-F238E27FC236}">
                <a16:creationId xmlns:a16="http://schemas.microsoft.com/office/drawing/2014/main" id="{011360C2-C86C-50FC-306C-FCE8DE78F17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00179" y="4109351"/>
            <a:ext cx="829037" cy="829037"/>
          </a:xfrm>
          <a:prstGeom prst="rect">
            <a:avLst/>
          </a:prstGeom>
          <a:noFill/>
          <a:extLst>
            <a:ext uri="{909E8E84-426E-40DD-AFC4-6F175D3DCCD1}">
              <a14:hiddenFill xmlns:a14="http://schemas.microsoft.com/office/drawing/2010/main">
                <a:solidFill>
                  <a:srgbClr val="FFFFFF"/>
                </a:solidFill>
              </a14:hiddenFill>
            </a:ext>
          </a:extLst>
        </p:spPr>
      </p:pic>
      <p:sp>
        <p:nvSpPr>
          <p:cNvPr id="1041" name="TextBox 1040">
            <a:extLst>
              <a:ext uri="{FF2B5EF4-FFF2-40B4-BE49-F238E27FC236}">
                <a16:creationId xmlns:a16="http://schemas.microsoft.com/office/drawing/2014/main" id="{B836165D-3967-8400-6D76-380FB7BFB029}"/>
              </a:ext>
            </a:extLst>
          </p:cNvPr>
          <p:cNvSpPr txBox="1"/>
          <p:nvPr/>
        </p:nvSpPr>
        <p:spPr>
          <a:xfrm>
            <a:off x="16515426" y="5361486"/>
            <a:ext cx="13378708" cy="923201"/>
          </a:xfrm>
          <a:prstGeom prst="rect">
            <a:avLst/>
          </a:prstGeom>
          <a:noFill/>
        </p:spPr>
        <p:txBody>
          <a:bodyPr wrap="square">
            <a:spAutoFit/>
          </a:bodyPr>
          <a:lstStyle/>
          <a:p>
            <a:pPr algn="just"/>
            <a:r>
              <a:rPr lang="en-IN" sz="5399" b="1" dirty="0">
                <a:latin typeface="Times New Roman" panose="02020603050405020304" pitchFamily="18" charset="0"/>
                <a:cs typeface="Times New Roman" panose="02020603050405020304" pitchFamily="18" charset="0"/>
              </a:rPr>
              <a:t>75% </a:t>
            </a:r>
            <a:r>
              <a:rPr lang="en-IN" sz="5399" dirty="0">
                <a:latin typeface="Times New Roman" panose="02020603050405020304" pitchFamily="18" charset="0"/>
                <a:cs typeface="Times New Roman" panose="02020603050405020304" pitchFamily="18" charset="0"/>
              </a:rPr>
              <a:t>occurred on</a:t>
            </a:r>
            <a:r>
              <a:rPr lang="en-IN" sz="5399" b="1" dirty="0">
                <a:latin typeface="Times New Roman" panose="02020603050405020304" pitchFamily="18" charset="0"/>
                <a:cs typeface="Times New Roman" panose="02020603050405020304" pitchFamily="18" charset="0"/>
              </a:rPr>
              <a:t> </a:t>
            </a:r>
            <a:r>
              <a:rPr lang="en-IN" sz="5399" dirty="0">
                <a:latin typeface="Times New Roman" panose="02020603050405020304" pitchFamily="18" charset="0"/>
                <a:cs typeface="Times New Roman" panose="02020603050405020304" pitchFamily="18" charset="0"/>
              </a:rPr>
              <a:t>Single carriageway roads.</a:t>
            </a:r>
          </a:p>
        </p:txBody>
      </p:sp>
      <p:sp>
        <p:nvSpPr>
          <p:cNvPr id="1044" name="TextBox 1043">
            <a:extLst>
              <a:ext uri="{FF2B5EF4-FFF2-40B4-BE49-F238E27FC236}">
                <a16:creationId xmlns:a16="http://schemas.microsoft.com/office/drawing/2014/main" id="{BFB88411-A4CB-EAC2-D59C-C3DA81487FC8}"/>
              </a:ext>
            </a:extLst>
          </p:cNvPr>
          <p:cNvSpPr txBox="1"/>
          <p:nvPr/>
        </p:nvSpPr>
        <p:spPr>
          <a:xfrm>
            <a:off x="16515426" y="6445379"/>
            <a:ext cx="13672896" cy="1754070"/>
          </a:xfrm>
          <a:prstGeom prst="rect">
            <a:avLst/>
          </a:prstGeom>
          <a:noFill/>
        </p:spPr>
        <p:txBody>
          <a:bodyPr wrap="square">
            <a:spAutoFit/>
          </a:bodyPr>
          <a:lstStyle/>
          <a:p>
            <a:r>
              <a:rPr lang="en-IN" sz="5399" dirty="0">
                <a:latin typeface="Times New Roman" panose="02020603050405020304" pitchFamily="18" charset="0"/>
                <a:cs typeface="Times New Roman" panose="02020603050405020304" pitchFamily="18" charset="0"/>
              </a:rPr>
              <a:t>Males(</a:t>
            </a:r>
            <a:r>
              <a:rPr lang="en-IN" sz="5399" b="1" dirty="0">
                <a:latin typeface="Times New Roman" panose="02020603050405020304" pitchFamily="18" charset="0"/>
                <a:cs typeface="Times New Roman" panose="02020603050405020304" pitchFamily="18" charset="0"/>
              </a:rPr>
              <a:t>80%</a:t>
            </a:r>
            <a:r>
              <a:rPr lang="en-IN" sz="5399" dirty="0">
                <a:latin typeface="Times New Roman" panose="02020603050405020304" pitchFamily="18" charset="0"/>
                <a:cs typeface="Times New Roman" panose="02020603050405020304" pitchFamily="18" charset="0"/>
              </a:rPr>
              <a:t>) </a:t>
            </a:r>
            <a:r>
              <a:rPr lang="en-IN" sz="5399" b="1" dirty="0">
                <a:latin typeface="Times New Roman" panose="02020603050405020304" pitchFamily="18" charset="0"/>
                <a:cs typeface="Times New Roman" panose="02020603050405020304" pitchFamily="18" charset="0"/>
              </a:rPr>
              <a:t>4x </a:t>
            </a:r>
            <a:r>
              <a:rPr lang="en-IN" sz="5399" dirty="0">
                <a:latin typeface="Times New Roman" panose="02020603050405020304" pitchFamily="18" charset="0"/>
                <a:cs typeface="Times New Roman" panose="02020603050405020304" pitchFamily="18" charset="0"/>
              </a:rPr>
              <a:t>more in collisions than females(</a:t>
            </a:r>
            <a:r>
              <a:rPr lang="en-IN" sz="5399" b="1" dirty="0">
                <a:latin typeface="Times New Roman" panose="02020603050405020304" pitchFamily="18" charset="0"/>
                <a:cs typeface="Times New Roman" panose="02020603050405020304" pitchFamily="18" charset="0"/>
              </a:rPr>
              <a:t>20%</a:t>
            </a:r>
            <a:r>
              <a:rPr lang="en-IN" sz="5399" dirty="0">
                <a:latin typeface="Times New Roman" panose="02020603050405020304" pitchFamily="18" charset="0"/>
                <a:cs typeface="Times New Roman" panose="02020603050405020304" pitchFamily="18" charset="0"/>
              </a:rPr>
              <a:t>).</a:t>
            </a:r>
            <a:endParaRPr lang="en-IN" sz="5399" b="1" dirty="0">
              <a:latin typeface="Times New Roman" panose="02020603050405020304" pitchFamily="18" charset="0"/>
              <a:cs typeface="Times New Roman" panose="02020603050405020304" pitchFamily="18" charset="0"/>
            </a:endParaRPr>
          </a:p>
        </p:txBody>
      </p:sp>
      <p:pic>
        <p:nvPicPr>
          <p:cNvPr id="1047" name="Picture 16" descr="Traffic Cones PNG Transparent Images Free Download | Vector Files | Pngtree">
            <a:extLst>
              <a:ext uri="{FF2B5EF4-FFF2-40B4-BE49-F238E27FC236}">
                <a16:creationId xmlns:a16="http://schemas.microsoft.com/office/drawing/2014/main" id="{C3069705-7414-EF4E-6D1F-5F40289FFFE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389610" y="5300189"/>
            <a:ext cx="829037" cy="829037"/>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16" descr="Traffic Cones PNG Transparent Images Free Download | Vector Files | Pngtree">
            <a:extLst>
              <a:ext uri="{FF2B5EF4-FFF2-40B4-BE49-F238E27FC236}">
                <a16:creationId xmlns:a16="http://schemas.microsoft.com/office/drawing/2014/main" id="{C4290782-84B5-E3C5-BDAE-EB134E8FF68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29430" y="6519568"/>
            <a:ext cx="829037" cy="829037"/>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4B8E103-C1AE-F528-E5CB-CA95B823FC2E}"/>
              </a:ext>
            </a:extLst>
          </p:cNvPr>
          <p:cNvSpPr txBox="1"/>
          <p:nvPr/>
        </p:nvSpPr>
        <p:spPr>
          <a:xfrm>
            <a:off x="16435659" y="8154160"/>
            <a:ext cx="14320409" cy="923201"/>
          </a:xfrm>
          <a:prstGeom prst="rect">
            <a:avLst/>
          </a:prstGeom>
          <a:noFill/>
        </p:spPr>
        <p:txBody>
          <a:bodyPr wrap="square">
            <a:spAutoFit/>
          </a:bodyPr>
          <a:lstStyle/>
          <a:p>
            <a:pPr algn="just"/>
            <a:r>
              <a:rPr lang="en-US" sz="5399" dirty="0">
                <a:latin typeface="Times New Roman" panose="02020603050405020304" pitchFamily="18" charset="0"/>
                <a:cs typeface="Times New Roman" panose="02020603050405020304" pitchFamily="18" charset="0"/>
              </a:rPr>
              <a:t>Majority Collisions happen in </a:t>
            </a:r>
            <a:r>
              <a:rPr lang="en-US" sz="5399" b="1" dirty="0">
                <a:latin typeface="Times New Roman" panose="02020603050405020304" pitchFamily="18" charset="0"/>
                <a:cs typeface="Times New Roman" panose="02020603050405020304" pitchFamily="18" charset="0"/>
              </a:rPr>
              <a:t>England districts.</a:t>
            </a:r>
            <a:endParaRPr lang="en-US" sz="5399" dirty="0">
              <a:latin typeface="Times New Roman" panose="02020603050405020304" pitchFamily="18" charset="0"/>
              <a:cs typeface="Times New Roman" panose="02020603050405020304" pitchFamily="18" charset="0"/>
            </a:endParaRPr>
          </a:p>
        </p:txBody>
      </p:sp>
      <p:pic>
        <p:nvPicPr>
          <p:cNvPr id="1051" name="Picture 16" descr="Traffic Cones PNG Transparent Images Free Download | Vector Files | Pngtree">
            <a:extLst>
              <a:ext uri="{FF2B5EF4-FFF2-40B4-BE49-F238E27FC236}">
                <a16:creationId xmlns:a16="http://schemas.microsoft.com/office/drawing/2014/main" id="{19874167-C216-8919-9E44-809DCB3532A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06973" y="8257059"/>
            <a:ext cx="829037" cy="829037"/>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1052">
            <a:extLst>
              <a:ext uri="{FF2B5EF4-FFF2-40B4-BE49-F238E27FC236}">
                <a16:creationId xmlns:a16="http://schemas.microsoft.com/office/drawing/2014/main" id="{81DA676D-8246-1EBE-7CBE-EF3BA572E54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0149" y="21776110"/>
            <a:ext cx="15656836" cy="11742624"/>
          </a:xfrm>
          <a:prstGeom prst="rect">
            <a:avLst/>
          </a:prstGeom>
        </p:spPr>
      </p:pic>
    </p:spTree>
    <p:extLst>
      <p:ext uri="{BB962C8B-B14F-4D97-AF65-F5344CB8AC3E}">
        <p14:creationId xmlns:p14="http://schemas.microsoft.com/office/powerpoint/2010/main" val="1257729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55" name="Picture 1054">
            <a:extLst>
              <a:ext uri="{FF2B5EF4-FFF2-40B4-BE49-F238E27FC236}">
                <a16:creationId xmlns:a16="http://schemas.microsoft.com/office/drawing/2014/main" id="{7114E62F-3028-83EB-3755-2B3E35A2A2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1132" y="20184553"/>
            <a:ext cx="17236021" cy="21468847"/>
          </a:xfrm>
          <a:prstGeom prst="rect">
            <a:avLst/>
          </a:prstGeom>
        </p:spPr>
      </p:pic>
      <p:pic>
        <p:nvPicPr>
          <p:cNvPr id="12" name="Picture 6" descr="Download Bicycle Black Siluete Png Image HQ PNG Image | FreePNGImg">
            <a:extLst>
              <a:ext uri="{FF2B5EF4-FFF2-40B4-BE49-F238E27FC236}">
                <a16:creationId xmlns:a16="http://schemas.microsoft.com/office/drawing/2014/main" id="{00895EB1-14DB-B4E6-EC62-2E6744855CE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artisticPhotocopy trans="3000"/>
                    </a14:imgEffect>
                  </a14:imgLayer>
                </a14:imgProps>
              </a:ext>
              <a:ext uri="{28A0092B-C50C-407E-A947-70E740481C1C}">
                <a14:useLocalDpi xmlns:a14="http://schemas.microsoft.com/office/drawing/2010/main" val="0"/>
              </a:ext>
            </a:extLst>
          </a:blip>
          <a:srcRect/>
          <a:stretch>
            <a:fillRect/>
          </a:stretch>
        </p:blipFill>
        <p:spPr bwMode="auto">
          <a:xfrm rot="16200000">
            <a:off x="-2930899" y="16560988"/>
            <a:ext cx="18014148" cy="10192460"/>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EA10203-C68B-652A-668D-2AB7F9BC2D2A}"/>
              </a:ext>
            </a:extLst>
          </p:cNvPr>
          <p:cNvSpPr/>
          <p:nvPr/>
        </p:nvSpPr>
        <p:spPr>
          <a:xfrm>
            <a:off x="0" y="-2"/>
            <a:ext cx="1672253" cy="42803765"/>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sp>
        <p:nvSpPr>
          <p:cNvPr id="32" name="Rectangle 31">
            <a:extLst>
              <a:ext uri="{FF2B5EF4-FFF2-40B4-BE49-F238E27FC236}">
                <a16:creationId xmlns:a16="http://schemas.microsoft.com/office/drawing/2014/main" id="{8A1D1318-DE55-96F3-0C9D-214AAD21C4FE}"/>
              </a:ext>
            </a:extLst>
          </p:cNvPr>
          <p:cNvSpPr/>
          <p:nvPr/>
        </p:nvSpPr>
        <p:spPr>
          <a:xfrm>
            <a:off x="1404462" y="-2"/>
            <a:ext cx="85329" cy="428037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pic>
        <p:nvPicPr>
          <p:cNvPr id="38" name="Picture 4" descr="Free Black And White Bicycle Images, Download Free Black And White Bicycle  Images png images, Free ClipArts on Clipart Library">
            <a:extLst>
              <a:ext uri="{FF2B5EF4-FFF2-40B4-BE49-F238E27FC236}">
                <a16:creationId xmlns:a16="http://schemas.microsoft.com/office/drawing/2014/main" id="{DEFFB945-94AA-FC1F-F7C0-2CBD361D31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8165" y="2915617"/>
            <a:ext cx="1366726" cy="1025912"/>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8D188EB5-D97B-14B8-59E8-7AE8216573F3}"/>
              </a:ext>
            </a:extLst>
          </p:cNvPr>
          <p:cNvSpPr txBox="1"/>
          <p:nvPr/>
        </p:nvSpPr>
        <p:spPr>
          <a:xfrm>
            <a:off x="10567899" y="291315"/>
            <a:ext cx="9139962" cy="1446230"/>
          </a:xfrm>
          <a:prstGeom prst="rect">
            <a:avLst/>
          </a:prstGeom>
          <a:noFill/>
        </p:spPr>
        <p:txBody>
          <a:bodyPr wrap="square" rtlCol="0">
            <a:spAutoFit/>
          </a:bodyPr>
          <a:lstStyle/>
          <a:p>
            <a:r>
              <a:rPr lang="en-IN" sz="8798" b="1" dirty="0">
                <a:latin typeface="Times New Roman" panose="02020603050405020304" pitchFamily="18" charset="0"/>
                <a:cs typeface="Times New Roman" panose="02020603050405020304" pitchFamily="18" charset="0"/>
              </a:rPr>
              <a:t>Is Cycling </a:t>
            </a:r>
            <a:r>
              <a:rPr lang="en-IN" sz="8798" b="1" u="sng" dirty="0">
                <a:solidFill>
                  <a:schemeClr val="accent6"/>
                </a:solidFill>
                <a:latin typeface="Times New Roman" panose="02020603050405020304" pitchFamily="18" charset="0"/>
                <a:cs typeface="Times New Roman" panose="02020603050405020304" pitchFamily="18" charset="0"/>
              </a:rPr>
              <a:t>Safer</a:t>
            </a:r>
            <a:r>
              <a:rPr lang="en-IN" sz="8798" b="1" dirty="0">
                <a:latin typeface="Times New Roman" panose="02020603050405020304" pitchFamily="18" charset="0"/>
                <a:cs typeface="Times New Roman" panose="02020603050405020304" pitchFamily="18" charset="0"/>
              </a:rPr>
              <a:t> ?</a:t>
            </a:r>
          </a:p>
        </p:txBody>
      </p:sp>
      <p:sp>
        <p:nvSpPr>
          <p:cNvPr id="42" name="TextBox 41">
            <a:extLst>
              <a:ext uri="{FF2B5EF4-FFF2-40B4-BE49-F238E27FC236}">
                <a16:creationId xmlns:a16="http://schemas.microsoft.com/office/drawing/2014/main" id="{D46F97AF-A5B3-7609-1620-DE65A8AF0A1E}"/>
              </a:ext>
            </a:extLst>
          </p:cNvPr>
          <p:cNvSpPr txBox="1"/>
          <p:nvPr/>
        </p:nvSpPr>
        <p:spPr>
          <a:xfrm>
            <a:off x="2053373" y="1865025"/>
            <a:ext cx="6709628"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INTRODUCTION:</a:t>
            </a:r>
            <a:endParaRPr lang="en-IN" sz="120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5A33D4B3-CF59-C6D6-EAAC-2928A8E11010}"/>
              </a:ext>
            </a:extLst>
          </p:cNvPr>
          <p:cNvSpPr txBox="1"/>
          <p:nvPr/>
        </p:nvSpPr>
        <p:spPr>
          <a:xfrm>
            <a:off x="2053370" y="3160778"/>
            <a:ext cx="13084238" cy="5908412"/>
          </a:xfrm>
          <a:prstGeom prst="rect">
            <a:avLst/>
          </a:prstGeom>
          <a:noFill/>
        </p:spPr>
        <p:txBody>
          <a:bodyPr wrap="square">
            <a:spAutoFit/>
          </a:bodyPr>
          <a:lstStyle/>
          <a:p>
            <a:pPr algn="just"/>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Modern age promotes use of pedal cycle more for environment and physical health benefits.</a:t>
            </a:r>
            <a:br>
              <a:rPr lang="en-IN" sz="5399" dirty="0">
                <a:latin typeface="Times New Roman" panose="02020603050405020304" pitchFamily="18" charset="0"/>
                <a:ea typeface="Sans Serif Collection" panose="020B0502040504020204" pitchFamily="34" charset="0"/>
                <a:cs typeface="Times New Roman" panose="02020603050405020304" pitchFamily="18" charset="0"/>
              </a:rPr>
            </a:b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This data analysis aims to investigate the involvement of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pedal cycles in collisions </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across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United Kingdom</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 for the period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2018 – 2022,</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 to address common WH questions about safety concerns related to pedal cycles.</a:t>
            </a:r>
            <a:endParaRPr lang="en-IN" sz="5399" b="1" dirty="0">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49" name="TextBox 48">
            <a:extLst>
              <a:ext uri="{FF2B5EF4-FFF2-40B4-BE49-F238E27FC236}">
                <a16:creationId xmlns:a16="http://schemas.microsoft.com/office/drawing/2014/main" id="{4699CDB0-07D6-E2A0-31D7-E458712F10D1}"/>
              </a:ext>
            </a:extLst>
          </p:cNvPr>
          <p:cNvSpPr txBox="1"/>
          <p:nvPr/>
        </p:nvSpPr>
        <p:spPr>
          <a:xfrm>
            <a:off x="2032626" y="9344926"/>
            <a:ext cx="5798860"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OBSERVATION:</a:t>
            </a:r>
            <a:endParaRPr lang="en-IN" sz="5399" dirty="0">
              <a:latin typeface="Times New Roman" panose="02020603050405020304" pitchFamily="18" charset="0"/>
              <a:cs typeface="Times New Roman" panose="02020603050405020304" pitchFamily="18" charset="0"/>
            </a:endParaRPr>
          </a:p>
        </p:txBody>
      </p:sp>
      <p:sp>
        <p:nvSpPr>
          <p:cNvPr id="1029" name="TextBox 1028">
            <a:extLst>
              <a:ext uri="{FF2B5EF4-FFF2-40B4-BE49-F238E27FC236}">
                <a16:creationId xmlns:a16="http://schemas.microsoft.com/office/drawing/2014/main" id="{2F4E8814-4B54-1A9C-76E1-01CE00D720CB}"/>
              </a:ext>
            </a:extLst>
          </p:cNvPr>
          <p:cNvSpPr txBox="1"/>
          <p:nvPr/>
        </p:nvSpPr>
        <p:spPr>
          <a:xfrm>
            <a:off x="15240598" y="1716727"/>
            <a:ext cx="6074979" cy="1200329"/>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CONCLUSION</a:t>
            </a:r>
            <a:r>
              <a:rPr lang="en-IN" sz="7200" b="1" u="sng" dirty="0">
                <a:latin typeface="Times New Roman" panose="02020603050405020304" pitchFamily="18" charset="0"/>
                <a:cs typeface="Times New Roman" panose="02020603050405020304" pitchFamily="18" charset="0"/>
              </a:rPr>
              <a:t>:</a:t>
            </a:r>
            <a:endParaRPr lang="en-IN" sz="468" dirty="0">
              <a:latin typeface="Times New Roman" panose="02020603050405020304" pitchFamily="18" charset="0"/>
              <a:cs typeface="Times New Roman" panose="02020603050405020304" pitchFamily="18" charset="0"/>
            </a:endParaRPr>
          </a:p>
        </p:txBody>
      </p:sp>
      <p:sp>
        <p:nvSpPr>
          <p:cNvPr id="1077" name="Arrow: Down 1076">
            <a:extLst>
              <a:ext uri="{FF2B5EF4-FFF2-40B4-BE49-F238E27FC236}">
                <a16:creationId xmlns:a16="http://schemas.microsoft.com/office/drawing/2014/main" id="{AF86C676-AF5D-5EDF-C89C-7F93B6B86ACA}"/>
              </a:ext>
            </a:extLst>
          </p:cNvPr>
          <p:cNvSpPr/>
          <p:nvPr/>
        </p:nvSpPr>
        <p:spPr>
          <a:xfrm>
            <a:off x="471976" y="6963580"/>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4" name="Picture 4" descr="Free Black And White Bicycle Images, Download Free Black And White Bicycle  Images png images, Free ClipArts on Clipart Library">
            <a:extLst>
              <a:ext uri="{FF2B5EF4-FFF2-40B4-BE49-F238E27FC236}">
                <a16:creationId xmlns:a16="http://schemas.microsoft.com/office/drawing/2014/main" id="{6792B8FD-EA13-08DE-CCDC-A0727A772D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12236867"/>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5" name="Arrow: Down 4">
            <a:extLst>
              <a:ext uri="{FF2B5EF4-FFF2-40B4-BE49-F238E27FC236}">
                <a16:creationId xmlns:a16="http://schemas.microsoft.com/office/drawing/2014/main" id="{915A2F39-37C3-CB93-2D8B-D5DE892C952B}"/>
              </a:ext>
            </a:extLst>
          </p:cNvPr>
          <p:cNvSpPr/>
          <p:nvPr/>
        </p:nvSpPr>
        <p:spPr>
          <a:xfrm>
            <a:off x="461469" y="16340958"/>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6" name="TextBox 5">
            <a:extLst>
              <a:ext uri="{FF2B5EF4-FFF2-40B4-BE49-F238E27FC236}">
                <a16:creationId xmlns:a16="http://schemas.microsoft.com/office/drawing/2014/main" id="{46DFDF63-DD6B-EE7F-B1FF-B02781321CF7}"/>
              </a:ext>
            </a:extLst>
          </p:cNvPr>
          <p:cNvSpPr txBox="1"/>
          <p:nvPr/>
        </p:nvSpPr>
        <p:spPr>
          <a:xfrm rot="18800103">
            <a:off x="11932601" y="18862527"/>
            <a:ext cx="355587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HOW</a:t>
            </a:r>
            <a:endParaRPr lang="en-IN" sz="3598" b="1" u="sn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E0B2075-306E-6DF9-071D-9C850E8D043B}"/>
              </a:ext>
            </a:extLst>
          </p:cNvPr>
          <p:cNvSpPr txBox="1"/>
          <p:nvPr/>
        </p:nvSpPr>
        <p:spPr>
          <a:xfrm rot="13615659">
            <a:off x="12129820" y="21028573"/>
            <a:ext cx="3447520" cy="1323247"/>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HOW</a:t>
            </a:r>
            <a:endParaRPr lang="en-IN" sz="3598" b="1" u="sng" dirty="0">
              <a:latin typeface="Times New Roman" panose="02020603050405020304" pitchFamily="18" charset="0"/>
              <a:cs typeface="Times New Roman" panose="02020603050405020304" pitchFamily="18" charset="0"/>
            </a:endParaRPr>
          </a:p>
          <a:p>
            <a:pPr algn="ctr"/>
            <a:endParaRPr lang="en-IN" sz="3598"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EE7A023-1623-91EC-205D-51A11735F41E}"/>
              </a:ext>
            </a:extLst>
          </p:cNvPr>
          <p:cNvSpPr txBox="1"/>
          <p:nvPr/>
        </p:nvSpPr>
        <p:spPr>
          <a:xfrm rot="8009455">
            <a:off x="15096524" y="21576626"/>
            <a:ext cx="267826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WHERE</a:t>
            </a:r>
            <a:endParaRPr lang="en-IN" sz="3598" dirty="0">
              <a:latin typeface="Times New Roman" panose="02020603050405020304" pitchFamily="18" charset="0"/>
              <a:cs typeface="Times New Roman" panose="02020603050405020304" pitchFamily="18" charset="0"/>
            </a:endParaRPr>
          </a:p>
        </p:txBody>
      </p:sp>
      <p:pic>
        <p:nvPicPr>
          <p:cNvPr id="15" name="Picture 4" descr="Free Black And White Bicycle Images, Download Free Black And White Bicycle  Images png images, Free ClipArts on Clipart Library">
            <a:extLst>
              <a:ext uri="{FF2B5EF4-FFF2-40B4-BE49-F238E27FC236}">
                <a16:creationId xmlns:a16="http://schemas.microsoft.com/office/drawing/2014/main" id="{89599FD4-0519-E20E-DD02-D48CC70362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2160815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16" name="Arrow: Down 15">
            <a:extLst>
              <a:ext uri="{FF2B5EF4-FFF2-40B4-BE49-F238E27FC236}">
                <a16:creationId xmlns:a16="http://schemas.microsoft.com/office/drawing/2014/main" id="{704A4F26-A41B-7C6A-07B5-F1004E24CCDD}"/>
              </a:ext>
            </a:extLst>
          </p:cNvPr>
          <p:cNvSpPr/>
          <p:nvPr/>
        </p:nvSpPr>
        <p:spPr>
          <a:xfrm>
            <a:off x="461469" y="25712240"/>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7" name="Picture 4" descr="Free Black And White Bicycle Images, Download Free Black And White Bicycle  Images png images, Free ClipArts on Clipart Library">
            <a:extLst>
              <a:ext uri="{FF2B5EF4-FFF2-40B4-BE49-F238E27FC236}">
                <a16:creationId xmlns:a16="http://schemas.microsoft.com/office/drawing/2014/main" id="{2369B72F-386E-787B-FF4E-6CA9B17860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15974" y="30991442"/>
            <a:ext cx="1427981" cy="1025914"/>
          </a:xfrm>
          <a:prstGeom prst="rect">
            <a:avLst/>
          </a:prstGeom>
          <a:noFill/>
          <a:extLst>
            <a:ext uri="{909E8E84-426E-40DD-AFC4-6F175D3DCCD1}">
              <a14:hiddenFill xmlns:a14="http://schemas.microsoft.com/office/drawing/2010/main">
                <a:solidFill>
                  <a:srgbClr val="FFFFFF"/>
                </a:solidFill>
              </a14:hiddenFill>
            </a:ext>
          </a:extLst>
        </p:spPr>
      </p:pic>
      <p:sp>
        <p:nvSpPr>
          <p:cNvPr id="18" name="Arrow: Down 17">
            <a:extLst>
              <a:ext uri="{FF2B5EF4-FFF2-40B4-BE49-F238E27FC236}">
                <a16:creationId xmlns:a16="http://schemas.microsoft.com/office/drawing/2014/main" id="{97A02F6C-D076-B1C8-8597-6C81803787D9}"/>
              </a:ext>
            </a:extLst>
          </p:cNvPr>
          <p:cNvSpPr/>
          <p:nvPr/>
        </p:nvSpPr>
        <p:spPr>
          <a:xfrm>
            <a:off x="502830" y="35081359"/>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9" name="Picture 4" descr="Free Black And White Bicycle Images, Download Free Black And White Bicycle  Images png images, Free ClipArts on Clipart Library">
            <a:extLst>
              <a:ext uri="{FF2B5EF4-FFF2-40B4-BE49-F238E27FC236}">
                <a16:creationId xmlns:a16="http://schemas.microsoft.com/office/drawing/2014/main" id="{DC906657-058D-79D9-B739-5A487ADF85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4034638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1377369-B23E-C68E-B145-0FCB4EC6F091}"/>
              </a:ext>
            </a:extLst>
          </p:cNvPr>
          <p:cNvSpPr txBox="1"/>
          <p:nvPr/>
        </p:nvSpPr>
        <p:spPr>
          <a:xfrm rot="2721329">
            <a:off x="15110509" y="18818099"/>
            <a:ext cx="267826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WHO</a:t>
            </a:r>
            <a:endParaRPr lang="en-IN" sz="4799"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AD6646B-78C2-9E06-0B0E-906F82794511}"/>
              </a:ext>
            </a:extLst>
          </p:cNvPr>
          <p:cNvSpPr txBox="1"/>
          <p:nvPr/>
        </p:nvSpPr>
        <p:spPr>
          <a:xfrm>
            <a:off x="14596003" y="19411224"/>
            <a:ext cx="1152295" cy="2215991"/>
          </a:xfrm>
          <a:prstGeom prst="rect">
            <a:avLst/>
          </a:prstGeom>
          <a:noFill/>
        </p:spPr>
        <p:txBody>
          <a:bodyPr wrap="square" rtlCol="0">
            <a:spAutoFit/>
          </a:bodyPr>
          <a:lstStyle/>
          <a:p>
            <a:r>
              <a:rPr lang="en-IN" sz="13800" b="1" u="sng" dirty="0">
                <a:latin typeface="Times New Roman" panose="02020603050405020304" pitchFamily="18" charset="0"/>
                <a:cs typeface="Times New Roman" panose="02020603050405020304" pitchFamily="18" charset="0"/>
              </a:rPr>
              <a:t>?</a:t>
            </a:r>
            <a:endParaRPr lang="en-IN" sz="13800" dirty="0"/>
          </a:p>
        </p:txBody>
      </p:sp>
      <p:cxnSp>
        <p:nvCxnSpPr>
          <p:cNvPr id="23" name="Straight Connector 22">
            <a:extLst>
              <a:ext uri="{FF2B5EF4-FFF2-40B4-BE49-F238E27FC236}">
                <a16:creationId xmlns:a16="http://schemas.microsoft.com/office/drawing/2014/main" id="{BBD84204-3D39-25D7-1EC7-A23B19694740}"/>
              </a:ext>
            </a:extLst>
          </p:cNvPr>
          <p:cNvCxnSpPr>
            <a:cxnSpLocks/>
          </p:cNvCxnSpPr>
          <p:nvPr/>
        </p:nvCxnSpPr>
        <p:spPr>
          <a:xfrm>
            <a:off x="8934364" y="20579890"/>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Diamond 27">
            <a:extLst>
              <a:ext uri="{FF2B5EF4-FFF2-40B4-BE49-F238E27FC236}">
                <a16:creationId xmlns:a16="http://schemas.microsoft.com/office/drawing/2014/main" id="{2A2B1C86-82BA-5994-8935-A32EC308CB27}"/>
              </a:ext>
            </a:extLst>
          </p:cNvPr>
          <p:cNvSpPr/>
          <p:nvPr/>
        </p:nvSpPr>
        <p:spPr>
          <a:xfrm>
            <a:off x="12846899" y="18250109"/>
            <a:ext cx="4480674" cy="4659571"/>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cxnSp>
        <p:nvCxnSpPr>
          <p:cNvPr id="31" name="Straight Connector 30">
            <a:extLst>
              <a:ext uri="{FF2B5EF4-FFF2-40B4-BE49-F238E27FC236}">
                <a16:creationId xmlns:a16="http://schemas.microsoft.com/office/drawing/2014/main" id="{253C2834-664A-F5A7-F373-ADAE6A0F7C3B}"/>
              </a:ext>
            </a:extLst>
          </p:cNvPr>
          <p:cNvCxnSpPr>
            <a:cxnSpLocks/>
          </p:cNvCxnSpPr>
          <p:nvPr/>
        </p:nvCxnSpPr>
        <p:spPr>
          <a:xfrm>
            <a:off x="17310824" y="20617992"/>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56BF68E-5F55-108B-870A-BE6C6BBF66F5}"/>
              </a:ext>
            </a:extLst>
          </p:cNvPr>
          <p:cNvCxnSpPr>
            <a:cxnSpLocks/>
          </p:cNvCxnSpPr>
          <p:nvPr/>
        </p:nvCxnSpPr>
        <p:spPr>
          <a:xfrm rot="16200000">
            <a:off x="13144468" y="16358745"/>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C57B0E6-E629-F9F4-719D-C0574A219B17}"/>
              </a:ext>
            </a:extLst>
          </p:cNvPr>
          <p:cNvCxnSpPr>
            <a:cxnSpLocks/>
          </p:cNvCxnSpPr>
          <p:nvPr/>
        </p:nvCxnSpPr>
        <p:spPr>
          <a:xfrm rot="16200000">
            <a:off x="13162201" y="24713542"/>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3BFA9B10-1A62-77B2-51B0-1274AA63026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21443192"/>
            <a:ext cx="15463366" cy="11597525"/>
          </a:xfrm>
          <a:prstGeom prst="rect">
            <a:avLst/>
          </a:prstGeom>
        </p:spPr>
      </p:pic>
      <p:sp>
        <p:nvSpPr>
          <p:cNvPr id="54" name="TextBox 53">
            <a:extLst>
              <a:ext uri="{FF2B5EF4-FFF2-40B4-BE49-F238E27FC236}">
                <a16:creationId xmlns:a16="http://schemas.microsoft.com/office/drawing/2014/main" id="{0E07F566-7457-8659-2B44-5D4F5E2A7B0B}"/>
              </a:ext>
            </a:extLst>
          </p:cNvPr>
          <p:cNvSpPr txBox="1"/>
          <p:nvPr/>
        </p:nvSpPr>
        <p:spPr>
          <a:xfrm>
            <a:off x="16779893" y="10575925"/>
            <a:ext cx="12651490" cy="1754070"/>
          </a:xfrm>
          <a:prstGeom prst="rect">
            <a:avLst/>
          </a:prstGeom>
          <a:noFill/>
        </p:spPr>
        <p:txBody>
          <a:bodyPr wrap="square" rtlCol="0">
            <a:spAutoFit/>
          </a:bodyPr>
          <a:lstStyle/>
          <a:p>
            <a:pPr algn="ctr"/>
            <a:r>
              <a:rPr lang="en-IN" sz="5399" b="1" dirty="0">
                <a:latin typeface="Times New Roman" panose="02020603050405020304" pitchFamily="18" charset="0"/>
                <a:cs typeface="Times New Roman" panose="02020603050405020304" pitchFamily="18" charset="0"/>
              </a:rPr>
              <a:t>Top Age Bands in Cycle Collisions as per Severity &amp; Gender</a:t>
            </a:r>
          </a:p>
        </p:txBody>
      </p:sp>
      <p:sp>
        <p:nvSpPr>
          <p:cNvPr id="55" name="TextBox 54">
            <a:extLst>
              <a:ext uri="{FF2B5EF4-FFF2-40B4-BE49-F238E27FC236}">
                <a16:creationId xmlns:a16="http://schemas.microsoft.com/office/drawing/2014/main" id="{01E49A8C-611F-1E14-6DA7-5478B899D6D1}"/>
              </a:ext>
            </a:extLst>
          </p:cNvPr>
          <p:cNvSpPr txBox="1"/>
          <p:nvPr/>
        </p:nvSpPr>
        <p:spPr>
          <a:xfrm>
            <a:off x="16288431" y="41008652"/>
            <a:ext cx="13401880" cy="1569404"/>
          </a:xfrm>
          <a:prstGeom prst="rect">
            <a:avLst/>
          </a:prstGeom>
          <a:noFill/>
        </p:spPr>
        <p:txBody>
          <a:bodyPr wrap="square">
            <a:spAutoFit/>
          </a:bodyPr>
          <a:lstStyle/>
          <a:p>
            <a:r>
              <a:rPr lang="en-IN" sz="4799" b="1" u="sng" dirty="0">
                <a:latin typeface="Times New Roman" panose="02020603050405020304" pitchFamily="18" charset="0"/>
                <a:cs typeface="Times New Roman" panose="02020603050405020304" pitchFamily="18" charset="0"/>
              </a:rPr>
              <a:t>Source Data:</a:t>
            </a:r>
            <a:r>
              <a:rPr lang="en-IN" sz="4799" b="1" dirty="0">
                <a:latin typeface="Times New Roman" panose="02020603050405020304" pitchFamily="18" charset="0"/>
                <a:cs typeface="Times New Roman" panose="02020603050405020304" pitchFamily="18" charset="0"/>
              </a:rPr>
              <a:t> Stats19 UK Collision Data 2018-2022</a:t>
            </a:r>
          </a:p>
          <a:p>
            <a:r>
              <a:rPr lang="en-IN" sz="4799" b="1" u="sng" dirty="0">
                <a:latin typeface="Times New Roman" panose="02020603050405020304" pitchFamily="18" charset="0"/>
                <a:cs typeface="Times New Roman" panose="02020603050405020304" pitchFamily="18" charset="0"/>
              </a:rPr>
              <a:t>Poster Design</a:t>
            </a:r>
            <a:r>
              <a:rPr lang="en-IN" sz="4799" b="1" dirty="0">
                <a:latin typeface="Times New Roman" panose="02020603050405020304" pitchFamily="18" charset="0"/>
                <a:cs typeface="Times New Roman" panose="02020603050405020304" pitchFamily="18" charset="0"/>
              </a:rPr>
              <a:t>: Akson SV, 2311233</a:t>
            </a:r>
          </a:p>
        </p:txBody>
      </p:sp>
      <p:sp>
        <p:nvSpPr>
          <p:cNvPr id="56" name="Oval 55">
            <a:extLst>
              <a:ext uri="{FF2B5EF4-FFF2-40B4-BE49-F238E27FC236}">
                <a16:creationId xmlns:a16="http://schemas.microsoft.com/office/drawing/2014/main" id="{371B8C32-2D8E-3467-14B4-BAD1E4869ACA}"/>
              </a:ext>
            </a:extLst>
          </p:cNvPr>
          <p:cNvSpPr/>
          <p:nvPr/>
        </p:nvSpPr>
        <p:spPr>
          <a:xfrm>
            <a:off x="28239041" y="16839193"/>
            <a:ext cx="1635148" cy="171382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57" name="Arrow: Down 56">
            <a:extLst>
              <a:ext uri="{FF2B5EF4-FFF2-40B4-BE49-F238E27FC236}">
                <a16:creationId xmlns:a16="http://schemas.microsoft.com/office/drawing/2014/main" id="{62A8E883-DB82-D1BB-54A9-C20FD72F904E}"/>
              </a:ext>
            </a:extLst>
          </p:cNvPr>
          <p:cNvSpPr/>
          <p:nvPr/>
        </p:nvSpPr>
        <p:spPr>
          <a:xfrm rot="10800000">
            <a:off x="28784233" y="16277684"/>
            <a:ext cx="599540" cy="1155729"/>
          </a:xfrm>
          <a:prstGeom prst="dow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60" name="Oval 59">
            <a:extLst>
              <a:ext uri="{FF2B5EF4-FFF2-40B4-BE49-F238E27FC236}">
                <a16:creationId xmlns:a16="http://schemas.microsoft.com/office/drawing/2014/main" id="{88B626DD-11F9-0114-EB04-A9037B6D1BCA}"/>
              </a:ext>
            </a:extLst>
          </p:cNvPr>
          <p:cNvSpPr/>
          <p:nvPr/>
        </p:nvSpPr>
        <p:spPr>
          <a:xfrm>
            <a:off x="28237281" y="13936498"/>
            <a:ext cx="1614961" cy="1713821"/>
          </a:xfrm>
          <a:prstGeom prst="ellipse">
            <a:avLst/>
          </a:prstGeom>
          <a:solidFill>
            <a:srgbClr val="FFC0CB"/>
          </a:solidFill>
          <a:ln>
            <a:solidFill>
              <a:srgbClr val="FFC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62" name="Oval 61">
            <a:extLst>
              <a:ext uri="{FF2B5EF4-FFF2-40B4-BE49-F238E27FC236}">
                <a16:creationId xmlns:a16="http://schemas.microsoft.com/office/drawing/2014/main" id="{30B623EF-0892-6F9A-41DD-AE034CAB5696}"/>
              </a:ext>
            </a:extLst>
          </p:cNvPr>
          <p:cNvSpPr/>
          <p:nvPr/>
        </p:nvSpPr>
        <p:spPr>
          <a:xfrm>
            <a:off x="28489955" y="14198614"/>
            <a:ext cx="1088725" cy="115572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26" name="Plus Sign 1025">
            <a:extLst>
              <a:ext uri="{FF2B5EF4-FFF2-40B4-BE49-F238E27FC236}">
                <a16:creationId xmlns:a16="http://schemas.microsoft.com/office/drawing/2014/main" id="{60FB1CBF-C941-44F3-12F5-4359FC0A572C}"/>
              </a:ext>
            </a:extLst>
          </p:cNvPr>
          <p:cNvSpPr/>
          <p:nvPr/>
        </p:nvSpPr>
        <p:spPr>
          <a:xfrm>
            <a:off x="28402467" y="12979280"/>
            <a:ext cx="1317488" cy="1372732"/>
          </a:xfrm>
          <a:prstGeom prst="mathPlus">
            <a:avLst/>
          </a:prstGeom>
          <a:solidFill>
            <a:srgbClr val="FFC0CB"/>
          </a:solidFill>
          <a:ln>
            <a:solidFill>
              <a:srgbClr val="FFC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graphicFrame>
        <p:nvGraphicFramePr>
          <p:cNvPr id="1027" name="Table 1026">
            <a:extLst>
              <a:ext uri="{FF2B5EF4-FFF2-40B4-BE49-F238E27FC236}">
                <a16:creationId xmlns:a16="http://schemas.microsoft.com/office/drawing/2014/main" id="{1CC95592-2EAB-2FD9-CD71-FA993A4D94FB}"/>
              </a:ext>
            </a:extLst>
          </p:cNvPr>
          <p:cNvGraphicFramePr>
            <a:graphicFrameLocks noGrp="1"/>
          </p:cNvGraphicFramePr>
          <p:nvPr>
            <p:extLst>
              <p:ext uri="{D42A27DB-BD31-4B8C-83A1-F6EECF244321}">
                <p14:modId xmlns:p14="http://schemas.microsoft.com/office/powerpoint/2010/main" val="1666014041"/>
              </p:ext>
            </p:extLst>
          </p:nvPr>
        </p:nvGraphicFramePr>
        <p:xfrm>
          <a:off x="17444552" y="13244053"/>
          <a:ext cx="10606854" cy="5723896"/>
        </p:xfrm>
        <a:graphic>
          <a:graphicData uri="http://schemas.openxmlformats.org/drawingml/2006/table">
            <a:tbl>
              <a:tblPr firstRow="1" bandRow="1">
                <a:tableStyleId>{5940675A-B579-460E-94D1-54222C63F5DA}</a:tableStyleId>
              </a:tblPr>
              <a:tblGrid>
                <a:gridCol w="3535618">
                  <a:extLst>
                    <a:ext uri="{9D8B030D-6E8A-4147-A177-3AD203B41FA5}">
                      <a16:colId xmlns:a16="http://schemas.microsoft.com/office/drawing/2014/main" val="1040416973"/>
                    </a:ext>
                  </a:extLst>
                </a:gridCol>
                <a:gridCol w="3535618">
                  <a:extLst>
                    <a:ext uri="{9D8B030D-6E8A-4147-A177-3AD203B41FA5}">
                      <a16:colId xmlns:a16="http://schemas.microsoft.com/office/drawing/2014/main" val="4256780530"/>
                    </a:ext>
                  </a:extLst>
                </a:gridCol>
                <a:gridCol w="3535618">
                  <a:extLst>
                    <a:ext uri="{9D8B030D-6E8A-4147-A177-3AD203B41FA5}">
                      <a16:colId xmlns:a16="http://schemas.microsoft.com/office/drawing/2014/main" val="950959739"/>
                    </a:ext>
                  </a:extLst>
                </a:gridCol>
              </a:tblGrid>
              <a:tr h="2861948">
                <a:tc>
                  <a:txBody>
                    <a:bodyPr/>
                    <a:lstStyle/>
                    <a:p>
                      <a:pPr algn="ctr"/>
                      <a:r>
                        <a:rPr lang="en-IN" sz="1300" dirty="0"/>
                        <a:t>46-55</a:t>
                      </a:r>
                    </a:p>
                    <a:p>
                      <a:pPr algn="ctr"/>
                      <a:r>
                        <a:rPr lang="en-IN" sz="4400" b="1" dirty="0"/>
                        <a:t>21.5%</a:t>
                      </a:r>
                      <a:endParaRPr lang="en-IN" sz="1300" dirty="0"/>
                    </a:p>
                  </a:txBody>
                  <a:tcPr marL="91439" marR="91439" marT="45722" marB="45722" anchor="ctr"/>
                </a:tc>
                <a:tc>
                  <a:txBody>
                    <a:bodyPr/>
                    <a:lstStyle/>
                    <a:p>
                      <a:pPr algn="ctr"/>
                      <a:r>
                        <a:rPr lang="en-IN" sz="1300" dirty="0"/>
                        <a:t>26-35</a:t>
                      </a:r>
                    </a:p>
                    <a:p>
                      <a:pPr algn="ctr"/>
                      <a:r>
                        <a:rPr lang="en-IN" sz="4900" b="1" dirty="0"/>
                        <a:t>22.3%</a:t>
                      </a:r>
                    </a:p>
                  </a:txBody>
                  <a:tcPr marL="91439" marR="91439" marT="45722" marB="45722" anchor="ctr"/>
                </a:tc>
                <a:tc>
                  <a:txBody>
                    <a:bodyPr/>
                    <a:lstStyle/>
                    <a:p>
                      <a:pPr algn="ctr"/>
                      <a:r>
                        <a:rPr lang="en-IN" sz="1300" dirty="0"/>
                        <a:t>26-35</a:t>
                      </a:r>
                    </a:p>
                    <a:p>
                      <a:pPr algn="ctr"/>
                      <a:r>
                        <a:rPr lang="en-IN" sz="5300" b="1" dirty="0"/>
                        <a:t>28.9%</a:t>
                      </a:r>
                    </a:p>
                  </a:txBody>
                  <a:tcPr marL="91439" marR="91439" marT="45722" marB="45722" anchor="ctr"/>
                </a:tc>
                <a:extLst>
                  <a:ext uri="{0D108BD9-81ED-4DB2-BD59-A6C34878D82A}">
                    <a16:rowId xmlns:a16="http://schemas.microsoft.com/office/drawing/2014/main" val="3440127682"/>
                  </a:ext>
                </a:extLst>
              </a:tr>
              <a:tr h="2861948">
                <a:tc>
                  <a:txBody>
                    <a:bodyPr/>
                    <a:lstStyle/>
                    <a:p>
                      <a:pPr algn="ctr"/>
                      <a:r>
                        <a:rPr lang="en-IN" sz="1300" dirty="0"/>
                        <a:t>56-65</a:t>
                      </a:r>
                    </a:p>
                    <a:p>
                      <a:pPr algn="ctr"/>
                      <a:r>
                        <a:rPr lang="en-IN" sz="4000" b="1" dirty="0"/>
                        <a:t>18.7%</a:t>
                      </a:r>
                    </a:p>
                  </a:txBody>
                  <a:tcPr marL="91439" marR="91439" marT="45722" marB="45722" anchor="ctr"/>
                </a:tc>
                <a:tc>
                  <a:txBody>
                    <a:bodyPr/>
                    <a:lstStyle/>
                    <a:p>
                      <a:pPr algn="ctr"/>
                      <a:r>
                        <a:rPr lang="en-IN" sz="1300" dirty="0"/>
                        <a:t>46-55</a:t>
                      </a:r>
                    </a:p>
                    <a:p>
                      <a:pPr algn="ctr"/>
                      <a:r>
                        <a:rPr lang="en-IN" sz="4900" b="1" dirty="0"/>
                        <a:t>19.3%</a:t>
                      </a:r>
                    </a:p>
                  </a:txBody>
                  <a:tcPr marL="91439" marR="91439" marT="45722" marB="45722" anchor="ctr"/>
                </a:tc>
                <a:tc>
                  <a:txBody>
                    <a:bodyPr/>
                    <a:lstStyle/>
                    <a:p>
                      <a:pPr algn="ctr"/>
                      <a:r>
                        <a:rPr lang="en-IN" sz="1300" dirty="0"/>
                        <a:t>26-35</a:t>
                      </a:r>
                    </a:p>
                    <a:p>
                      <a:pPr algn="ctr"/>
                      <a:r>
                        <a:rPr lang="en-IN" sz="5300" b="1" dirty="0"/>
                        <a:t>22.2%</a:t>
                      </a:r>
                    </a:p>
                  </a:txBody>
                  <a:tcPr marL="91439" marR="91439" marT="45722" marB="45722" anchor="ctr"/>
                </a:tc>
                <a:extLst>
                  <a:ext uri="{0D108BD9-81ED-4DB2-BD59-A6C34878D82A}">
                    <a16:rowId xmlns:a16="http://schemas.microsoft.com/office/drawing/2014/main" val="3602409120"/>
                  </a:ext>
                </a:extLst>
              </a:tr>
            </a:tbl>
          </a:graphicData>
        </a:graphic>
      </p:graphicFrame>
      <p:sp>
        <p:nvSpPr>
          <p:cNvPr id="1028" name="TextBox 1027">
            <a:extLst>
              <a:ext uri="{FF2B5EF4-FFF2-40B4-BE49-F238E27FC236}">
                <a16:creationId xmlns:a16="http://schemas.microsoft.com/office/drawing/2014/main" id="{853F4E17-EFDC-0F3F-BA58-EF3B119D9955}"/>
              </a:ext>
            </a:extLst>
          </p:cNvPr>
          <p:cNvSpPr txBox="1"/>
          <p:nvPr/>
        </p:nvSpPr>
        <p:spPr>
          <a:xfrm>
            <a:off x="16545797" y="21699618"/>
            <a:ext cx="13348331" cy="1015534"/>
          </a:xfrm>
          <a:prstGeom prst="rect">
            <a:avLst/>
          </a:prstGeom>
          <a:noFill/>
        </p:spPr>
        <p:txBody>
          <a:bodyPr wrap="square" rtlCol="0">
            <a:spAutoFit/>
          </a:bodyPr>
          <a:lstStyle/>
          <a:p>
            <a:pPr algn="ctr"/>
            <a:r>
              <a:rPr lang="en-IN" sz="5999" b="1" dirty="0">
                <a:latin typeface="Times New Roman" panose="02020603050405020304" pitchFamily="18" charset="0"/>
                <a:cs typeface="Times New Roman" panose="02020603050405020304" pitchFamily="18" charset="0"/>
              </a:rPr>
              <a:t>Cycle Collision Counts in UK Districts</a:t>
            </a:r>
          </a:p>
        </p:txBody>
      </p:sp>
      <p:sp>
        <p:nvSpPr>
          <p:cNvPr id="1030" name="TextBox 1029">
            <a:extLst>
              <a:ext uri="{FF2B5EF4-FFF2-40B4-BE49-F238E27FC236}">
                <a16:creationId xmlns:a16="http://schemas.microsoft.com/office/drawing/2014/main" id="{2CA405D0-C01E-D0DC-BD78-E2DFCA8A851E}"/>
              </a:ext>
            </a:extLst>
          </p:cNvPr>
          <p:cNvSpPr txBox="1"/>
          <p:nvPr/>
        </p:nvSpPr>
        <p:spPr>
          <a:xfrm>
            <a:off x="17832222" y="12469493"/>
            <a:ext cx="3425703" cy="830868"/>
          </a:xfrm>
          <a:prstGeom prst="rect">
            <a:avLst/>
          </a:prstGeom>
          <a:noFill/>
        </p:spPr>
        <p:txBody>
          <a:bodyPr wrap="square" rtlCol="0" anchor="ctr">
            <a:spAutoFit/>
          </a:bodyPr>
          <a:lstStyle/>
          <a:p>
            <a:pPr algn="ctr"/>
            <a:r>
              <a:rPr lang="en-IN" sz="4401" b="1" dirty="0">
                <a:latin typeface="Times New Roman" panose="02020603050405020304" pitchFamily="18" charset="0"/>
                <a:cs typeface="Times New Roman" panose="02020603050405020304" pitchFamily="18" charset="0"/>
              </a:rPr>
              <a:t>    Fatal</a:t>
            </a:r>
            <a:r>
              <a:rPr lang="en-IN" sz="4799" b="1" dirty="0">
                <a:latin typeface="Times New Roman" panose="02020603050405020304" pitchFamily="18" charset="0"/>
                <a:cs typeface="Times New Roman" panose="02020603050405020304" pitchFamily="18" charset="0"/>
              </a:rPr>
              <a:t>       | </a:t>
            </a:r>
          </a:p>
        </p:txBody>
      </p:sp>
      <p:sp>
        <p:nvSpPr>
          <p:cNvPr id="1031" name="TextBox 1030">
            <a:extLst>
              <a:ext uri="{FF2B5EF4-FFF2-40B4-BE49-F238E27FC236}">
                <a16:creationId xmlns:a16="http://schemas.microsoft.com/office/drawing/2014/main" id="{2D5B2C4E-CA11-6A6A-F990-A16EE6CC4538}"/>
              </a:ext>
            </a:extLst>
          </p:cNvPr>
          <p:cNvSpPr txBox="1"/>
          <p:nvPr/>
        </p:nvSpPr>
        <p:spPr>
          <a:xfrm>
            <a:off x="20818939" y="12466714"/>
            <a:ext cx="3942739" cy="830868"/>
          </a:xfrm>
          <a:prstGeom prst="rect">
            <a:avLst/>
          </a:prstGeom>
          <a:noFill/>
        </p:spPr>
        <p:txBody>
          <a:bodyPr wrap="square" rtlCol="0">
            <a:spAutoFit/>
          </a:bodyPr>
          <a:lstStyle/>
          <a:p>
            <a:pPr algn="ctr"/>
            <a:r>
              <a:rPr lang="en-IN" sz="4799" b="1" dirty="0">
                <a:latin typeface="Times New Roman" panose="02020603050405020304" pitchFamily="18" charset="0"/>
                <a:cs typeface="Times New Roman" panose="02020603050405020304" pitchFamily="18" charset="0"/>
              </a:rPr>
              <a:t>     </a:t>
            </a:r>
            <a:r>
              <a:rPr lang="en-IN" sz="4401" b="1" dirty="0">
                <a:latin typeface="Times New Roman" panose="02020603050405020304" pitchFamily="18" charset="0"/>
                <a:cs typeface="Times New Roman" panose="02020603050405020304" pitchFamily="18" charset="0"/>
              </a:rPr>
              <a:t>Serious</a:t>
            </a:r>
            <a:r>
              <a:rPr lang="en-IN" sz="4799" b="1" dirty="0">
                <a:latin typeface="Times New Roman" panose="02020603050405020304" pitchFamily="18" charset="0"/>
                <a:cs typeface="Times New Roman" panose="02020603050405020304" pitchFamily="18" charset="0"/>
              </a:rPr>
              <a:t>      |</a:t>
            </a:r>
          </a:p>
        </p:txBody>
      </p:sp>
      <p:sp>
        <p:nvSpPr>
          <p:cNvPr id="1032" name="TextBox 1031">
            <a:extLst>
              <a:ext uri="{FF2B5EF4-FFF2-40B4-BE49-F238E27FC236}">
                <a16:creationId xmlns:a16="http://schemas.microsoft.com/office/drawing/2014/main" id="{212651FB-0550-D267-380C-3F863071CE01}"/>
              </a:ext>
            </a:extLst>
          </p:cNvPr>
          <p:cNvSpPr txBox="1"/>
          <p:nvPr/>
        </p:nvSpPr>
        <p:spPr>
          <a:xfrm>
            <a:off x="24818317" y="12446787"/>
            <a:ext cx="3020012" cy="769570"/>
          </a:xfrm>
          <a:prstGeom prst="rect">
            <a:avLst/>
          </a:prstGeom>
          <a:noFill/>
        </p:spPr>
        <p:txBody>
          <a:bodyPr wrap="square" rtlCol="0" anchor="ctr">
            <a:spAutoFit/>
          </a:bodyPr>
          <a:lstStyle/>
          <a:p>
            <a:pPr algn="ctr"/>
            <a:r>
              <a:rPr lang="en-IN" sz="4401" b="1" dirty="0">
                <a:latin typeface="Times New Roman" panose="02020603050405020304" pitchFamily="18" charset="0"/>
                <a:cs typeface="Times New Roman" panose="02020603050405020304" pitchFamily="18" charset="0"/>
              </a:rPr>
              <a:t>Slight</a:t>
            </a:r>
            <a:endParaRPr lang="en-IN" sz="4799" b="1" dirty="0">
              <a:latin typeface="Times New Roman" panose="02020603050405020304" pitchFamily="18" charset="0"/>
              <a:cs typeface="Times New Roman" panose="02020603050405020304" pitchFamily="18" charset="0"/>
            </a:endParaRPr>
          </a:p>
        </p:txBody>
      </p:sp>
      <p:pic>
        <p:nvPicPr>
          <p:cNvPr id="1035" name="Picture 20" descr="Green go traffic road sign on transparent background PNG - Similar PNG">
            <a:extLst>
              <a:ext uri="{FF2B5EF4-FFF2-40B4-BE49-F238E27FC236}">
                <a16:creationId xmlns:a16="http://schemas.microsoft.com/office/drawing/2014/main" id="{FFC888D7-F969-34E2-75C8-50A1824F986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0688" t="10495" r="10861" b="13634"/>
          <a:stretch/>
        </p:blipFill>
        <p:spPr bwMode="auto">
          <a:xfrm>
            <a:off x="15474891" y="3174863"/>
            <a:ext cx="677731" cy="655438"/>
          </a:xfrm>
          <a:prstGeom prst="ellipse">
            <a:avLst/>
          </a:prstGeom>
          <a:noFill/>
          <a:extLst>
            <a:ext uri="{909E8E84-426E-40DD-AFC4-6F175D3DCCD1}">
              <a14:hiddenFill xmlns:a14="http://schemas.microsoft.com/office/drawing/2010/main">
                <a:solidFill>
                  <a:srgbClr val="FFFFFF"/>
                </a:solidFill>
              </a14:hiddenFill>
            </a:ext>
          </a:extLst>
        </p:spPr>
      </p:pic>
      <p:sp>
        <p:nvSpPr>
          <p:cNvPr id="1036" name="TextBox 1035">
            <a:extLst>
              <a:ext uri="{FF2B5EF4-FFF2-40B4-BE49-F238E27FC236}">
                <a16:creationId xmlns:a16="http://schemas.microsoft.com/office/drawing/2014/main" id="{D9E08B11-20C8-56A9-2E74-CB7D880CCCE2}"/>
              </a:ext>
            </a:extLst>
          </p:cNvPr>
          <p:cNvSpPr txBox="1"/>
          <p:nvPr/>
        </p:nvSpPr>
        <p:spPr>
          <a:xfrm>
            <a:off x="16470653" y="2960047"/>
            <a:ext cx="11335913" cy="923201"/>
          </a:xfrm>
          <a:prstGeom prst="rect">
            <a:avLst/>
          </a:prstGeom>
          <a:noFill/>
        </p:spPr>
        <p:txBody>
          <a:bodyPr wrap="square">
            <a:spAutoFit/>
          </a:bodyPr>
          <a:lstStyle/>
          <a:p>
            <a:pPr algn="just"/>
            <a:r>
              <a:rPr lang="en-IN" sz="5399" dirty="0">
                <a:latin typeface="Times New Roman" panose="02020603050405020304" pitchFamily="18" charset="0"/>
                <a:cs typeface="Times New Roman" panose="02020603050405020304" pitchFamily="18" charset="0"/>
              </a:rPr>
              <a:t>Cycles are </a:t>
            </a:r>
            <a:r>
              <a:rPr lang="en-IN" sz="5399" b="1" dirty="0">
                <a:latin typeface="Times New Roman" panose="02020603050405020304" pitchFamily="18" charset="0"/>
                <a:cs typeface="Times New Roman" panose="02020603050405020304" pitchFamily="18" charset="0"/>
              </a:rPr>
              <a:t>becoming</a:t>
            </a:r>
            <a:r>
              <a:rPr lang="en-IN" sz="5399" dirty="0">
                <a:latin typeface="Times New Roman" panose="02020603050405020304" pitchFamily="18" charset="0"/>
                <a:cs typeface="Times New Roman" panose="02020603050405020304" pitchFamily="18" charset="0"/>
              </a:rPr>
              <a:t> </a:t>
            </a:r>
            <a:r>
              <a:rPr lang="en-IN" sz="5399" b="1" u="sng" dirty="0">
                <a:solidFill>
                  <a:schemeClr val="accent6"/>
                </a:solidFill>
                <a:latin typeface="Times New Roman" panose="02020603050405020304" pitchFamily="18" charset="0"/>
                <a:cs typeface="Times New Roman" panose="02020603050405020304" pitchFamily="18" charset="0"/>
              </a:rPr>
              <a:t>safer</a:t>
            </a:r>
            <a:r>
              <a:rPr lang="en-IN" sz="5399" dirty="0">
                <a:latin typeface="Times New Roman" panose="02020603050405020304" pitchFamily="18" charset="0"/>
                <a:cs typeface="Times New Roman" panose="02020603050405020304" pitchFamily="18" charset="0"/>
              </a:rPr>
              <a:t> in general.</a:t>
            </a:r>
          </a:p>
        </p:txBody>
      </p:sp>
      <p:sp>
        <p:nvSpPr>
          <p:cNvPr id="1038" name="TextBox 1037">
            <a:extLst>
              <a:ext uri="{FF2B5EF4-FFF2-40B4-BE49-F238E27FC236}">
                <a16:creationId xmlns:a16="http://schemas.microsoft.com/office/drawing/2014/main" id="{D38E07E3-8971-8495-45F8-C44A49A1E107}"/>
              </a:ext>
            </a:extLst>
          </p:cNvPr>
          <p:cNvSpPr txBox="1"/>
          <p:nvPr/>
        </p:nvSpPr>
        <p:spPr>
          <a:xfrm>
            <a:off x="16515424" y="4145006"/>
            <a:ext cx="12268807" cy="923201"/>
          </a:xfrm>
          <a:prstGeom prst="rect">
            <a:avLst/>
          </a:prstGeom>
          <a:noFill/>
        </p:spPr>
        <p:txBody>
          <a:bodyPr wrap="square">
            <a:spAutoFit/>
          </a:bodyPr>
          <a:lstStyle/>
          <a:p>
            <a:pPr algn="just"/>
            <a:r>
              <a:rPr lang="en-IN" sz="5399" b="1" dirty="0">
                <a:latin typeface="Times New Roman" panose="02020603050405020304" pitchFamily="18" charset="0"/>
                <a:cs typeface="Times New Roman" panose="02020603050405020304" pitchFamily="18" charset="0"/>
              </a:rPr>
              <a:t>1% </a:t>
            </a:r>
            <a:r>
              <a:rPr lang="en-IN" sz="5399" dirty="0">
                <a:latin typeface="Times New Roman" panose="02020603050405020304" pitchFamily="18" charset="0"/>
                <a:cs typeface="Times New Roman" panose="02020603050405020304" pitchFamily="18" charset="0"/>
              </a:rPr>
              <a:t>fatal, </a:t>
            </a:r>
            <a:r>
              <a:rPr lang="en-IN" sz="5399" b="1" dirty="0">
                <a:latin typeface="Times New Roman" panose="02020603050405020304" pitchFamily="18" charset="0"/>
                <a:cs typeface="Times New Roman" panose="02020603050405020304" pitchFamily="18" charset="0"/>
              </a:rPr>
              <a:t>23% </a:t>
            </a:r>
            <a:r>
              <a:rPr lang="en-IN" sz="5399" dirty="0">
                <a:latin typeface="Times New Roman" panose="02020603050405020304" pitchFamily="18" charset="0"/>
                <a:cs typeface="Times New Roman" panose="02020603050405020304" pitchFamily="18" charset="0"/>
              </a:rPr>
              <a:t>serious, </a:t>
            </a:r>
            <a:r>
              <a:rPr lang="en-IN" sz="5399" b="1" dirty="0">
                <a:latin typeface="Times New Roman" panose="02020603050405020304" pitchFamily="18" charset="0"/>
                <a:cs typeface="Times New Roman" panose="02020603050405020304" pitchFamily="18" charset="0"/>
              </a:rPr>
              <a:t>76% </a:t>
            </a:r>
            <a:r>
              <a:rPr lang="en-IN" sz="5399" dirty="0">
                <a:latin typeface="Times New Roman" panose="02020603050405020304" pitchFamily="18" charset="0"/>
                <a:cs typeface="Times New Roman" panose="02020603050405020304" pitchFamily="18" charset="0"/>
              </a:rPr>
              <a:t>slight injuries.</a:t>
            </a:r>
          </a:p>
        </p:txBody>
      </p:sp>
      <p:pic>
        <p:nvPicPr>
          <p:cNvPr id="1039" name="Picture 16" descr="Traffic Cones PNG Transparent Images Free Download | Vector Files | Pngtree">
            <a:extLst>
              <a:ext uri="{FF2B5EF4-FFF2-40B4-BE49-F238E27FC236}">
                <a16:creationId xmlns:a16="http://schemas.microsoft.com/office/drawing/2014/main" id="{011360C2-C86C-50FC-306C-FCE8DE78F17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00179" y="4109351"/>
            <a:ext cx="829037" cy="829037"/>
          </a:xfrm>
          <a:prstGeom prst="rect">
            <a:avLst/>
          </a:prstGeom>
          <a:noFill/>
          <a:extLst>
            <a:ext uri="{909E8E84-426E-40DD-AFC4-6F175D3DCCD1}">
              <a14:hiddenFill xmlns:a14="http://schemas.microsoft.com/office/drawing/2010/main">
                <a:solidFill>
                  <a:srgbClr val="FFFFFF"/>
                </a:solidFill>
              </a14:hiddenFill>
            </a:ext>
          </a:extLst>
        </p:spPr>
      </p:pic>
      <p:sp>
        <p:nvSpPr>
          <p:cNvPr id="1041" name="TextBox 1040">
            <a:extLst>
              <a:ext uri="{FF2B5EF4-FFF2-40B4-BE49-F238E27FC236}">
                <a16:creationId xmlns:a16="http://schemas.microsoft.com/office/drawing/2014/main" id="{B836165D-3967-8400-6D76-380FB7BFB029}"/>
              </a:ext>
            </a:extLst>
          </p:cNvPr>
          <p:cNvSpPr txBox="1"/>
          <p:nvPr/>
        </p:nvSpPr>
        <p:spPr>
          <a:xfrm>
            <a:off x="16515426" y="5361486"/>
            <a:ext cx="13378708" cy="923201"/>
          </a:xfrm>
          <a:prstGeom prst="rect">
            <a:avLst/>
          </a:prstGeom>
          <a:noFill/>
        </p:spPr>
        <p:txBody>
          <a:bodyPr wrap="square">
            <a:spAutoFit/>
          </a:bodyPr>
          <a:lstStyle/>
          <a:p>
            <a:pPr algn="just"/>
            <a:r>
              <a:rPr lang="en-IN" sz="5399" b="1" dirty="0">
                <a:latin typeface="Times New Roman" panose="02020603050405020304" pitchFamily="18" charset="0"/>
                <a:cs typeface="Times New Roman" panose="02020603050405020304" pitchFamily="18" charset="0"/>
              </a:rPr>
              <a:t>75% </a:t>
            </a:r>
            <a:r>
              <a:rPr lang="en-IN" sz="5399" dirty="0">
                <a:latin typeface="Times New Roman" panose="02020603050405020304" pitchFamily="18" charset="0"/>
                <a:cs typeface="Times New Roman" panose="02020603050405020304" pitchFamily="18" charset="0"/>
              </a:rPr>
              <a:t>occurred on</a:t>
            </a:r>
            <a:r>
              <a:rPr lang="en-IN" sz="5399" b="1" dirty="0">
                <a:latin typeface="Times New Roman" panose="02020603050405020304" pitchFamily="18" charset="0"/>
                <a:cs typeface="Times New Roman" panose="02020603050405020304" pitchFamily="18" charset="0"/>
              </a:rPr>
              <a:t> </a:t>
            </a:r>
            <a:r>
              <a:rPr lang="en-IN" sz="5399" dirty="0">
                <a:latin typeface="Times New Roman" panose="02020603050405020304" pitchFamily="18" charset="0"/>
                <a:cs typeface="Times New Roman" panose="02020603050405020304" pitchFamily="18" charset="0"/>
              </a:rPr>
              <a:t>Single carriageway roads.</a:t>
            </a:r>
          </a:p>
        </p:txBody>
      </p:sp>
      <p:sp>
        <p:nvSpPr>
          <p:cNvPr id="1044" name="TextBox 1043">
            <a:extLst>
              <a:ext uri="{FF2B5EF4-FFF2-40B4-BE49-F238E27FC236}">
                <a16:creationId xmlns:a16="http://schemas.microsoft.com/office/drawing/2014/main" id="{BFB88411-A4CB-EAC2-D59C-C3DA81487FC8}"/>
              </a:ext>
            </a:extLst>
          </p:cNvPr>
          <p:cNvSpPr txBox="1"/>
          <p:nvPr/>
        </p:nvSpPr>
        <p:spPr>
          <a:xfrm>
            <a:off x="16515426" y="6445379"/>
            <a:ext cx="13672896" cy="1754070"/>
          </a:xfrm>
          <a:prstGeom prst="rect">
            <a:avLst/>
          </a:prstGeom>
          <a:noFill/>
        </p:spPr>
        <p:txBody>
          <a:bodyPr wrap="square">
            <a:spAutoFit/>
          </a:bodyPr>
          <a:lstStyle/>
          <a:p>
            <a:r>
              <a:rPr lang="en-IN" sz="5399" dirty="0">
                <a:latin typeface="Times New Roman" panose="02020603050405020304" pitchFamily="18" charset="0"/>
                <a:cs typeface="Times New Roman" panose="02020603050405020304" pitchFamily="18" charset="0"/>
              </a:rPr>
              <a:t>Males(</a:t>
            </a:r>
            <a:r>
              <a:rPr lang="en-IN" sz="5399" b="1" dirty="0">
                <a:latin typeface="Times New Roman" panose="02020603050405020304" pitchFamily="18" charset="0"/>
                <a:cs typeface="Times New Roman" panose="02020603050405020304" pitchFamily="18" charset="0"/>
              </a:rPr>
              <a:t>80%</a:t>
            </a:r>
            <a:r>
              <a:rPr lang="en-IN" sz="5399" dirty="0">
                <a:latin typeface="Times New Roman" panose="02020603050405020304" pitchFamily="18" charset="0"/>
                <a:cs typeface="Times New Roman" panose="02020603050405020304" pitchFamily="18" charset="0"/>
              </a:rPr>
              <a:t>) </a:t>
            </a:r>
            <a:r>
              <a:rPr lang="en-IN" sz="5399" b="1" dirty="0">
                <a:latin typeface="Times New Roman" panose="02020603050405020304" pitchFamily="18" charset="0"/>
                <a:cs typeface="Times New Roman" panose="02020603050405020304" pitchFamily="18" charset="0"/>
              </a:rPr>
              <a:t>4x </a:t>
            </a:r>
            <a:r>
              <a:rPr lang="en-IN" sz="5399" dirty="0">
                <a:latin typeface="Times New Roman" panose="02020603050405020304" pitchFamily="18" charset="0"/>
                <a:cs typeface="Times New Roman" panose="02020603050405020304" pitchFamily="18" charset="0"/>
              </a:rPr>
              <a:t>more in collisions than Females(</a:t>
            </a:r>
            <a:r>
              <a:rPr lang="en-IN" sz="5399" b="1" dirty="0">
                <a:latin typeface="Times New Roman" panose="02020603050405020304" pitchFamily="18" charset="0"/>
                <a:cs typeface="Times New Roman" panose="02020603050405020304" pitchFamily="18" charset="0"/>
              </a:rPr>
              <a:t>20%</a:t>
            </a:r>
            <a:r>
              <a:rPr lang="en-IN" sz="5399" dirty="0">
                <a:latin typeface="Times New Roman" panose="02020603050405020304" pitchFamily="18" charset="0"/>
                <a:cs typeface="Times New Roman" panose="02020603050405020304" pitchFamily="18" charset="0"/>
              </a:rPr>
              <a:t>).</a:t>
            </a:r>
            <a:endParaRPr lang="en-IN" sz="5399" b="1" dirty="0">
              <a:latin typeface="Times New Roman" panose="02020603050405020304" pitchFamily="18" charset="0"/>
              <a:cs typeface="Times New Roman" panose="02020603050405020304" pitchFamily="18" charset="0"/>
            </a:endParaRPr>
          </a:p>
        </p:txBody>
      </p:sp>
      <p:pic>
        <p:nvPicPr>
          <p:cNvPr id="1047" name="Picture 16" descr="Traffic Cones PNG Transparent Images Free Download | Vector Files | Pngtree">
            <a:extLst>
              <a:ext uri="{FF2B5EF4-FFF2-40B4-BE49-F238E27FC236}">
                <a16:creationId xmlns:a16="http://schemas.microsoft.com/office/drawing/2014/main" id="{C3069705-7414-EF4E-6D1F-5F40289FFFE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389610" y="5300189"/>
            <a:ext cx="829037" cy="829037"/>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16" descr="Traffic Cones PNG Transparent Images Free Download | Vector Files | Pngtree">
            <a:extLst>
              <a:ext uri="{FF2B5EF4-FFF2-40B4-BE49-F238E27FC236}">
                <a16:creationId xmlns:a16="http://schemas.microsoft.com/office/drawing/2014/main" id="{C4290782-84B5-E3C5-BDAE-EB134E8FF6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29430" y="6519568"/>
            <a:ext cx="829037" cy="829037"/>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4B8E103-C1AE-F528-E5CB-CA95B823FC2E}"/>
              </a:ext>
            </a:extLst>
          </p:cNvPr>
          <p:cNvSpPr txBox="1"/>
          <p:nvPr/>
        </p:nvSpPr>
        <p:spPr>
          <a:xfrm>
            <a:off x="16435659" y="8154160"/>
            <a:ext cx="14320409" cy="923201"/>
          </a:xfrm>
          <a:prstGeom prst="rect">
            <a:avLst/>
          </a:prstGeom>
          <a:noFill/>
        </p:spPr>
        <p:txBody>
          <a:bodyPr wrap="square">
            <a:spAutoFit/>
          </a:bodyPr>
          <a:lstStyle/>
          <a:p>
            <a:pPr algn="just"/>
            <a:r>
              <a:rPr lang="en-US" sz="5399" dirty="0">
                <a:latin typeface="Times New Roman" panose="02020603050405020304" pitchFamily="18" charset="0"/>
                <a:cs typeface="Times New Roman" panose="02020603050405020304" pitchFamily="18" charset="0"/>
              </a:rPr>
              <a:t>Majority Collisions happen in </a:t>
            </a:r>
            <a:r>
              <a:rPr lang="en-US" sz="5399" b="1" dirty="0">
                <a:latin typeface="Times New Roman" panose="02020603050405020304" pitchFamily="18" charset="0"/>
                <a:cs typeface="Times New Roman" panose="02020603050405020304" pitchFamily="18" charset="0"/>
              </a:rPr>
              <a:t>England districts.</a:t>
            </a:r>
            <a:endParaRPr lang="en-US" sz="5399" dirty="0">
              <a:latin typeface="Times New Roman" panose="02020603050405020304" pitchFamily="18" charset="0"/>
              <a:cs typeface="Times New Roman" panose="02020603050405020304" pitchFamily="18" charset="0"/>
            </a:endParaRPr>
          </a:p>
        </p:txBody>
      </p:sp>
      <p:pic>
        <p:nvPicPr>
          <p:cNvPr id="1051" name="Picture 16" descr="Traffic Cones PNG Transparent Images Free Download | Vector Files | Pngtree">
            <a:extLst>
              <a:ext uri="{FF2B5EF4-FFF2-40B4-BE49-F238E27FC236}">
                <a16:creationId xmlns:a16="http://schemas.microsoft.com/office/drawing/2014/main" id="{19874167-C216-8919-9E44-809DCB3532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06973" y="8257059"/>
            <a:ext cx="829037" cy="829037"/>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1052">
            <a:extLst>
              <a:ext uri="{FF2B5EF4-FFF2-40B4-BE49-F238E27FC236}">
                <a16:creationId xmlns:a16="http://schemas.microsoft.com/office/drawing/2014/main" id="{81DA676D-8246-1EBE-7CBE-EF3BA572E54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0007" y="10434175"/>
            <a:ext cx="15072888" cy="11304662"/>
          </a:xfrm>
          <a:prstGeom prst="rect">
            <a:avLst/>
          </a:prstGeom>
        </p:spPr>
      </p:pic>
      <p:pic>
        <p:nvPicPr>
          <p:cNvPr id="2" name="Picture 1">
            <a:extLst>
              <a:ext uri="{FF2B5EF4-FFF2-40B4-BE49-F238E27FC236}">
                <a16:creationId xmlns:a16="http://schemas.microsoft.com/office/drawing/2014/main" id="{31D2EBEA-5002-6C76-2385-927315B0DFF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062160" y="31458481"/>
            <a:ext cx="13836368" cy="10377277"/>
          </a:xfrm>
          <a:prstGeom prst="rect">
            <a:avLst/>
          </a:prstGeom>
        </p:spPr>
      </p:pic>
      <p:sp>
        <p:nvSpPr>
          <p:cNvPr id="10" name="TextBox 9">
            <a:extLst>
              <a:ext uri="{FF2B5EF4-FFF2-40B4-BE49-F238E27FC236}">
                <a16:creationId xmlns:a16="http://schemas.microsoft.com/office/drawing/2014/main" id="{F9B4A038-4F12-5E12-2C15-2F345DA14391}"/>
              </a:ext>
            </a:extLst>
          </p:cNvPr>
          <p:cNvSpPr txBox="1"/>
          <p:nvPr/>
        </p:nvSpPr>
        <p:spPr>
          <a:xfrm rot="16200000">
            <a:off x="13813339" y="30436775"/>
            <a:ext cx="3077499" cy="769570"/>
          </a:xfrm>
          <a:prstGeom prst="rect">
            <a:avLst/>
          </a:prstGeom>
          <a:noFill/>
        </p:spPr>
        <p:txBody>
          <a:bodyPr wrap="square" rtlCol="0">
            <a:spAutoFit/>
          </a:bodyPr>
          <a:lstStyle/>
          <a:p>
            <a:r>
              <a:rPr lang="en-IN" sz="4401" b="1" dirty="0">
                <a:latin typeface="Times New Roman" panose="02020603050405020304" pitchFamily="18" charset="0"/>
                <a:cs typeface="Times New Roman" panose="02020603050405020304" pitchFamily="18" charset="0"/>
              </a:rPr>
              <a:t>Latitude</a:t>
            </a:r>
            <a:endParaRPr lang="en-IN" sz="5399"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C39C036-A3DC-375A-AF70-8B39965BB834}"/>
              </a:ext>
            </a:extLst>
          </p:cNvPr>
          <p:cNvSpPr txBox="1"/>
          <p:nvPr/>
        </p:nvSpPr>
        <p:spPr>
          <a:xfrm>
            <a:off x="22172969" y="39956114"/>
            <a:ext cx="2987781" cy="769570"/>
          </a:xfrm>
          <a:prstGeom prst="rect">
            <a:avLst/>
          </a:prstGeom>
          <a:noFill/>
        </p:spPr>
        <p:txBody>
          <a:bodyPr wrap="square" rtlCol="0">
            <a:spAutoFit/>
          </a:bodyPr>
          <a:lstStyle/>
          <a:p>
            <a:r>
              <a:rPr lang="en-IN" sz="4401" b="1" dirty="0">
                <a:latin typeface="Times New Roman" panose="02020603050405020304" pitchFamily="18" charset="0"/>
                <a:cs typeface="Times New Roman" panose="02020603050405020304" pitchFamily="18" charset="0"/>
              </a:rPr>
              <a:t>Longitude</a:t>
            </a:r>
            <a:endParaRPr lang="en-IN" sz="5399" b="1" dirty="0">
              <a:latin typeface="Times New Roman" panose="02020603050405020304" pitchFamily="18" charset="0"/>
              <a:cs typeface="Times New Roman" panose="02020603050405020304" pitchFamily="18" charset="0"/>
            </a:endParaRPr>
          </a:p>
        </p:txBody>
      </p:sp>
      <p:sp>
        <p:nvSpPr>
          <p:cNvPr id="24" name="Oval 23">
            <a:extLst>
              <a:ext uri="{FF2B5EF4-FFF2-40B4-BE49-F238E27FC236}">
                <a16:creationId xmlns:a16="http://schemas.microsoft.com/office/drawing/2014/main" id="{F9B29E7E-B262-2957-DBEE-19AFEB717C7C}"/>
              </a:ext>
            </a:extLst>
          </p:cNvPr>
          <p:cNvSpPr/>
          <p:nvPr/>
        </p:nvSpPr>
        <p:spPr>
          <a:xfrm>
            <a:off x="28535994" y="17095389"/>
            <a:ext cx="1088725" cy="1155729"/>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Tree>
    <p:extLst>
      <p:ext uri="{BB962C8B-B14F-4D97-AF65-F5344CB8AC3E}">
        <p14:creationId xmlns:p14="http://schemas.microsoft.com/office/powerpoint/2010/main" val="446630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55" name="Picture 1054">
            <a:extLst>
              <a:ext uri="{FF2B5EF4-FFF2-40B4-BE49-F238E27FC236}">
                <a16:creationId xmlns:a16="http://schemas.microsoft.com/office/drawing/2014/main" id="{7114E62F-3028-83EB-3755-2B3E35A2A2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1132" y="20184553"/>
            <a:ext cx="17236021" cy="21468847"/>
          </a:xfrm>
          <a:prstGeom prst="rect">
            <a:avLst/>
          </a:prstGeom>
        </p:spPr>
      </p:pic>
      <p:cxnSp>
        <p:nvCxnSpPr>
          <p:cNvPr id="26" name="Straight Connector 25">
            <a:extLst>
              <a:ext uri="{FF2B5EF4-FFF2-40B4-BE49-F238E27FC236}">
                <a16:creationId xmlns:a16="http://schemas.microsoft.com/office/drawing/2014/main" id="{6FFA6159-24BE-CDAE-494C-25A64F55F897}"/>
              </a:ext>
            </a:extLst>
          </p:cNvPr>
          <p:cNvCxnSpPr>
            <a:cxnSpLocks/>
          </p:cNvCxnSpPr>
          <p:nvPr/>
        </p:nvCxnSpPr>
        <p:spPr>
          <a:xfrm>
            <a:off x="11814608" y="9624091"/>
            <a:ext cx="6620877" cy="0"/>
          </a:xfrm>
          <a:prstGeom prst="line">
            <a:avLst/>
          </a:prstGeom>
          <a:ln w="57150">
            <a:solidFill>
              <a:srgbClr val="595959">
                <a:alpha val="5000"/>
              </a:srgbClr>
            </a:solidFill>
            <a:prstDash val="dash"/>
          </a:ln>
          <a:effectLst/>
        </p:spPr>
        <p:style>
          <a:lnRef idx="1">
            <a:schemeClr val="accent1"/>
          </a:lnRef>
          <a:fillRef idx="0">
            <a:schemeClr val="accent1"/>
          </a:fillRef>
          <a:effectRef idx="0">
            <a:schemeClr val="accent1"/>
          </a:effectRef>
          <a:fontRef idx="minor">
            <a:schemeClr val="tx1"/>
          </a:fontRef>
        </p:style>
      </p:cxnSp>
      <p:pic>
        <p:nvPicPr>
          <p:cNvPr id="12" name="Picture 6" descr="Download Bicycle Black Siluete Png Image HQ PNG Image | FreePNGImg">
            <a:extLst>
              <a:ext uri="{FF2B5EF4-FFF2-40B4-BE49-F238E27FC236}">
                <a16:creationId xmlns:a16="http://schemas.microsoft.com/office/drawing/2014/main" id="{00895EB1-14DB-B4E6-EC62-2E6744855CE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artisticPhotocopy trans="3000"/>
                    </a14:imgEffect>
                  </a14:imgLayer>
                </a14:imgProps>
              </a:ext>
              <a:ext uri="{28A0092B-C50C-407E-A947-70E740481C1C}">
                <a14:useLocalDpi xmlns:a14="http://schemas.microsoft.com/office/drawing/2010/main" val="0"/>
              </a:ext>
            </a:extLst>
          </a:blip>
          <a:srcRect/>
          <a:stretch>
            <a:fillRect/>
          </a:stretch>
        </p:blipFill>
        <p:spPr bwMode="auto">
          <a:xfrm rot="16200000">
            <a:off x="-2930899" y="16560988"/>
            <a:ext cx="18014148" cy="10192460"/>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EA10203-C68B-652A-668D-2AB7F9BC2D2A}"/>
              </a:ext>
            </a:extLst>
          </p:cNvPr>
          <p:cNvSpPr/>
          <p:nvPr/>
        </p:nvSpPr>
        <p:spPr>
          <a:xfrm>
            <a:off x="0" y="-2"/>
            <a:ext cx="1672253" cy="42803765"/>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sp>
        <p:nvSpPr>
          <p:cNvPr id="32" name="Rectangle 31">
            <a:extLst>
              <a:ext uri="{FF2B5EF4-FFF2-40B4-BE49-F238E27FC236}">
                <a16:creationId xmlns:a16="http://schemas.microsoft.com/office/drawing/2014/main" id="{8A1D1318-DE55-96F3-0C9D-214AAD21C4FE}"/>
              </a:ext>
            </a:extLst>
          </p:cNvPr>
          <p:cNvSpPr/>
          <p:nvPr/>
        </p:nvSpPr>
        <p:spPr>
          <a:xfrm>
            <a:off x="1404462" y="-2"/>
            <a:ext cx="85329" cy="428037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pic>
        <p:nvPicPr>
          <p:cNvPr id="38" name="Picture 4" descr="Free Black And White Bicycle Images, Download Free Black And White Bicycle  Images png images, Free ClipArts on Clipart Library">
            <a:extLst>
              <a:ext uri="{FF2B5EF4-FFF2-40B4-BE49-F238E27FC236}">
                <a16:creationId xmlns:a16="http://schemas.microsoft.com/office/drawing/2014/main" id="{DEFFB945-94AA-FC1F-F7C0-2CBD361D31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8165" y="2915617"/>
            <a:ext cx="1366726" cy="1025912"/>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8D188EB5-D97B-14B8-59E8-7AE8216573F3}"/>
              </a:ext>
            </a:extLst>
          </p:cNvPr>
          <p:cNvSpPr txBox="1"/>
          <p:nvPr/>
        </p:nvSpPr>
        <p:spPr>
          <a:xfrm>
            <a:off x="10567899" y="173326"/>
            <a:ext cx="9139962" cy="1446230"/>
          </a:xfrm>
          <a:prstGeom prst="rect">
            <a:avLst/>
          </a:prstGeom>
          <a:noFill/>
        </p:spPr>
        <p:txBody>
          <a:bodyPr wrap="square" rtlCol="0">
            <a:spAutoFit/>
          </a:bodyPr>
          <a:lstStyle/>
          <a:p>
            <a:r>
              <a:rPr lang="en-IN" sz="8798" b="1" dirty="0">
                <a:latin typeface="Times New Roman" panose="02020603050405020304" pitchFamily="18" charset="0"/>
                <a:cs typeface="Times New Roman" panose="02020603050405020304" pitchFamily="18" charset="0"/>
              </a:rPr>
              <a:t>Is Cycling </a:t>
            </a:r>
            <a:r>
              <a:rPr lang="en-IN" sz="8798" b="1" u="sng" dirty="0">
                <a:solidFill>
                  <a:schemeClr val="accent6"/>
                </a:solidFill>
                <a:latin typeface="Times New Roman" panose="02020603050405020304" pitchFamily="18" charset="0"/>
                <a:cs typeface="Times New Roman" panose="02020603050405020304" pitchFamily="18" charset="0"/>
              </a:rPr>
              <a:t>Safer</a:t>
            </a:r>
            <a:r>
              <a:rPr lang="en-IN" sz="8798" b="1" dirty="0">
                <a:latin typeface="Times New Roman" panose="02020603050405020304" pitchFamily="18" charset="0"/>
                <a:cs typeface="Times New Roman" panose="02020603050405020304" pitchFamily="18" charset="0"/>
              </a:rPr>
              <a:t> ?</a:t>
            </a:r>
          </a:p>
        </p:txBody>
      </p:sp>
      <p:sp>
        <p:nvSpPr>
          <p:cNvPr id="42" name="TextBox 41">
            <a:extLst>
              <a:ext uri="{FF2B5EF4-FFF2-40B4-BE49-F238E27FC236}">
                <a16:creationId xmlns:a16="http://schemas.microsoft.com/office/drawing/2014/main" id="{D46F97AF-A5B3-7609-1620-DE65A8AF0A1E}"/>
              </a:ext>
            </a:extLst>
          </p:cNvPr>
          <p:cNvSpPr txBox="1"/>
          <p:nvPr/>
        </p:nvSpPr>
        <p:spPr>
          <a:xfrm>
            <a:off x="2053373" y="1865025"/>
            <a:ext cx="6709628"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INTRODUCTION:</a:t>
            </a:r>
            <a:endParaRPr lang="en-IN" sz="120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5A33D4B3-CF59-C6D6-EAAC-2928A8E11010}"/>
              </a:ext>
            </a:extLst>
          </p:cNvPr>
          <p:cNvSpPr txBox="1"/>
          <p:nvPr/>
        </p:nvSpPr>
        <p:spPr>
          <a:xfrm>
            <a:off x="2023874" y="2865809"/>
            <a:ext cx="12861703" cy="5908412"/>
          </a:xfrm>
          <a:prstGeom prst="rect">
            <a:avLst/>
          </a:prstGeom>
          <a:noFill/>
        </p:spPr>
        <p:txBody>
          <a:bodyPr wrap="square">
            <a:spAutoFit/>
          </a:bodyPr>
          <a:lstStyle/>
          <a:p>
            <a:pPr algn="just"/>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Modern age promotes use of pedal cycle more for environment and physical health benefits.This data analysis aims to investigate the involvement of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pedal cycles in collisions </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for the period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2018–2022, sourced </a:t>
            </a:r>
            <a:r>
              <a:rPr lang="en-IN" sz="5399" b="1" dirty="0">
                <a:latin typeface="Times New Roman" panose="02020603050405020304" pitchFamily="18" charset="0"/>
                <a:cs typeface="Times New Roman" panose="02020603050405020304" pitchFamily="18" charset="0"/>
              </a:rPr>
              <a:t>Stats19 UK</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 data </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to address common WH questions about safety concerns related to pedal cycles.</a:t>
            </a:r>
            <a:endParaRPr lang="en-IN" sz="5399" b="1" dirty="0">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49" name="TextBox 48">
            <a:extLst>
              <a:ext uri="{FF2B5EF4-FFF2-40B4-BE49-F238E27FC236}">
                <a16:creationId xmlns:a16="http://schemas.microsoft.com/office/drawing/2014/main" id="{4699CDB0-07D6-E2A0-31D7-E458712F10D1}"/>
              </a:ext>
            </a:extLst>
          </p:cNvPr>
          <p:cNvSpPr txBox="1"/>
          <p:nvPr/>
        </p:nvSpPr>
        <p:spPr>
          <a:xfrm>
            <a:off x="2032626" y="9285929"/>
            <a:ext cx="5798860"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OBSERVATION:</a:t>
            </a:r>
            <a:endParaRPr lang="en-IN" sz="5399" dirty="0">
              <a:latin typeface="Times New Roman" panose="02020603050405020304" pitchFamily="18" charset="0"/>
              <a:cs typeface="Times New Roman" panose="02020603050405020304" pitchFamily="18" charset="0"/>
            </a:endParaRPr>
          </a:p>
        </p:txBody>
      </p:sp>
      <p:sp>
        <p:nvSpPr>
          <p:cNvPr id="1029" name="TextBox 1028">
            <a:extLst>
              <a:ext uri="{FF2B5EF4-FFF2-40B4-BE49-F238E27FC236}">
                <a16:creationId xmlns:a16="http://schemas.microsoft.com/office/drawing/2014/main" id="{2F4E8814-4B54-1A9C-76E1-01CE00D720CB}"/>
              </a:ext>
            </a:extLst>
          </p:cNvPr>
          <p:cNvSpPr txBox="1"/>
          <p:nvPr/>
        </p:nvSpPr>
        <p:spPr>
          <a:xfrm>
            <a:off x="15240598" y="1716727"/>
            <a:ext cx="6074979" cy="1200329"/>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CONCLUSION</a:t>
            </a:r>
            <a:r>
              <a:rPr lang="en-IN" sz="7200" b="1" u="sng" dirty="0">
                <a:latin typeface="Times New Roman" panose="02020603050405020304" pitchFamily="18" charset="0"/>
                <a:cs typeface="Times New Roman" panose="02020603050405020304" pitchFamily="18" charset="0"/>
              </a:rPr>
              <a:t>:</a:t>
            </a:r>
            <a:endParaRPr lang="en-IN" sz="468" dirty="0">
              <a:latin typeface="Times New Roman" panose="02020603050405020304" pitchFamily="18" charset="0"/>
              <a:cs typeface="Times New Roman" panose="02020603050405020304" pitchFamily="18" charset="0"/>
            </a:endParaRPr>
          </a:p>
        </p:txBody>
      </p:sp>
      <p:sp>
        <p:nvSpPr>
          <p:cNvPr id="1077" name="Arrow: Down 1076">
            <a:extLst>
              <a:ext uri="{FF2B5EF4-FFF2-40B4-BE49-F238E27FC236}">
                <a16:creationId xmlns:a16="http://schemas.microsoft.com/office/drawing/2014/main" id="{AF86C676-AF5D-5EDF-C89C-7F93B6B86ACA}"/>
              </a:ext>
            </a:extLst>
          </p:cNvPr>
          <p:cNvSpPr/>
          <p:nvPr/>
        </p:nvSpPr>
        <p:spPr>
          <a:xfrm>
            <a:off x="471976" y="6963580"/>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4" name="Picture 4" descr="Free Black And White Bicycle Images, Download Free Black And White Bicycle  Images png images, Free ClipArts on Clipart Library">
            <a:extLst>
              <a:ext uri="{FF2B5EF4-FFF2-40B4-BE49-F238E27FC236}">
                <a16:creationId xmlns:a16="http://schemas.microsoft.com/office/drawing/2014/main" id="{6792B8FD-EA13-08DE-CCDC-A0727A772D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12236867"/>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5" name="Arrow: Down 4">
            <a:extLst>
              <a:ext uri="{FF2B5EF4-FFF2-40B4-BE49-F238E27FC236}">
                <a16:creationId xmlns:a16="http://schemas.microsoft.com/office/drawing/2014/main" id="{915A2F39-37C3-CB93-2D8B-D5DE892C952B}"/>
              </a:ext>
            </a:extLst>
          </p:cNvPr>
          <p:cNvSpPr/>
          <p:nvPr/>
        </p:nvSpPr>
        <p:spPr>
          <a:xfrm>
            <a:off x="461469" y="16340958"/>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6" name="TextBox 5">
            <a:extLst>
              <a:ext uri="{FF2B5EF4-FFF2-40B4-BE49-F238E27FC236}">
                <a16:creationId xmlns:a16="http://schemas.microsoft.com/office/drawing/2014/main" id="{46DFDF63-DD6B-EE7F-B1FF-B02781321CF7}"/>
              </a:ext>
            </a:extLst>
          </p:cNvPr>
          <p:cNvSpPr txBox="1"/>
          <p:nvPr/>
        </p:nvSpPr>
        <p:spPr>
          <a:xfrm rot="18800103">
            <a:off x="11932601" y="18862527"/>
            <a:ext cx="355587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HOW</a:t>
            </a:r>
            <a:endParaRPr lang="en-IN" sz="3598" b="1" u="sn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E0B2075-306E-6DF9-071D-9C850E8D043B}"/>
              </a:ext>
            </a:extLst>
          </p:cNvPr>
          <p:cNvSpPr txBox="1"/>
          <p:nvPr/>
        </p:nvSpPr>
        <p:spPr>
          <a:xfrm rot="13615659">
            <a:off x="12129820" y="21028573"/>
            <a:ext cx="3447520" cy="1323247"/>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HOW</a:t>
            </a:r>
            <a:endParaRPr lang="en-IN" sz="3598" b="1" u="sng" dirty="0">
              <a:latin typeface="Times New Roman" panose="02020603050405020304" pitchFamily="18" charset="0"/>
              <a:cs typeface="Times New Roman" panose="02020603050405020304" pitchFamily="18" charset="0"/>
            </a:endParaRPr>
          </a:p>
          <a:p>
            <a:pPr algn="ctr"/>
            <a:endParaRPr lang="en-IN" sz="3598"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EE7A023-1623-91EC-205D-51A11735F41E}"/>
              </a:ext>
            </a:extLst>
          </p:cNvPr>
          <p:cNvSpPr txBox="1"/>
          <p:nvPr/>
        </p:nvSpPr>
        <p:spPr>
          <a:xfrm rot="8009455">
            <a:off x="15096524" y="21576626"/>
            <a:ext cx="267826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WHERE</a:t>
            </a:r>
            <a:endParaRPr lang="en-IN" sz="3598" dirty="0">
              <a:latin typeface="Times New Roman" panose="02020603050405020304" pitchFamily="18" charset="0"/>
              <a:cs typeface="Times New Roman" panose="02020603050405020304" pitchFamily="18" charset="0"/>
            </a:endParaRPr>
          </a:p>
        </p:txBody>
      </p:sp>
      <p:pic>
        <p:nvPicPr>
          <p:cNvPr id="15" name="Picture 4" descr="Free Black And White Bicycle Images, Download Free Black And White Bicycle  Images png images, Free ClipArts on Clipart Library">
            <a:extLst>
              <a:ext uri="{FF2B5EF4-FFF2-40B4-BE49-F238E27FC236}">
                <a16:creationId xmlns:a16="http://schemas.microsoft.com/office/drawing/2014/main" id="{89599FD4-0519-E20E-DD02-D48CC70362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2160815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16" name="Arrow: Down 15">
            <a:extLst>
              <a:ext uri="{FF2B5EF4-FFF2-40B4-BE49-F238E27FC236}">
                <a16:creationId xmlns:a16="http://schemas.microsoft.com/office/drawing/2014/main" id="{704A4F26-A41B-7C6A-07B5-F1004E24CCDD}"/>
              </a:ext>
            </a:extLst>
          </p:cNvPr>
          <p:cNvSpPr/>
          <p:nvPr/>
        </p:nvSpPr>
        <p:spPr>
          <a:xfrm>
            <a:off x="461469" y="25712240"/>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7" name="Picture 4" descr="Free Black And White Bicycle Images, Download Free Black And White Bicycle  Images png images, Free ClipArts on Clipart Library">
            <a:extLst>
              <a:ext uri="{FF2B5EF4-FFF2-40B4-BE49-F238E27FC236}">
                <a16:creationId xmlns:a16="http://schemas.microsoft.com/office/drawing/2014/main" id="{2369B72F-386E-787B-FF4E-6CA9B17860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15974" y="30991442"/>
            <a:ext cx="1427981" cy="1025914"/>
          </a:xfrm>
          <a:prstGeom prst="rect">
            <a:avLst/>
          </a:prstGeom>
          <a:noFill/>
          <a:extLst>
            <a:ext uri="{909E8E84-426E-40DD-AFC4-6F175D3DCCD1}">
              <a14:hiddenFill xmlns:a14="http://schemas.microsoft.com/office/drawing/2010/main">
                <a:solidFill>
                  <a:srgbClr val="FFFFFF"/>
                </a:solidFill>
              </a14:hiddenFill>
            </a:ext>
          </a:extLst>
        </p:spPr>
      </p:pic>
      <p:sp>
        <p:nvSpPr>
          <p:cNvPr id="18" name="Arrow: Down 17">
            <a:extLst>
              <a:ext uri="{FF2B5EF4-FFF2-40B4-BE49-F238E27FC236}">
                <a16:creationId xmlns:a16="http://schemas.microsoft.com/office/drawing/2014/main" id="{97A02F6C-D076-B1C8-8597-6C81803787D9}"/>
              </a:ext>
            </a:extLst>
          </p:cNvPr>
          <p:cNvSpPr/>
          <p:nvPr/>
        </p:nvSpPr>
        <p:spPr>
          <a:xfrm>
            <a:off x="502830" y="35081359"/>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9" name="Picture 4" descr="Free Black And White Bicycle Images, Download Free Black And White Bicycle  Images png images, Free ClipArts on Clipart Library">
            <a:extLst>
              <a:ext uri="{FF2B5EF4-FFF2-40B4-BE49-F238E27FC236}">
                <a16:creationId xmlns:a16="http://schemas.microsoft.com/office/drawing/2014/main" id="{DC906657-058D-79D9-B739-5A487ADF85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4034638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1377369-B23E-C68E-B145-0FCB4EC6F091}"/>
              </a:ext>
            </a:extLst>
          </p:cNvPr>
          <p:cNvSpPr txBox="1"/>
          <p:nvPr/>
        </p:nvSpPr>
        <p:spPr>
          <a:xfrm rot="2721329">
            <a:off x="15110509" y="18818099"/>
            <a:ext cx="267826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WHO</a:t>
            </a:r>
            <a:endParaRPr lang="en-IN" sz="4799"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AD6646B-78C2-9E06-0B0E-906F82794511}"/>
              </a:ext>
            </a:extLst>
          </p:cNvPr>
          <p:cNvSpPr txBox="1"/>
          <p:nvPr/>
        </p:nvSpPr>
        <p:spPr>
          <a:xfrm>
            <a:off x="14596003" y="19411224"/>
            <a:ext cx="1152295" cy="2215991"/>
          </a:xfrm>
          <a:prstGeom prst="rect">
            <a:avLst/>
          </a:prstGeom>
          <a:noFill/>
        </p:spPr>
        <p:txBody>
          <a:bodyPr wrap="square" rtlCol="0">
            <a:spAutoFit/>
          </a:bodyPr>
          <a:lstStyle/>
          <a:p>
            <a:r>
              <a:rPr lang="en-IN" sz="13800" b="1" u="sng" dirty="0">
                <a:latin typeface="Times New Roman" panose="02020603050405020304" pitchFamily="18" charset="0"/>
                <a:cs typeface="Times New Roman" panose="02020603050405020304" pitchFamily="18" charset="0"/>
              </a:rPr>
              <a:t>?</a:t>
            </a:r>
            <a:endParaRPr lang="en-IN" sz="13800" dirty="0"/>
          </a:p>
        </p:txBody>
      </p:sp>
      <p:cxnSp>
        <p:nvCxnSpPr>
          <p:cNvPr id="23" name="Straight Connector 22">
            <a:extLst>
              <a:ext uri="{FF2B5EF4-FFF2-40B4-BE49-F238E27FC236}">
                <a16:creationId xmlns:a16="http://schemas.microsoft.com/office/drawing/2014/main" id="{BBD84204-3D39-25D7-1EC7-A23B19694740}"/>
              </a:ext>
            </a:extLst>
          </p:cNvPr>
          <p:cNvCxnSpPr>
            <a:cxnSpLocks/>
          </p:cNvCxnSpPr>
          <p:nvPr/>
        </p:nvCxnSpPr>
        <p:spPr>
          <a:xfrm>
            <a:off x="8934364" y="20579890"/>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Diamond 27">
            <a:extLst>
              <a:ext uri="{FF2B5EF4-FFF2-40B4-BE49-F238E27FC236}">
                <a16:creationId xmlns:a16="http://schemas.microsoft.com/office/drawing/2014/main" id="{2A2B1C86-82BA-5994-8935-A32EC308CB27}"/>
              </a:ext>
            </a:extLst>
          </p:cNvPr>
          <p:cNvSpPr/>
          <p:nvPr/>
        </p:nvSpPr>
        <p:spPr>
          <a:xfrm>
            <a:off x="12846899" y="18250109"/>
            <a:ext cx="4480674" cy="4659571"/>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cxnSp>
        <p:nvCxnSpPr>
          <p:cNvPr id="31" name="Straight Connector 30">
            <a:extLst>
              <a:ext uri="{FF2B5EF4-FFF2-40B4-BE49-F238E27FC236}">
                <a16:creationId xmlns:a16="http://schemas.microsoft.com/office/drawing/2014/main" id="{253C2834-664A-F5A7-F373-ADAE6A0F7C3B}"/>
              </a:ext>
            </a:extLst>
          </p:cNvPr>
          <p:cNvCxnSpPr>
            <a:cxnSpLocks/>
          </p:cNvCxnSpPr>
          <p:nvPr/>
        </p:nvCxnSpPr>
        <p:spPr>
          <a:xfrm>
            <a:off x="17310824" y="20617992"/>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56BF68E-5F55-108B-870A-BE6C6BBF66F5}"/>
              </a:ext>
            </a:extLst>
          </p:cNvPr>
          <p:cNvCxnSpPr>
            <a:cxnSpLocks/>
          </p:cNvCxnSpPr>
          <p:nvPr/>
        </p:nvCxnSpPr>
        <p:spPr>
          <a:xfrm rot="16200000">
            <a:off x="13144468" y="16358745"/>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C57B0E6-E629-F9F4-719D-C0574A219B17}"/>
              </a:ext>
            </a:extLst>
          </p:cNvPr>
          <p:cNvCxnSpPr>
            <a:cxnSpLocks/>
          </p:cNvCxnSpPr>
          <p:nvPr/>
        </p:nvCxnSpPr>
        <p:spPr>
          <a:xfrm rot="16200000">
            <a:off x="13132703" y="24713542"/>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0E07F566-7457-8659-2B44-5D4F5E2A7B0B}"/>
              </a:ext>
            </a:extLst>
          </p:cNvPr>
          <p:cNvSpPr txBox="1"/>
          <p:nvPr/>
        </p:nvSpPr>
        <p:spPr>
          <a:xfrm>
            <a:off x="16779893" y="10575925"/>
            <a:ext cx="12651490" cy="1754070"/>
          </a:xfrm>
          <a:prstGeom prst="rect">
            <a:avLst/>
          </a:prstGeom>
          <a:noFill/>
        </p:spPr>
        <p:txBody>
          <a:bodyPr wrap="square" rtlCol="0">
            <a:spAutoFit/>
          </a:bodyPr>
          <a:lstStyle/>
          <a:p>
            <a:pPr algn="ctr"/>
            <a:r>
              <a:rPr lang="en-IN" sz="5399" b="1" dirty="0">
                <a:latin typeface="Times New Roman" panose="02020603050405020304" pitchFamily="18" charset="0"/>
                <a:cs typeface="Times New Roman" panose="02020603050405020304" pitchFamily="18" charset="0"/>
              </a:rPr>
              <a:t>Top Age Bands in Cycle Collisions as per Severity &amp; Gender</a:t>
            </a:r>
          </a:p>
        </p:txBody>
      </p:sp>
      <p:sp>
        <p:nvSpPr>
          <p:cNvPr id="55" name="TextBox 54">
            <a:extLst>
              <a:ext uri="{FF2B5EF4-FFF2-40B4-BE49-F238E27FC236}">
                <a16:creationId xmlns:a16="http://schemas.microsoft.com/office/drawing/2014/main" id="{01E49A8C-611F-1E14-6DA7-5478B899D6D1}"/>
              </a:ext>
            </a:extLst>
          </p:cNvPr>
          <p:cNvSpPr txBox="1"/>
          <p:nvPr/>
        </p:nvSpPr>
        <p:spPr>
          <a:xfrm>
            <a:off x="16288431" y="41008652"/>
            <a:ext cx="13401880" cy="1569404"/>
          </a:xfrm>
          <a:prstGeom prst="rect">
            <a:avLst/>
          </a:prstGeom>
          <a:noFill/>
        </p:spPr>
        <p:txBody>
          <a:bodyPr wrap="square">
            <a:spAutoFit/>
          </a:bodyPr>
          <a:lstStyle/>
          <a:p>
            <a:r>
              <a:rPr lang="en-IN" sz="4799" b="1" u="sng" dirty="0">
                <a:latin typeface="Times New Roman" panose="02020603050405020304" pitchFamily="18" charset="0"/>
                <a:cs typeface="Times New Roman" panose="02020603050405020304" pitchFamily="18" charset="0"/>
              </a:rPr>
              <a:t>Source Data:</a:t>
            </a:r>
            <a:r>
              <a:rPr lang="en-IN" sz="4799" b="1" dirty="0">
                <a:latin typeface="Times New Roman" panose="02020603050405020304" pitchFamily="18" charset="0"/>
                <a:cs typeface="Times New Roman" panose="02020603050405020304" pitchFamily="18" charset="0"/>
              </a:rPr>
              <a:t> Stats19 UK Collision Data 2018-2022</a:t>
            </a:r>
          </a:p>
          <a:p>
            <a:r>
              <a:rPr lang="en-IN" sz="4799" b="1" u="sng" dirty="0">
                <a:latin typeface="Times New Roman" panose="02020603050405020304" pitchFamily="18" charset="0"/>
                <a:cs typeface="Times New Roman" panose="02020603050405020304" pitchFamily="18" charset="0"/>
              </a:rPr>
              <a:t>Poster Design</a:t>
            </a:r>
            <a:r>
              <a:rPr lang="en-IN" sz="4799" b="1" dirty="0">
                <a:latin typeface="Times New Roman" panose="02020603050405020304" pitchFamily="18" charset="0"/>
                <a:cs typeface="Times New Roman" panose="02020603050405020304" pitchFamily="18" charset="0"/>
              </a:rPr>
              <a:t>: Akson SV, 2311233</a:t>
            </a:r>
          </a:p>
        </p:txBody>
      </p:sp>
      <p:sp>
        <p:nvSpPr>
          <p:cNvPr id="57" name="Arrow: Down 56">
            <a:extLst>
              <a:ext uri="{FF2B5EF4-FFF2-40B4-BE49-F238E27FC236}">
                <a16:creationId xmlns:a16="http://schemas.microsoft.com/office/drawing/2014/main" id="{62A8E883-DB82-D1BB-54A9-C20FD72F904E}"/>
              </a:ext>
            </a:extLst>
          </p:cNvPr>
          <p:cNvSpPr/>
          <p:nvPr/>
        </p:nvSpPr>
        <p:spPr>
          <a:xfrm rot="10800000">
            <a:off x="28784233" y="16277684"/>
            <a:ext cx="599540" cy="1155729"/>
          </a:xfrm>
          <a:prstGeom prst="dow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26" name="Plus Sign 1025">
            <a:extLst>
              <a:ext uri="{FF2B5EF4-FFF2-40B4-BE49-F238E27FC236}">
                <a16:creationId xmlns:a16="http://schemas.microsoft.com/office/drawing/2014/main" id="{60FB1CBF-C941-44F3-12F5-4359FC0A572C}"/>
              </a:ext>
            </a:extLst>
          </p:cNvPr>
          <p:cNvSpPr/>
          <p:nvPr/>
        </p:nvSpPr>
        <p:spPr>
          <a:xfrm>
            <a:off x="28402467" y="12979280"/>
            <a:ext cx="1317488" cy="1372732"/>
          </a:xfrm>
          <a:prstGeom prst="mathPlus">
            <a:avLst/>
          </a:prstGeom>
          <a:solidFill>
            <a:srgbClr val="FFC0CB"/>
          </a:solidFill>
          <a:ln>
            <a:solidFill>
              <a:srgbClr val="FFC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graphicFrame>
        <p:nvGraphicFramePr>
          <p:cNvPr id="1027" name="Table 1026">
            <a:extLst>
              <a:ext uri="{FF2B5EF4-FFF2-40B4-BE49-F238E27FC236}">
                <a16:creationId xmlns:a16="http://schemas.microsoft.com/office/drawing/2014/main" id="{1CC95592-2EAB-2FD9-CD71-FA993A4D94FB}"/>
              </a:ext>
            </a:extLst>
          </p:cNvPr>
          <p:cNvGraphicFramePr>
            <a:graphicFrameLocks noGrp="1"/>
          </p:cNvGraphicFramePr>
          <p:nvPr>
            <p:extLst>
              <p:ext uri="{D42A27DB-BD31-4B8C-83A1-F6EECF244321}">
                <p14:modId xmlns:p14="http://schemas.microsoft.com/office/powerpoint/2010/main" val="1175448784"/>
              </p:ext>
            </p:extLst>
          </p:nvPr>
        </p:nvGraphicFramePr>
        <p:xfrm>
          <a:off x="17444552" y="13244053"/>
          <a:ext cx="10606854" cy="5723896"/>
        </p:xfrm>
        <a:graphic>
          <a:graphicData uri="http://schemas.openxmlformats.org/drawingml/2006/table">
            <a:tbl>
              <a:tblPr firstRow="1" bandRow="1">
                <a:tableStyleId>{5940675A-B579-460E-94D1-54222C63F5DA}</a:tableStyleId>
              </a:tblPr>
              <a:tblGrid>
                <a:gridCol w="3535618">
                  <a:extLst>
                    <a:ext uri="{9D8B030D-6E8A-4147-A177-3AD203B41FA5}">
                      <a16:colId xmlns:a16="http://schemas.microsoft.com/office/drawing/2014/main" val="1040416973"/>
                    </a:ext>
                  </a:extLst>
                </a:gridCol>
                <a:gridCol w="3535618">
                  <a:extLst>
                    <a:ext uri="{9D8B030D-6E8A-4147-A177-3AD203B41FA5}">
                      <a16:colId xmlns:a16="http://schemas.microsoft.com/office/drawing/2014/main" val="4256780530"/>
                    </a:ext>
                  </a:extLst>
                </a:gridCol>
                <a:gridCol w="3535618">
                  <a:extLst>
                    <a:ext uri="{9D8B030D-6E8A-4147-A177-3AD203B41FA5}">
                      <a16:colId xmlns:a16="http://schemas.microsoft.com/office/drawing/2014/main" val="950959739"/>
                    </a:ext>
                  </a:extLst>
                </a:gridCol>
              </a:tblGrid>
              <a:tr h="2861948">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46-55</a:t>
                      </a:r>
                    </a:p>
                    <a:p>
                      <a:pPr marL="0" algn="ctr" defTabSz="3027206" rtl="0" eaLnBrk="1" latinLnBrk="0" hangingPunct="1"/>
                      <a:r>
                        <a:rPr lang="en-IN" sz="5400" b="1" kern="1200" dirty="0">
                          <a:solidFill>
                            <a:schemeClr val="tx1"/>
                          </a:solidFill>
                          <a:latin typeface="Times New Roman" panose="02020603050405020304" pitchFamily="18" charset="0"/>
                          <a:ea typeface="+mn-ea"/>
                          <a:cs typeface="Times New Roman" panose="02020603050405020304" pitchFamily="18" charset="0"/>
                        </a:rPr>
                        <a:t> 21.5%</a:t>
                      </a:r>
                    </a:p>
                  </a:txBody>
                  <a:tcPr marL="91439" marR="91439" marT="45722" marB="45722" anchor="ctr"/>
                </a:tc>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26-35</a:t>
                      </a:r>
                    </a:p>
                    <a:p>
                      <a:pPr marL="0" algn="ctr" defTabSz="3027206" rtl="0" eaLnBrk="1" latinLnBrk="0" hangingPunct="1"/>
                      <a:r>
                        <a:rPr lang="en-IN" sz="5400" b="1" kern="1200" dirty="0">
                          <a:solidFill>
                            <a:schemeClr val="tx1"/>
                          </a:solidFill>
                          <a:latin typeface="Times New Roman" panose="02020603050405020304" pitchFamily="18" charset="0"/>
                          <a:ea typeface="+mn-ea"/>
                          <a:cs typeface="Times New Roman" panose="02020603050405020304" pitchFamily="18" charset="0"/>
                        </a:rPr>
                        <a:t> 22.3%</a:t>
                      </a:r>
                    </a:p>
                  </a:txBody>
                  <a:tcPr marL="91439" marR="91439" marT="45722" marB="45722" anchor="ctr"/>
                </a:tc>
                <a:tc>
                  <a:txBody>
                    <a:bodyPr/>
                    <a:lstStyle/>
                    <a:p>
                      <a:pPr algn="ctr"/>
                      <a:r>
                        <a:rPr lang="en-IN" sz="5400" dirty="0">
                          <a:latin typeface="Times New Roman" panose="02020603050405020304" pitchFamily="18" charset="0"/>
                          <a:cs typeface="Times New Roman" panose="02020603050405020304" pitchFamily="18" charset="0"/>
                        </a:rPr>
                        <a:t>26-35</a:t>
                      </a:r>
                    </a:p>
                    <a:p>
                      <a:pPr algn="ctr"/>
                      <a:r>
                        <a:rPr lang="en-IN" sz="5400" b="1" dirty="0">
                          <a:latin typeface="Times New Roman" panose="02020603050405020304" pitchFamily="18" charset="0"/>
                          <a:cs typeface="Times New Roman" panose="02020603050405020304" pitchFamily="18" charset="0"/>
                        </a:rPr>
                        <a:t>  28.9%</a:t>
                      </a:r>
                    </a:p>
                  </a:txBody>
                  <a:tcPr marL="91439" marR="91439" marT="45722" marB="45722" anchor="ctr"/>
                </a:tc>
                <a:extLst>
                  <a:ext uri="{0D108BD9-81ED-4DB2-BD59-A6C34878D82A}">
                    <a16:rowId xmlns:a16="http://schemas.microsoft.com/office/drawing/2014/main" val="3440127682"/>
                  </a:ext>
                </a:extLst>
              </a:tr>
              <a:tr h="2861948">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56-65</a:t>
                      </a:r>
                    </a:p>
                    <a:p>
                      <a:pPr marL="0" algn="ctr" defTabSz="3027206" rtl="0" eaLnBrk="1" latinLnBrk="0" hangingPunct="1"/>
                      <a:r>
                        <a:rPr lang="en-IN" sz="5400" b="1" kern="1200" dirty="0">
                          <a:solidFill>
                            <a:schemeClr val="tx1"/>
                          </a:solidFill>
                          <a:latin typeface="Times New Roman" panose="02020603050405020304" pitchFamily="18" charset="0"/>
                          <a:ea typeface="+mn-ea"/>
                          <a:cs typeface="Times New Roman" panose="02020603050405020304" pitchFamily="18" charset="0"/>
                        </a:rPr>
                        <a:t> 18.7%</a:t>
                      </a:r>
                    </a:p>
                  </a:txBody>
                  <a:tcPr marL="91439" marR="91439" marT="45722" marB="45722" anchor="ctr"/>
                </a:tc>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46-55</a:t>
                      </a:r>
                    </a:p>
                    <a:p>
                      <a:pPr marL="0" algn="ctr" defTabSz="3027206" rtl="0" eaLnBrk="1" latinLnBrk="0" hangingPunct="1"/>
                      <a:r>
                        <a:rPr lang="en-IN" sz="5400" b="1" kern="1200" dirty="0">
                          <a:solidFill>
                            <a:schemeClr val="tx1"/>
                          </a:solidFill>
                          <a:latin typeface="Times New Roman" panose="02020603050405020304" pitchFamily="18" charset="0"/>
                          <a:ea typeface="+mn-ea"/>
                          <a:cs typeface="Times New Roman" panose="02020603050405020304" pitchFamily="18" charset="0"/>
                        </a:rPr>
                        <a:t> 19.3%</a:t>
                      </a:r>
                    </a:p>
                  </a:txBody>
                  <a:tcPr marL="91439" marR="91439" marT="45722" marB="45722" anchor="ctr"/>
                </a:tc>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26-35</a:t>
                      </a:r>
                    </a:p>
                    <a:p>
                      <a:pPr marL="0" algn="ctr" defTabSz="3027206" rtl="0" eaLnBrk="1" latinLnBrk="0" hangingPunct="1"/>
                      <a:r>
                        <a:rPr lang="en-IN" sz="5400" b="1" kern="1200" dirty="0">
                          <a:solidFill>
                            <a:schemeClr val="tx1"/>
                          </a:solidFill>
                          <a:latin typeface="Times New Roman" panose="02020603050405020304" pitchFamily="18" charset="0"/>
                          <a:ea typeface="+mn-ea"/>
                          <a:cs typeface="Times New Roman" panose="02020603050405020304" pitchFamily="18" charset="0"/>
                        </a:rPr>
                        <a:t>22.2%</a:t>
                      </a:r>
                    </a:p>
                  </a:txBody>
                  <a:tcPr marL="91439" marR="91439" marT="45722" marB="45722" anchor="ctr"/>
                </a:tc>
                <a:extLst>
                  <a:ext uri="{0D108BD9-81ED-4DB2-BD59-A6C34878D82A}">
                    <a16:rowId xmlns:a16="http://schemas.microsoft.com/office/drawing/2014/main" val="3602409120"/>
                  </a:ext>
                </a:extLst>
              </a:tr>
            </a:tbl>
          </a:graphicData>
        </a:graphic>
      </p:graphicFrame>
      <p:sp>
        <p:nvSpPr>
          <p:cNvPr id="1028" name="TextBox 1027">
            <a:extLst>
              <a:ext uri="{FF2B5EF4-FFF2-40B4-BE49-F238E27FC236}">
                <a16:creationId xmlns:a16="http://schemas.microsoft.com/office/drawing/2014/main" id="{853F4E17-EFDC-0F3F-BA58-EF3B119D9955}"/>
              </a:ext>
            </a:extLst>
          </p:cNvPr>
          <p:cNvSpPr txBox="1"/>
          <p:nvPr/>
        </p:nvSpPr>
        <p:spPr>
          <a:xfrm>
            <a:off x="16545797" y="21699618"/>
            <a:ext cx="13348331" cy="1015534"/>
          </a:xfrm>
          <a:prstGeom prst="rect">
            <a:avLst/>
          </a:prstGeom>
          <a:noFill/>
        </p:spPr>
        <p:txBody>
          <a:bodyPr wrap="square" rtlCol="0">
            <a:spAutoFit/>
          </a:bodyPr>
          <a:lstStyle/>
          <a:p>
            <a:pPr algn="ctr"/>
            <a:r>
              <a:rPr lang="en-IN" sz="5999" b="1" dirty="0">
                <a:latin typeface="Times New Roman" panose="02020603050405020304" pitchFamily="18" charset="0"/>
                <a:cs typeface="Times New Roman" panose="02020603050405020304" pitchFamily="18" charset="0"/>
              </a:rPr>
              <a:t>Cycle Collision Counts in UK Districts</a:t>
            </a:r>
          </a:p>
        </p:txBody>
      </p:sp>
      <p:sp>
        <p:nvSpPr>
          <p:cNvPr id="1030" name="TextBox 1029">
            <a:extLst>
              <a:ext uri="{FF2B5EF4-FFF2-40B4-BE49-F238E27FC236}">
                <a16:creationId xmlns:a16="http://schemas.microsoft.com/office/drawing/2014/main" id="{2CA405D0-C01E-D0DC-BD78-E2DFCA8A851E}"/>
              </a:ext>
            </a:extLst>
          </p:cNvPr>
          <p:cNvSpPr txBox="1"/>
          <p:nvPr/>
        </p:nvSpPr>
        <p:spPr>
          <a:xfrm>
            <a:off x="17832222" y="12469493"/>
            <a:ext cx="3425703" cy="830868"/>
          </a:xfrm>
          <a:prstGeom prst="rect">
            <a:avLst/>
          </a:prstGeom>
          <a:noFill/>
        </p:spPr>
        <p:txBody>
          <a:bodyPr wrap="square" rtlCol="0" anchor="ctr">
            <a:spAutoFit/>
          </a:bodyPr>
          <a:lstStyle/>
          <a:p>
            <a:pPr algn="ctr"/>
            <a:r>
              <a:rPr lang="en-IN" sz="4401" b="1" dirty="0">
                <a:latin typeface="Times New Roman" panose="02020603050405020304" pitchFamily="18" charset="0"/>
                <a:cs typeface="Times New Roman" panose="02020603050405020304" pitchFamily="18" charset="0"/>
              </a:rPr>
              <a:t>    Fatal</a:t>
            </a:r>
            <a:r>
              <a:rPr lang="en-IN" sz="4799" b="1" dirty="0">
                <a:latin typeface="Times New Roman" panose="02020603050405020304" pitchFamily="18" charset="0"/>
                <a:cs typeface="Times New Roman" panose="02020603050405020304" pitchFamily="18" charset="0"/>
              </a:rPr>
              <a:t>       | </a:t>
            </a:r>
          </a:p>
        </p:txBody>
      </p:sp>
      <p:sp>
        <p:nvSpPr>
          <p:cNvPr id="1031" name="TextBox 1030">
            <a:extLst>
              <a:ext uri="{FF2B5EF4-FFF2-40B4-BE49-F238E27FC236}">
                <a16:creationId xmlns:a16="http://schemas.microsoft.com/office/drawing/2014/main" id="{2D5B2C4E-CA11-6A6A-F990-A16EE6CC4538}"/>
              </a:ext>
            </a:extLst>
          </p:cNvPr>
          <p:cNvSpPr txBox="1"/>
          <p:nvPr/>
        </p:nvSpPr>
        <p:spPr>
          <a:xfrm>
            <a:off x="20818939" y="12481229"/>
            <a:ext cx="3942739" cy="830868"/>
          </a:xfrm>
          <a:prstGeom prst="rect">
            <a:avLst/>
          </a:prstGeom>
          <a:noFill/>
        </p:spPr>
        <p:txBody>
          <a:bodyPr wrap="square" rtlCol="0">
            <a:spAutoFit/>
          </a:bodyPr>
          <a:lstStyle/>
          <a:p>
            <a:pPr algn="ctr"/>
            <a:r>
              <a:rPr lang="en-IN" sz="4799" b="1" dirty="0">
                <a:latin typeface="Times New Roman" panose="02020603050405020304" pitchFamily="18" charset="0"/>
                <a:cs typeface="Times New Roman" panose="02020603050405020304" pitchFamily="18" charset="0"/>
              </a:rPr>
              <a:t>     </a:t>
            </a:r>
            <a:r>
              <a:rPr lang="en-IN" sz="4401" b="1" dirty="0">
                <a:latin typeface="Times New Roman" panose="02020603050405020304" pitchFamily="18" charset="0"/>
                <a:cs typeface="Times New Roman" panose="02020603050405020304" pitchFamily="18" charset="0"/>
              </a:rPr>
              <a:t>Serious</a:t>
            </a:r>
            <a:r>
              <a:rPr lang="en-IN" sz="4799" b="1" dirty="0">
                <a:latin typeface="Times New Roman" panose="02020603050405020304" pitchFamily="18" charset="0"/>
                <a:cs typeface="Times New Roman" panose="02020603050405020304" pitchFamily="18" charset="0"/>
              </a:rPr>
              <a:t>      |</a:t>
            </a:r>
          </a:p>
        </p:txBody>
      </p:sp>
      <p:sp>
        <p:nvSpPr>
          <p:cNvPr id="1032" name="TextBox 1031">
            <a:extLst>
              <a:ext uri="{FF2B5EF4-FFF2-40B4-BE49-F238E27FC236}">
                <a16:creationId xmlns:a16="http://schemas.microsoft.com/office/drawing/2014/main" id="{212651FB-0550-D267-380C-3F863071CE01}"/>
              </a:ext>
            </a:extLst>
          </p:cNvPr>
          <p:cNvSpPr txBox="1"/>
          <p:nvPr/>
        </p:nvSpPr>
        <p:spPr>
          <a:xfrm>
            <a:off x="24818317" y="12446787"/>
            <a:ext cx="3020012" cy="769570"/>
          </a:xfrm>
          <a:prstGeom prst="rect">
            <a:avLst/>
          </a:prstGeom>
          <a:noFill/>
        </p:spPr>
        <p:txBody>
          <a:bodyPr wrap="square" rtlCol="0" anchor="ctr">
            <a:spAutoFit/>
          </a:bodyPr>
          <a:lstStyle/>
          <a:p>
            <a:pPr algn="ctr"/>
            <a:r>
              <a:rPr lang="en-IN" sz="4401" b="1" dirty="0">
                <a:latin typeface="Times New Roman" panose="02020603050405020304" pitchFamily="18" charset="0"/>
                <a:cs typeface="Times New Roman" panose="02020603050405020304" pitchFamily="18" charset="0"/>
              </a:rPr>
              <a:t>Slight</a:t>
            </a:r>
            <a:endParaRPr lang="en-IN" sz="4799" b="1" dirty="0">
              <a:latin typeface="Times New Roman" panose="02020603050405020304" pitchFamily="18" charset="0"/>
              <a:cs typeface="Times New Roman" panose="02020603050405020304" pitchFamily="18" charset="0"/>
            </a:endParaRPr>
          </a:p>
        </p:txBody>
      </p:sp>
      <p:pic>
        <p:nvPicPr>
          <p:cNvPr id="1035" name="Picture 20" descr="Green go traffic road sign on transparent background PNG - Similar PNG">
            <a:extLst>
              <a:ext uri="{FF2B5EF4-FFF2-40B4-BE49-F238E27FC236}">
                <a16:creationId xmlns:a16="http://schemas.microsoft.com/office/drawing/2014/main" id="{FFC888D7-F969-34E2-75C8-50A1824F986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688" t="10495" r="10861" b="13634"/>
          <a:stretch/>
        </p:blipFill>
        <p:spPr bwMode="auto">
          <a:xfrm>
            <a:off x="15474891" y="3174863"/>
            <a:ext cx="677731" cy="655438"/>
          </a:xfrm>
          <a:prstGeom prst="ellipse">
            <a:avLst/>
          </a:prstGeom>
          <a:noFill/>
          <a:extLst>
            <a:ext uri="{909E8E84-426E-40DD-AFC4-6F175D3DCCD1}">
              <a14:hiddenFill xmlns:a14="http://schemas.microsoft.com/office/drawing/2010/main">
                <a:solidFill>
                  <a:srgbClr val="FFFFFF"/>
                </a:solidFill>
              </a14:hiddenFill>
            </a:ext>
          </a:extLst>
        </p:spPr>
      </p:pic>
      <p:sp>
        <p:nvSpPr>
          <p:cNvPr id="1036" name="TextBox 1035">
            <a:extLst>
              <a:ext uri="{FF2B5EF4-FFF2-40B4-BE49-F238E27FC236}">
                <a16:creationId xmlns:a16="http://schemas.microsoft.com/office/drawing/2014/main" id="{D9E08B11-20C8-56A9-2E74-CB7D880CCCE2}"/>
              </a:ext>
            </a:extLst>
          </p:cNvPr>
          <p:cNvSpPr txBox="1"/>
          <p:nvPr/>
        </p:nvSpPr>
        <p:spPr>
          <a:xfrm>
            <a:off x="16470653" y="2960047"/>
            <a:ext cx="11335913" cy="923201"/>
          </a:xfrm>
          <a:prstGeom prst="rect">
            <a:avLst/>
          </a:prstGeom>
          <a:noFill/>
        </p:spPr>
        <p:txBody>
          <a:bodyPr wrap="square">
            <a:spAutoFit/>
          </a:bodyPr>
          <a:lstStyle/>
          <a:p>
            <a:pPr algn="just"/>
            <a:r>
              <a:rPr lang="en-IN" sz="5399" dirty="0">
                <a:latin typeface="Times New Roman" panose="02020603050405020304" pitchFamily="18" charset="0"/>
                <a:cs typeface="Times New Roman" panose="02020603050405020304" pitchFamily="18" charset="0"/>
              </a:rPr>
              <a:t>Cycles are </a:t>
            </a:r>
            <a:r>
              <a:rPr lang="en-IN" sz="5399" b="1" dirty="0">
                <a:latin typeface="Times New Roman" panose="02020603050405020304" pitchFamily="18" charset="0"/>
                <a:cs typeface="Times New Roman" panose="02020603050405020304" pitchFamily="18" charset="0"/>
              </a:rPr>
              <a:t>becoming</a:t>
            </a:r>
            <a:r>
              <a:rPr lang="en-IN" sz="5399" dirty="0">
                <a:latin typeface="Times New Roman" panose="02020603050405020304" pitchFamily="18" charset="0"/>
                <a:cs typeface="Times New Roman" panose="02020603050405020304" pitchFamily="18" charset="0"/>
              </a:rPr>
              <a:t> </a:t>
            </a:r>
            <a:r>
              <a:rPr lang="en-IN" sz="5399" b="1" u="sng" dirty="0">
                <a:solidFill>
                  <a:schemeClr val="accent6"/>
                </a:solidFill>
                <a:latin typeface="Times New Roman" panose="02020603050405020304" pitchFamily="18" charset="0"/>
                <a:cs typeface="Times New Roman" panose="02020603050405020304" pitchFamily="18" charset="0"/>
              </a:rPr>
              <a:t>safer</a:t>
            </a:r>
            <a:r>
              <a:rPr lang="en-IN" sz="5399" dirty="0">
                <a:latin typeface="Times New Roman" panose="02020603050405020304" pitchFamily="18" charset="0"/>
                <a:cs typeface="Times New Roman" panose="02020603050405020304" pitchFamily="18" charset="0"/>
              </a:rPr>
              <a:t> in general.</a:t>
            </a:r>
          </a:p>
        </p:txBody>
      </p:sp>
      <p:sp>
        <p:nvSpPr>
          <p:cNvPr id="1038" name="TextBox 1037">
            <a:extLst>
              <a:ext uri="{FF2B5EF4-FFF2-40B4-BE49-F238E27FC236}">
                <a16:creationId xmlns:a16="http://schemas.microsoft.com/office/drawing/2014/main" id="{D38E07E3-8971-8495-45F8-C44A49A1E107}"/>
              </a:ext>
            </a:extLst>
          </p:cNvPr>
          <p:cNvSpPr txBox="1"/>
          <p:nvPr/>
        </p:nvSpPr>
        <p:spPr>
          <a:xfrm>
            <a:off x="16515424" y="4145006"/>
            <a:ext cx="12268807" cy="923201"/>
          </a:xfrm>
          <a:prstGeom prst="rect">
            <a:avLst/>
          </a:prstGeom>
          <a:noFill/>
        </p:spPr>
        <p:txBody>
          <a:bodyPr wrap="square">
            <a:spAutoFit/>
          </a:bodyPr>
          <a:lstStyle/>
          <a:p>
            <a:pPr algn="just"/>
            <a:r>
              <a:rPr lang="en-IN" sz="5399" b="1" dirty="0">
                <a:latin typeface="Times New Roman" panose="02020603050405020304" pitchFamily="18" charset="0"/>
                <a:cs typeface="Times New Roman" panose="02020603050405020304" pitchFamily="18" charset="0"/>
              </a:rPr>
              <a:t>1% </a:t>
            </a:r>
            <a:r>
              <a:rPr lang="en-IN" sz="5399" dirty="0">
                <a:latin typeface="Times New Roman" panose="02020603050405020304" pitchFamily="18" charset="0"/>
                <a:cs typeface="Times New Roman" panose="02020603050405020304" pitchFamily="18" charset="0"/>
              </a:rPr>
              <a:t>fatal, </a:t>
            </a:r>
            <a:r>
              <a:rPr lang="en-IN" sz="5399" b="1" dirty="0">
                <a:latin typeface="Times New Roman" panose="02020603050405020304" pitchFamily="18" charset="0"/>
                <a:cs typeface="Times New Roman" panose="02020603050405020304" pitchFamily="18" charset="0"/>
              </a:rPr>
              <a:t>23% </a:t>
            </a:r>
            <a:r>
              <a:rPr lang="en-IN" sz="5399" dirty="0">
                <a:latin typeface="Times New Roman" panose="02020603050405020304" pitchFamily="18" charset="0"/>
                <a:cs typeface="Times New Roman" panose="02020603050405020304" pitchFamily="18" charset="0"/>
              </a:rPr>
              <a:t>serious, </a:t>
            </a:r>
            <a:r>
              <a:rPr lang="en-IN" sz="5399" b="1" dirty="0">
                <a:latin typeface="Times New Roman" panose="02020603050405020304" pitchFamily="18" charset="0"/>
                <a:cs typeface="Times New Roman" panose="02020603050405020304" pitchFamily="18" charset="0"/>
              </a:rPr>
              <a:t>76% </a:t>
            </a:r>
            <a:r>
              <a:rPr lang="en-IN" sz="5399" dirty="0">
                <a:latin typeface="Times New Roman" panose="02020603050405020304" pitchFamily="18" charset="0"/>
                <a:cs typeface="Times New Roman" panose="02020603050405020304" pitchFamily="18" charset="0"/>
              </a:rPr>
              <a:t>slight injuries.</a:t>
            </a:r>
          </a:p>
        </p:txBody>
      </p:sp>
      <p:pic>
        <p:nvPicPr>
          <p:cNvPr id="1039" name="Picture 16" descr="Traffic Cones PNG Transparent Images Free Download | Vector Files | Pngtree">
            <a:extLst>
              <a:ext uri="{FF2B5EF4-FFF2-40B4-BE49-F238E27FC236}">
                <a16:creationId xmlns:a16="http://schemas.microsoft.com/office/drawing/2014/main" id="{011360C2-C86C-50FC-306C-FCE8DE78F1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00179" y="4109351"/>
            <a:ext cx="829037" cy="829037"/>
          </a:xfrm>
          <a:prstGeom prst="rect">
            <a:avLst/>
          </a:prstGeom>
          <a:noFill/>
          <a:extLst>
            <a:ext uri="{909E8E84-426E-40DD-AFC4-6F175D3DCCD1}">
              <a14:hiddenFill xmlns:a14="http://schemas.microsoft.com/office/drawing/2010/main">
                <a:solidFill>
                  <a:srgbClr val="FFFFFF"/>
                </a:solidFill>
              </a14:hiddenFill>
            </a:ext>
          </a:extLst>
        </p:spPr>
      </p:pic>
      <p:sp>
        <p:nvSpPr>
          <p:cNvPr id="1041" name="TextBox 1040">
            <a:extLst>
              <a:ext uri="{FF2B5EF4-FFF2-40B4-BE49-F238E27FC236}">
                <a16:creationId xmlns:a16="http://schemas.microsoft.com/office/drawing/2014/main" id="{B836165D-3967-8400-6D76-380FB7BFB029}"/>
              </a:ext>
            </a:extLst>
          </p:cNvPr>
          <p:cNvSpPr txBox="1"/>
          <p:nvPr/>
        </p:nvSpPr>
        <p:spPr>
          <a:xfrm>
            <a:off x="16515426" y="5361486"/>
            <a:ext cx="13378708" cy="923201"/>
          </a:xfrm>
          <a:prstGeom prst="rect">
            <a:avLst/>
          </a:prstGeom>
          <a:noFill/>
        </p:spPr>
        <p:txBody>
          <a:bodyPr wrap="square">
            <a:spAutoFit/>
          </a:bodyPr>
          <a:lstStyle/>
          <a:p>
            <a:pPr algn="just"/>
            <a:r>
              <a:rPr lang="en-IN" sz="5399" b="1" dirty="0">
                <a:latin typeface="Times New Roman" panose="02020603050405020304" pitchFamily="18" charset="0"/>
                <a:cs typeface="Times New Roman" panose="02020603050405020304" pitchFamily="18" charset="0"/>
              </a:rPr>
              <a:t>75% </a:t>
            </a:r>
            <a:r>
              <a:rPr lang="en-IN" sz="5399" dirty="0">
                <a:latin typeface="Times New Roman" panose="02020603050405020304" pitchFamily="18" charset="0"/>
                <a:cs typeface="Times New Roman" panose="02020603050405020304" pitchFamily="18" charset="0"/>
              </a:rPr>
              <a:t>occurred on</a:t>
            </a:r>
            <a:r>
              <a:rPr lang="en-IN" sz="5399" b="1" dirty="0">
                <a:latin typeface="Times New Roman" panose="02020603050405020304" pitchFamily="18" charset="0"/>
                <a:cs typeface="Times New Roman" panose="02020603050405020304" pitchFamily="18" charset="0"/>
              </a:rPr>
              <a:t> </a:t>
            </a:r>
            <a:r>
              <a:rPr lang="en-IN" sz="5399" dirty="0">
                <a:latin typeface="Times New Roman" panose="02020603050405020304" pitchFamily="18" charset="0"/>
                <a:cs typeface="Times New Roman" panose="02020603050405020304" pitchFamily="18" charset="0"/>
              </a:rPr>
              <a:t>Single carriageway roads.</a:t>
            </a:r>
          </a:p>
        </p:txBody>
      </p:sp>
      <p:sp>
        <p:nvSpPr>
          <p:cNvPr id="1044" name="TextBox 1043">
            <a:extLst>
              <a:ext uri="{FF2B5EF4-FFF2-40B4-BE49-F238E27FC236}">
                <a16:creationId xmlns:a16="http://schemas.microsoft.com/office/drawing/2014/main" id="{BFB88411-A4CB-EAC2-D59C-C3DA81487FC8}"/>
              </a:ext>
            </a:extLst>
          </p:cNvPr>
          <p:cNvSpPr txBox="1"/>
          <p:nvPr/>
        </p:nvSpPr>
        <p:spPr>
          <a:xfrm>
            <a:off x="16515426" y="6445379"/>
            <a:ext cx="13672896" cy="1754070"/>
          </a:xfrm>
          <a:prstGeom prst="rect">
            <a:avLst/>
          </a:prstGeom>
          <a:noFill/>
        </p:spPr>
        <p:txBody>
          <a:bodyPr wrap="square">
            <a:spAutoFit/>
          </a:bodyPr>
          <a:lstStyle/>
          <a:p>
            <a:r>
              <a:rPr lang="en-IN" sz="5399" dirty="0">
                <a:latin typeface="Times New Roman" panose="02020603050405020304" pitchFamily="18" charset="0"/>
                <a:cs typeface="Times New Roman" panose="02020603050405020304" pitchFamily="18" charset="0"/>
              </a:rPr>
              <a:t>Males(</a:t>
            </a:r>
            <a:r>
              <a:rPr lang="en-IN" sz="5399" b="1" dirty="0">
                <a:latin typeface="Times New Roman" panose="02020603050405020304" pitchFamily="18" charset="0"/>
                <a:cs typeface="Times New Roman" panose="02020603050405020304" pitchFamily="18" charset="0"/>
              </a:rPr>
              <a:t>80%</a:t>
            </a:r>
            <a:r>
              <a:rPr lang="en-IN" sz="5399" dirty="0">
                <a:latin typeface="Times New Roman" panose="02020603050405020304" pitchFamily="18" charset="0"/>
                <a:cs typeface="Times New Roman" panose="02020603050405020304" pitchFamily="18" charset="0"/>
              </a:rPr>
              <a:t>) </a:t>
            </a:r>
            <a:r>
              <a:rPr lang="en-IN" sz="5399" b="1" dirty="0">
                <a:latin typeface="Times New Roman" panose="02020603050405020304" pitchFamily="18" charset="0"/>
                <a:cs typeface="Times New Roman" panose="02020603050405020304" pitchFamily="18" charset="0"/>
              </a:rPr>
              <a:t>4x </a:t>
            </a:r>
            <a:r>
              <a:rPr lang="en-IN" sz="5399" dirty="0">
                <a:latin typeface="Times New Roman" panose="02020603050405020304" pitchFamily="18" charset="0"/>
                <a:cs typeface="Times New Roman" panose="02020603050405020304" pitchFamily="18" charset="0"/>
              </a:rPr>
              <a:t>more in collisions than Females(</a:t>
            </a:r>
            <a:r>
              <a:rPr lang="en-IN" sz="5399" b="1" dirty="0">
                <a:latin typeface="Times New Roman" panose="02020603050405020304" pitchFamily="18" charset="0"/>
                <a:cs typeface="Times New Roman" panose="02020603050405020304" pitchFamily="18" charset="0"/>
              </a:rPr>
              <a:t>20%</a:t>
            </a:r>
            <a:r>
              <a:rPr lang="en-IN" sz="5399" dirty="0">
                <a:latin typeface="Times New Roman" panose="02020603050405020304" pitchFamily="18" charset="0"/>
                <a:cs typeface="Times New Roman" panose="02020603050405020304" pitchFamily="18" charset="0"/>
              </a:rPr>
              <a:t>).</a:t>
            </a:r>
            <a:endParaRPr lang="en-IN" sz="5399" b="1" dirty="0">
              <a:latin typeface="Times New Roman" panose="02020603050405020304" pitchFamily="18" charset="0"/>
              <a:cs typeface="Times New Roman" panose="02020603050405020304" pitchFamily="18" charset="0"/>
            </a:endParaRPr>
          </a:p>
        </p:txBody>
      </p:sp>
      <p:pic>
        <p:nvPicPr>
          <p:cNvPr id="1047" name="Picture 16" descr="Traffic Cones PNG Transparent Images Free Download | Vector Files | Pngtree">
            <a:extLst>
              <a:ext uri="{FF2B5EF4-FFF2-40B4-BE49-F238E27FC236}">
                <a16:creationId xmlns:a16="http://schemas.microsoft.com/office/drawing/2014/main" id="{C3069705-7414-EF4E-6D1F-5F40289FFF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89610" y="5300189"/>
            <a:ext cx="829037" cy="829037"/>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16" descr="Traffic Cones PNG Transparent Images Free Download | Vector Files | Pngtree">
            <a:extLst>
              <a:ext uri="{FF2B5EF4-FFF2-40B4-BE49-F238E27FC236}">
                <a16:creationId xmlns:a16="http://schemas.microsoft.com/office/drawing/2014/main" id="{C4290782-84B5-E3C5-BDAE-EB134E8FF6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29430" y="6519568"/>
            <a:ext cx="829037" cy="829037"/>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4B8E103-C1AE-F528-E5CB-CA95B823FC2E}"/>
              </a:ext>
            </a:extLst>
          </p:cNvPr>
          <p:cNvSpPr txBox="1"/>
          <p:nvPr/>
        </p:nvSpPr>
        <p:spPr>
          <a:xfrm>
            <a:off x="16435659" y="8154160"/>
            <a:ext cx="14320409" cy="923201"/>
          </a:xfrm>
          <a:prstGeom prst="rect">
            <a:avLst/>
          </a:prstGeom>
          <a:noFill/>
        </p:spPr>
        <p:txBody>
          <a:bodyPr wrap="square">
            <a:spAutoFit/>
          </a:bodyPr>
          <a:lstStyle/>
          <a:p>
            <a:pPr algn="just"/>
            <a:r>
              <a:rPr lang="en-US" sz="5399" dirty="0">
                <a:latin typeface="Times New Roman" panose="02020603050405020304" pitchFamily="18" charset="0"/>
                <a:cs typeface="Times New Roman" panose="02020603050405020304" pitchFamily="18" charset="0"/>
              </a:rPr>
              <a:t>Majority Collisions happen in </a:t>
            </a:r>
            <a:r>
              <a:rPr lang="en-US" sz="5399" b="1" dirty="0">
                <a:latin typeface="Times New Roman" panose="02020603050405020304" pitchFamily="18" charset="0"/>
                <a:cs typeface="Times New Roman" panose="02020603050405020304" pitchFamily="18" charset="0"/>
              </a:rPr>
              <a:t>England districts.</a:t>
            </a:r>
            <a:endParaRPr lang="en-US" sz="5399" dirty="0">
              <a:latin typeface="Times New Roman" panose="02020603050405020304" pitchFamily="18" charset="0"/>
              <a:cs typeface="Times New Roman" panose="02020603050405020304" pitchFamily="18" charset="0"/>
            </a:endParaRPr>
          </a:p>
        </p:txBody>
      </p:sp>
      <p:pic>
        <p:nvPicPr>
          <p:cNvPr id="1051" name="Picture 16" descr="Traffic Cones PNG Transparent Images Free Download | Vector Files | Pngtree">
            <a:extLst>
              <a:ext uri="{FF2B5EF4-FFF2-40B4-BE49-F238E27FC236}">
                <a16:creationId xmlns:a16="http://schemas.microsoft.com/office/drawing/2014/main" id="{19874167-C216-8919-9E44-809DCB3532A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06973" y="8257059"/>
            <a:ext cx="829037" cy="829037"/>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1052">
            <a:extLst>
              <a:ext uri="{FF2B5EF4-FFF2-40B4-BE49-F238E27FC236}">
                <a16:creationId xmlns:a16="http://schemas.microsoft.com/office/drawing/2014/main" id="{81DA676D-8246-1EBE-7CBE-EF3BA572E5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0007" y="10434175"/>
            <a:ext cx="15072888" cy="11304662"/>
          </a:xfrm>
          <a:prstGeom prst="rect">
            <a:avLst/>
          </a:prstGeom>
        </p:spPr>
      </p:pic>
      <p:pic>
        <p:nvPicPr>
          <p:cNvPr id="2" name="Picture 1">
            <a:extLst>
              <a:ext uri="{FF2B5EF4-FFF2-40B4-BE49-F238E27FC236}">
                <a16:creationId xmlns:a16="http://schemas.microsoft.com/office/drawing/2014/main" id="{31D2EBEA-5002-6C76-2385-927315B0DFF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62160" y="31458481"/>
            <a:ext cx="13836368" cy="10377277"/>
          </a:xfrm>
          <a:prstGeom prst="rect">
            <a:avLst/>
          </a:prstGeom>
        </p:spPr>
      </p:pic>
      <p:sp>
        <p:nvSpPr>
          <p:cNvPr id="10" name="TextBox 9">
            <a:extLst>
              <a:ext uri="{FF2B5EF4-FFF2-40B4-BE49-F238E27FC236}">
                <a16:creationId xmlns:a16="http://schemas.microsoft.com/office/drawing/2014/main" id="{F9B4A038-4F12-5E12-2C15-2F345DA14391}"/>
              </a:ext>
            </a:extLst>
          </p:cNvPr>
          <p:cNvSpPr txBox="1"/>
          <p:nvPr/>
        </p:nvSpPr>
        <p:spPr>
          <a:xfrm rot="16200000">
            <a:off x="13813339" y="30436775"/>
            <a:ext cx="3077499" cy="769570"/>
          </a:xfrm>
          <a:prstGeom prst="rect">
            <a:avLst/>
          </a:prstGeom>
          <a:noFill/>
        </p:spPr>
        <p:txBody>
          <a:bodyPr wrap="square" rtlCol="0">
            <a:spAutoFit/>
          </a:bodyPr>
          <a:lstStyle/>
          <a:p>
            <a:r>
              <a:rPr lang="en-IN" sz="4401" b="1" dirty="0">
                <a:latin typeface="Times New Roman" panose="02020603050405020304" pitchFamily="18" charset="0"/>
                <a:cs typeface="Times New Roman" panose="02020603050405020304" pitchFamily="18" charset="0"/>
              </a:rPr>
              <a:t>Latitude</a:t>
            </a:r>
            <a:endParaRPr lang="en-IN" sz="5399"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C39C036-A3DC-375A-AF70-8B39965BB834}"/>
              </a:ext>
            </a:extLst>
          </p:cNvPr>
          <p:cNvSpPr txBox="1"/>
          <p:nvPr/>
        </p:nvSpPr>
        <p:spPr>
          <a:xfrm>
            <a:off x="22172969" y="39956114"/>
            <a:ext cx="2987781" cy="769570"/>
          </a:xfrm>
          <a:prstGeom prst="rect">
            <a:avLst/>
          </a:prstGeom>
          <a:noFill/>
        </p:spPr>
        <p:txBody>
          <a:bodyPr wrap="square" rtlCol="0">
            <a:spAutoFit/>
          </a:bodyPr>
          <a:lstStyle/>
          <a:p>
            <a:r>
              <a:rPr lang="en-IN" sz="4401" b="1" dirty="0">
                <a:latin typeface="Times New Roman" panose="02020603050405020304" pitchFamily="18" charset="0"/>
                <a:cs typeface="Times New Roman" panose="02020603050405020304" pitchFamily="18" charset="0"/>
              </a:rPr>
              <a:t>Longitude</a:t>
            </a:r>
            <a:endParaRPr lang="en-IN" sz="5399" b="1" dirty="0">
              <a:latin typeface="Times New Roman" panose="02020603050405020304" pitchFamily="18" charset="0"/>
              <a:cs typeface="Times New Roman" panose="02020603050405020304" pitchFamily="18" charset="0"/>
            </a:endParaRPr>
          </a:p>
        </p:txBody>
      </p:sp>
      <p:cxnSp>
        <p:nvCxnSpPr>
          <p:cNvPr id="35" name="Straight Connector 34">
            <a:extLst>
              <a:ext uri="{FF2B5EF4-FFF2-40B4-BE49-F238E27FC236}">
                <a16:creationId xmlns:a16="http://schemas.microsoft.com/office/drawing/2014/main" id="{811F6B7B-1F9B-EBD2-9BB9-9472942F8F84}"/>
              </a:ext>
            </a:extLst>
          </p:cNvPr>
          <p:cNvCxnSpPr>
            <a:cxnSpLocks/>
          </p:cNvCxnSpPr>
          <p:nvPr/>
        </p:nvCxnSpPr>
        <p:spPr>
          <a:xfrm flipH="1" flipV="1">
            <a:off x="15054045" y="5936194"/>
            <a:ext cx="38473" cy="6510658"/>
          </a:xfrm>
          <a:prstGeom prst="line">
            <a:avLst/>
          </a:prstGeom>
          <a:ln w="57150">
            <a:solidFill>
              <a:srgbClr val="595959">
                <a:alpha val="5000"/>
              </a:srgbClr>
            </a:solidFill>
            <a:prstDash val="dash"/>
          </a:ln>
          <a:effectLst/>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9F54B99-2DA8-65EC-6C1A-78A742707A91}"/>
              </a:ext>
            </a:extLst>
          </p:cNvPr>
          <p:cNvCxnSpPr>
            <a:cxnSpLocks/>
          </p:cNvCxnSpPr>
          <p:nvPr/>
        </p:nvCxnSpPr>
        <p:spPr>
          <a:xfrm>
            <a:off x="26708982" y="20660544"/>
            <a:ext cx="3521756" cy="0"/>
          </a:xfrm>
          <a:prstGeom prst="line">
            <a:avLst/>
          </a:prstGeom>
          <a:ln w="57150">
            <a:solidFill>
              <a:schemeClr val="tx1">
                <a:alpha val="5000"/>
              </a:schemeClr>
            </a:solidFill>
            <a:prstDash val="dash"/>
          </a:ln>
          <a:effectLst/>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38AD9C2-4223-D465-5130-B396F5B9CF5C}"/>
              </a:ext>
            </a:extLst>
          </p:cNvPr>
          <p:cNvCxnSpPr>
            <a:cxnSpLocks/>
          </p:cNvCxnSpPr>
          <p:nvPr/>
        </p:nvCxnSpPr>
        <p:spPr>
          <a:xfrm>
            <a:off x="15294357" y="40890761"/>
            <a:ext cx="3521756" cy="0"/>
          </a:xfrm>
          <a:prstGeom prst="line">
            <a:avLst/>
          </a:prstGeom>
          <a:ln w="57150">
            <a:solidFill>
              <a:schemeClr val="tx1">
                <a:alpha val="5000"/>
              </a:schemeClr>
            </a:solidFill>
            <a:prstDash val="dash"/>
          </a:ln>
          <a:effectLst/>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174F383-826C-B218-C82A-6DBF86B2738D}"/>
              </a:ext>
            </a:extLst>
          </p:cNvPr>
          <p:cNvCxnSpPr>
            <a:cxnSpLocks/>
          </p:cNvCxnSpPr>
          <p:nvPr/>
        </p:nvCxnSpPr>
        <p:spPr>
          <a:xfrm flipV="1">
            <a:off x="15175909" y="35661601"/>
            <a:ext cx="6988" cy="7142165"/>
          </a:xfrm>
          <a:prstGeom prst="line">
            <a:avLst/>
          </a:prstGeom>
          <a:ln w="57150">
            <a:solidFill>
              <a:schemeClr val="tx1">
                <a:alpha val="5000"/>
              </a:schemeClr>
            </a:solidFill>
            <a:prstDash val="dash"/>
          </a:ln>
          <a:effectLst/>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3BFA9B10-1A62-77B2-51B0-1274AA63026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21443192"/>
            <a:ext cx="15463366" cy="11597525"/>
          </a:xfrm>
          <a:prstGeom prst="rect">
            <a:avLst/>
          </a:prstGeom>
        </p:spPr>
      </p:pic>
      <p:sp>
        <p:nvSpPr>
          <p:cNvPr id="9" name="Circle: Hollow 8">
            <a:extLst>
              <a:ext uri="{FF2B5EF4-FFF2-40B4-BE49-F238E27FC236}">
                <a16:creationId xmlns:a16="http://schemas.microsoft.com/office/drawing/2014/main" id="{3021BCDE-5BCE-C22E-E39F-1EB8EA454C9C}"/>
              </a:ext>
            </a:extLst>
          </p:cNvPr>
          <p:cNvSpPr/>
          <p:nvPr/>
        </p:nvSpPr>
        <p:spPr>
          <a:xfrm>
            <a:off x="28349921" y="14031990"/>
            <a:ext cx="1502888" cy="1487522"/>
          </a:xfrm>
          <a:prstGeom prst="donut">
            <a:avLst/>
          </a:prstGeom>
          <a:solidFill>
            <a:srgbClr val="FFC0CB"/>
          </a:solidFill>
          <a:ln>
            <a:solidFill>
              <a:srgbClr val="FFC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Circle: Hollow 13">
            <a:extLst>
              <a:ext uri="{FF2B5EF4-FFF2-40B4-BE49-F238E27FC236}">
                <a16:creationId xmlns:a16="http://schemas.microsoft.com/office/drawing/2014/main" id="{06C90BED-2687-02D9-2FF8-4386A769AE9A}"/>
              </a:ext>
            </a:extLst>
          </p:cNvPr>
          <p:cNvSpPr/>
          <p:nvPr/>
        </p:nvSpPr>
        <p:spPr>
          <a:xfrm>
            <a:off x="28309767" y="17046001"/>
            <a:ext cx="1502888" cy="1487522"/>
          </a:xfrm>
          <a:prstGeom prst="donut">
            <a:avLst/>
          </a:prstGeom>
          <a:solidFill>
            <a:srgbClr val="4472C4"/>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948790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754D203-A2DC-3459-05B3-EE1A295EECF6}"/>
              </a:ext>
            </a:extLst>
          </p:cNvPr>
          <p:cNvGraphicFramePr>
            <a:graphicFrameLocks noGrp="1"/>
          </p:cNvGraphicFramePr>
          <p:nvPr>
            <p:extLst>
              <p:ext uri="{D42A27DB-BD31-4B8C-83A1-F6EECF244321}">
                <p14:modId xmlns:p14="http://schemas.microsoft.com/office/powerpoint/2010/main" val="1771233909"/>
              </p:ext>
            </p:extLst>
          </p:nvPr>
        </p:nvGraphicFramePr>
        <p:xfrm>
          <a:off x="621505" y="7581900"/>
          <a:ext cx="29032201" cy="29592248"/>
        </p:xfrm>
        <a:graphic>
          <a:graphicData uri="http://schemas.openxmlformats.org/drawingml/2006/table">
            <a:tbl>
              <a:tblPr>
                <a:tableStyleId>{5C22544A-7EE6-4342-B048-85BDC9FD1C3A}</a:tableStyleId>
              </a:tblPr>
              <a:tblGrid>
                <a:gridCol w="8760563">
                  <a:extLst>
                    <a:ext uri="{9D8B030D-6E8A-4147-A177-3AD203B41FA5}">
                      <a16:colId xmlns:a16="http://schemas.microsoft.com/office/drawing/2014/main" val="3654383876"/>
                    </a:ext>
                  </a:extLst>
                </a:gridCol>
                <a:gridCol w="20271638">
                  <a:extLst>
                    <a:ext uri="{9D8B030D-6E8A-4147-A177-3AD203B41FA5}">
                      <a16:colId xmlns:a16="http://schemas.microsoft.com/office/drawing/2014/main" val="1417909998"/>
                    </a:ext>
                  </a:extLst>
                </a:gridCol>
              </a:tblGrid>
              <a:tr h="2633966">
                <a:tc>
                  <a:txBody>
                    <a:bodyPr/>
                    <a:lstStyle/>
                    <a:p>
                      <a:pPr>
                        <a:spcBef>
                          <a:spcPts val="200"/>
                        </a:spcBef>
                        <a:spcAft>
                          <a:spcPts val="200"/>
                        </a:spcAft>
                      </a:pPr>
                      <a:r>
                        <a:rPr lang="en-GB" sz="5400">
                          <a:effectLst/>
                        </a:rPr>
                        <a:t>Module number:  </a:t>
                      </a:r>
                      <a:endParaRPr lang="en-IN" sz="5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Bef>
                          <a:spcPts val="200"/>
                        </a:spcBef>
                        <a:spcAft>
                          <a:spcPts val="200"/>
                        </a:spcAft>
                      </a:pPr>
                      <a:r>
                        <a:rPr lang="en-GB" sz="5400" dirty="0">
                          <a:effectLst/>
                        </a:rPr>
                        <a:t>PMIM502</a:t>
                      </a:r>
                      <a:endParaRPr lang="en-IN" sz="5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40359666"/>
                  </a:ext>
                </a:extLst>
              </a:tr>
              <a:tr h="2633966">
                <a:tc>
                  <a:txBody>
                    <a:bodyPr/>
                    <a:lstStyle/>
                    <a:p>
                      <a:pPr>
                        <a:spcBef>
                          <a:spcPts val="200"/>
                        </a:spcBef>
                        <a:spcAft>
                          <a:spcPts val="200"/>
                        </a:spcAft>
                      </a:pPr>
                      <a:r>
                        <a:rPr lang="en-GB" sz="5400" dirty="0">
                          <a:effectLst/>
                        </a:rPr>
                        <a:t>Module name:</a:t>
                      </a:r>
                      <a:endParaRPr lang="en-IN" sz="5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Bef>
                          <a:spcPts val="200"/>
                        </a:spcBef>
                        <a:spcAft>
                          <a:spcPts val="200"/>
                        </a:spcAft>
                      </a:pPr>
                      <a:r>
                        <a:rPr lang="en-GB" sz="5400" dirty="0">
                          <a:effectLst/>
                        </a:rPr>
                        <a:t>Data Visualisation</a:t>
                      </a:r>
                      <a:endParaRPr lang="en-IN" sz="5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50427811"/>
                  </a:ext>
                </a:extLst>
              </a:tr>
              <a:tr h="2633966">
                <a:tc>
                  <a:txBody>
                    <a:bodyPr/>
                    <a:lstStyle/>
                    <a:p>
                      <a:pPr>
                        <a:spcBef>
                          <a:spcPts val="200"/>
                        </a:spcBef>
                        <a:spcAft>
                          <a:spcPts val="200"/>
                        </a:spcAft>
                      </a:pPr>
                      <a:r>
                        <a:rPr lang="en-GB" sz="5400" dirty="0">
                          <a:effectLst/>
                        </a:rPr>
                        <a:t>Title of assignment:</a:t>
                      </a:r>
                      <a:endParaRPr lang="en-IN" sz="5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Bef>
                          <a:spcPts val="200"/>
                        </a:spcBef>
                        <a:spcAft>
                          <a:spcPts val="200"/>
                        </a:spcAft>
                      </a:pPr>
                      <a:r>
                        <a:rPr lang="en-GB" sz="5400" dirty="0">
                          <a:effectLst/>
                        </a:rPr>
                        <a:t>Scientific Poster: Is Cycling Safer?</a:t>
                      </a:r>
                      <a:endParaRPr lang="en-IN" sz="5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2756718"/>
                  </a:ext>
                </a:extLst>
              </a:tr>
              <a:tr h="2633966">
                <a:tc>
                  <a:txBody>
                    <a:bodyPr/>
                    <a:lstStyle/>
                    <a:p>
                      <a:pPr>
                        <a:spcBef>
                          <a:spcPts val="200"/>
                        </a:spcBef>
                        <a:spcAft>
                          <a:spcPts val="200"/>
                        </a:spcAft>
                      </a:pPr>
                      <a:r>
                        <a:rPr lang="en-GB" sz="5400">
                          <a:effectLst/>
                        </a:rPr>
                        <a:t>Student ID number:</a:t>
                      </a:r>
                      <a:endParaRPr lang="en-IN" sz="5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Bef>
                          <a:spcPts val="200"/>
                        </a:spcBef>
                        <a:spcAft>
                          <a:spcPts val="200"/>
                        </a:spcAft>
                      </a:pPr>
                      <a:r>
                        <a:rPr lang="en-GB" sz="5400">
                          <a:effectLst/>
                        </a:rPr>
                        <a:t>2311233</a:t>
                      </a:r>
                      <a:endParaRPr lang="en-IN" sz="5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25401368"/>
                  </a:ext>
                </a:extLst>
              </a:tr>
              <a:tr h="1975474">
                <a:tc>
                  <a:txBody>
                    <a:bodyPr/>
                    <a:lstStyle/>
                    <a:p>
                      <a:pPr>
                        <a:spcBef>
                          <a:spcPts val="200"/>
                        </a:spcBef>
                        <a:spcAft>
                          <a:spcPts val="200"/>
                        </a:spcAft>
                      </a:pPr>
                      <a:r>
                        <a:rPr lang="en-GB" sz="5400">
                          <a:effectLst/>
                        </a:rPr>
                        <a:t>Word count:</a:t>
                      </a:r>
                      <a:endParaRPr lang="en-IN" sz="54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spcBef>
                          <a:spcPts val="200"/>
                        </a:spcBef>
                        <a:spcAft>
                          <a:spcPts val="200"/>
                        </a:spcAft>
                      </a:pPr>
                      <a:r>
                        <a:rPr lang="en-GB" sz="5400" dirty="0">
                          <a:effectLst/>
                        </a:rPr>
                        <a:t>Not applicable</a:t>
                      </a:r>
                      <a:endParaRPr lang="en-IN" sz="5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32049528"/>
                  </a:ext>
                </a:extLst>
              </a:tr>
              <a:tr h="13129962">
                <a:tc>
                  <a:txBody>
                    <a:bodyPr/>
                    <a:lstStyle/>
                    <a:p>
                      <a:pPr>
                        <a:spcBef>
                          <a:spcPts val="200"/>
                        </a:spcBef>
                        <a:spcAft>
                          <a:spcPts val="200"/>
                        </a:spcAft>
                      </a:pPr>
                      <a:r>
                        <a:rPr lang="en-GB" sz="5400" dirty="0">
                          <a:effectLst/>
                        </a:rPr>
                        <a:t>Declaration:</a:t>
                      </a:r>
                      <a:endParaRPr lang="en-IN" sz="5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r>
                        <a:rPr lang="en-GB" sz="5400" dirty="0">
                          <a:effectLst/>
                        </a:rPr>
                        <a:t>I understand the following conditions which apply throughout this course:</a:t>
                      </a:r>
                      <a:endParaRPr lang="en-IN" sz="5400" dirty="0">
                        <a:effectLst/>
                      </a:endParaRPr>
                    </a:p>
                    <a:p>
                      <a:r>
                        <a:rPr lang="en-GB" sz="5400" dirty="0">
                          <a:effectLst/>
                        </a:rPr>
                        <a:t> </a:t>
                      </a:r>
                      <a:endParaRPr lang="en-IN" sz="5400" dirty="0">
                        <a:effectLst/>
                      </a:endParaRPr>
                    </a:p>
                    <a:p>
                      <a:pPr marL="342900" lvl="0" indent="-342900">
                        <a:buFont typeface="+mj-lt"/>
                        <a:buAutoNum type="arabicPeriod"/>
                      </a:pPr>
                      <a:r>
                        <a:rPr lang="en-GB" sz="5400" dirty="0">
                          <a:effectLst/>
                        </a:rPr>
                        <a:t>I confirm that I am the sole author of this work.</a:t>
                      </a:r>
                      <a:endParaRPr lang="en-IN" sz="5400" dirty="0">
                        <a:effectLst/>
                      </a:endParaRPr>
                    </a:p>
                    <a:p>
                      <a:pPr marL="342900" lvl="0" indent="-342900">
                        <a:buFont typeface="+mj-lt"/>
                        <a:buAutoNum type="arabicPeriod"/>
                      </a:pPr>
                      <a:r>
                        <a:rPr lang="en-GB" sz="5400" dirty="0">
                          <a:effectLst/>
                        </a:rPr>
                        <a:t>I understand that proof reading by a third party is discouraged, but if used, records should be available as per guidelines.</a:t>
                      </a:r>
                      <a:endParaRPr lang="en-IN" sz="5400" dirty="0">
                        <a:effectLst/>
                      </a:endParaRPr>
                    </a:p>
                    <a:p>
                      <a:pPr marL="342900" lvl="0" indent="-342900">
                        <a:buFont typeface="+mj-lt"/>
                        <a:buAutoNum type="arabicPeriod"/>
                      </a:pPr>
                      <a:r>
                        <a:rPr lang="en-GB" sz="5400" dirty="0">
                          <a:effectLst/>
                        </a:rPr>
                        <a:t>I understand the need for academic integrity and that all my submitted work will adhere to its principles.</a:t>
                      </a:r>
                      <a:endParaRPr lang="en-IN" sz="5400" dirty="0">
                        <a:effectLst/>
                      </a:endParaRPr>
                    </a:p>
                    <a:p>
                      <a:pPr marL="342900" lvl="0" indent="-342900">
                        <a:buFont typeface="+mj-lt"/>
                        <a:buAutoNum type="arabicPeriod"/>
                      </a:pPr>
                      <a:r>
                        <a:rPr lang="en-GB" sz="5400" dirty="0">
                          <a:effectLst/>
                        </a:rPr>
                        <a:t>I understand that the teaching team will take measures to deter, detect and report any academic misconduct.</a:t>
                      </a:r>
                      <a:endParaRPr lang="en-IN" sz="5400" dirty="0">
                        <a:effectLst/>
                      </a:endParaRPr>
                    </a:p>
                    <a:p>
                      <a:pPr marL="342900" lvl="0" indent="-342900">
                        <a:buFont typeface="+mj-lt"/>
                        <a:buAutoNum type="arabicPeriod"/>
                      </a:pPr>
                      <a:r>
                        <a:rPr lang="en-GB" sz="5400" dirty="0">
                          <a:effectLst/>
                        </a:rPr>
                        <a:t>I agree to my work being submitted to the </a:t>
                      </a:r>
                      <a:r>
                        <a:rPr lang="en-GB" sz="5400" dirty="0" err="1">
                          <a:effectLst/>
                        </a:rPr>
                        <a:t>TurnItIn</a:t>
                      </a:r>
                      <a:r>
                        <a:rPr lang="en-GB" sz="5400" dirty="0">
                          <a:effectLst/>
                        </a:rPr>
                        <a:t> academic database.</a:t>
                      </a:r>
                      <a:endParaRPr lang="en-IN" sz="5400" dirty="0">
                        <a:effectLst/>
                      </a:endParaRPr>
                    </a:p>
                    <a:p>
                      <a:pPr marL="342900" lvl="0" indent="-342900">
                        <a:buFont typeface="+mj-lt"/>
                        <a:buAutoNum type="arabicPeriod"/>
                      </a:pPr>
                      <a:r>
                        <a:rPr lang="en-GB" sz="5400" dirty="0">
                          <a:effectLst/>
                        </a:rPr>
                        <a:t>I understand the importance of assignment deadlines and the need to seek help in good time where personal circumstances interrupt my work.</a:t>
                      </a:r>
                      <a:endParaRPr lang="en-IN" sz="5400" dirty="0">
                        <a:effectLst/>
                      </a:endParaRPr>
                    </a:p>
                  </a:txBody>
                  <a:tcPr marL="68580" marR="68580" marT="0" marB="0"/>
                </a:tc>
                <a:extLst>
                  <a:ext uri="{0D108BD9-81ED-4DB2-BD59-A6C34878D82A}">
                    <a16:rowId xmlns:a16="http://schemas.microsoft.com/office/drawing/2014/main" val="1236118165"/>
                  </a:ext>
                </a:extLst>
              </a:tr>
              <a:tr h="3950948">
                <a:tc gridSpan="2">
                  <a:txBody>
                    <a:bodyPr/>
                    <a:lstStyle/>
                    <a:p>
                      <a:r>
                        <a:rPr lang="en-GB" sz="5400" dirty="0">
                          <a:effectLst/>
                        </a:rPr>
                        <a:t> </a:t>
                      </a:r>
                      <a:endParaRPr lang="en-IN" sz="5400" dirty="0">
                        <a:effectLst/>
                      </a:endParaRPr>
                    </a:p>
                    <a:p>
                      <a:r>
                        <a:rPr lang="en-GB" sz="5400" dirty="0">
                          <a:effectLst/>
                        </a:rPr>
                        <a:t>Please copy and paste this declaration onto the front of the submission.</a:t>
                      </a:r>
                      <a:endParaRPr lang="en-IN" sz="5400" dirty="0">
                        <a:effectLst/>
                      </a:endParaRPr>
                    </a:p>
                    <a:p>
                      <a:r>
                        <a:rPr lang="en-GB" sz="5400" dirty="0">
                          <a:effectLst/>
                        </a:rPr>
                        <a:t> </a:t>
                      </a:r>
                      <a:endParaRPr lang="en-IN" sz="54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3891258160"/>
                  </a:ext>
                </a:extLst>
              </a:tr>
            </a:tbl>
          </a:graphicData>
        </a:graphic>
      </p:graphicFrame>
      <p:sp>
        <p:nvSpPr>
          <p:cNvPr id="3" name="Rectangle 2">
            <a:extLst>
              <a:ext uri="{FF2B5EF4-FFF2-40B4-BE49-F238E27FC236}">
                <a16:creationId xmlns:a16="http://schemas.microsoft.com/office/drawing/2014/main" id="{C9A92533-A104-6E80-C7F0-037B9E454E48}"/>
              </a:ext>
            </a:extLst>
          </p:cNvPr>
          <p:cNvSpPr>
            <a:spLocks noChangeArrowheads="1"/>
          </p:cNvSpPr>
          <p:nvPr/>
        </p:nvSpPr>
        <p:spPr bwMode="auto">
          <a:xfrm>
            <a:off x="12041188" y="23144163"/>
            <a:ext cx="30275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049" name="Picture 1">
            <a:extLst>
              <a:ext uri="{FF2B5EF4-FFF2-40B4-BE49-F238E27FC236}">
                <a16:creationId xmlns:a16="http://schemas.microsoft.com/office/drawing/2014/main" id="{EC2D109A-D50E-78EA-62CE-0FB69EEE2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45801" y="1249328"/>
            <a:ext cx="5748338" cy="57277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61A606D-5D1C-8FD6-0997-4F1BCA9000FE}"/>
              </a:ext>
            </a:extLst>
          </p:cNvPr>
          <p:cNvSpPr txBox="1"/>
          <p:nvPr/>
        </p:nvSpPr>
        <p:spPr>
          <a:xfrm>
            <a:off x="981074" y="4113195"/>
            <a:ext cx="12096749" cy="1107996"/>
          </a:xfrm>
          <a:prstGeom prst="rect">
            <a:avLst/>
          </a:prstGeom>
          <a:noFill/>
        </p:spPr>
        <p:txBody>
          <a:bodyPr wrap="square">
            <a:spAutoFit/>
          </a:bodyPr>
          <a:lstStyle/>
          <a:p>
            <a:r>
              <a:rPr lang="en-GB" sz="6600" b="1" dirty="0">
                <a:effectLst/>
                <a:latin typeface="Arial" panose="020B0604020202020204" pitchFamily="34" charset="0"/>
                <a:ea typeface="Times New Roman" panose="02020603050405020304" pitchFamily="18" charset="0"/>
                <a:cs typeface="Times New Roman" panose="02020603050405020304" pitchFamily="18" charset="0"/>
              </a:rPr>
              <a:t>Assignment for PMIM502</a:t>
            </a:r>
            <a:endParaRPr lang="en-IN" sz="4000"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8635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55" name="Picture 1054">
            <a:extLst>
              <a:ext uri="{FF2B5EF4-FFF2-40B4-BE49-F238E27FC236}">
                <a16:creationId xmlns:a16="http://schemas.microsoft.com/office/drawing/2014/main" id="{7114E62F-3028-83EB-3755-2B3E35A2A2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1132" y="20184553"/>
            <a:ext cx="17236021" cy="21468847"/>
          </a:xfrm>
          <a:prstGeom prst="rect">
            <a:avLst/>
          </a:prstGeom>
        </p:spPr>
      </p:pic>
      <p:cxnSp>
        <p:nvCxnSpPr>
          <p:cNvPr id="26" name="Straight Connector 25">
            <a:extLst>
              <a:ext uri="{FF2B5EF4-FFF2-40B4-BE49-F238E27FC236}">
                <a16:creationId xmlns:a16="http://schemas.microsoft.com/office/drawing/2014/main" id="{6FFA6159-24BE-CDAE-494C-25A64F55F897}"/>
              </a:ext>
            </a:extLst>
          </p:cNvPr>
          <p:cNvCxnSpPr>
            <a:cxnSpLocks/>
          </p:cNvCxnSpPr>
          <p:nvPr/>
        </p:nvCxnSpPr>
        <p:spPr>
          <a:xfrm>
            <a:off x="11814608" y="9624091"/>
            <a:ext cx="6620877" cy="0"/>
          </a:xfrm>
          <a:prstGeom prst="line">
            <a:avLst/>
          </a:prstGeom>
          <a:ln w="57150">
            <a:solidFill>
              <a:srgbClr val="595959"/>
            </a:solidFill>
            <a:prstDash val="dash"/>
          </a:ln>
          <a:effectLst/>
        </p:spPr>
        <p:style>
          <a:lnRef idx="1">
            <a:schemeClr val="accent1"/>
          </a:lnRef>
          <a:fillRef idx="0">
            <a:schemeClr val="accent1"/>
          </a:fillRef>
          <a:effectRef idx="0">
            <a:schemeClr val="accent1"/>
          </a:effectRef>
          <a:fontRef idx="minor">
            <a:schemeClr val="tx1"/>
          </a:fontRef>
        </p:style>
      </p:cxnSp>
      <p:pic>
        <p:nvPicPr>
          <p:cNvPr id="12" name="Picture 6" descr="Download Bicycle Black Siluete Png Image HQ PNG Image | FreePNGImg">
            <a:extLst>
              <a:ext uri="{FF2B5EF4-FFF2-40B4-BE49-F238E27FC236}">
                <a16:creationId xmlns:a16="http://schemas.microsoft.com/office/drawing/2014/main" id="{00895EB1-14DB-B4E6-EC62-2E6744855CE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artisticPhotocopy trans="3000"/>
                    </a14:imgEffect>
                  </a14:imgLayer>
                </a14:imgProps>
              </a:ext>
              <a:ext uri="{28A0092B-C50C-407E-A947-70E740481C1C}">
                <a14:useLocalDpi xmlns:a14="http://schemas.microsoft.com/office/drawing/2010/main" val="0"/>
              </a:ext>
            </a:extLst>
          </a:blip>
          <a:srcRect/>
          <a:stretch>
            <a:fillRect/>
          </a:stretch>
        </p:blipFill>
        <p:spPr bwMode="auto">
          <a:xfrm rot="16200000">
            <a:off x="-2930899" y="16560988"/>
            <a:ext cx="18014148" cy="10192460"/>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EA10203-C68B-652A-668D-2AB7F9BC2D2A}"/>
              </a:ext>
            </a:extLst>
          </p:cNvPr>
          <p:cNvSpPr/>
          <p:nvPr/>
        </p:nvSpPr>
        <p:spPr>
          <a:xfrm>
            <a:off x="0" y="-2"/>
            <a:ext cx="1672253" cy="42803765"/>
          </a:xfrm>
          <a:prstGeom prst="rect">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sp>
        <p:nvSpPr>
          <p:cNvPr id="32" name="Rectangle 31">
            <a:extLst>
              <a:ext uri="{FF2B5EF4-FFF2-40B4-BE49-F238E27FC236}">
                <a16:creationId xmlns:a16="http://schemas.microsoft.com/office/drawing/2014/main" id="{8A1D1318-DE55-96F3-0C9D-214AAD21C4FE}"/>
              </a:ext>
            </a:extLst>
          </p:cNvPr>
          <p:cNvSpPr/>
          <p:nvPr/>
        </p:nvSpPr>
        <p:spPr>
          <a:xfrm>
            <a:off x="1404462" y="-2"/>
            <a:ext cx="85329" cy="428037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latin typeface="Transport" panose="02000000000000000000" pitchFamily="2" charset="0"/>
            </a:endParaRPr>
          </a:p>
        </p:txBody>
      </p:sp>
      <p:pic>
        <p:nvPicPr>
          <p:cNvPr id="38" name="Picture 4" descr="Free Black And White Bicycle Images, Download Free Black And White Bicycle  Images png images, Free ClipArts on Clipart Library">
            <a:extLst>
              <a:ext uri="{FF2B5EF4-FFF2-40B4-BE49-F238E27FC236}">
                <a16:creationId xmlns:a16="http://schemas.microsoft.com/office/drawing/2014/main" id="{DEFFB945-94AA-FC1F-F7C0-2CBD361D31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8165" y="2915617"/>
            <a:ext cx="1366726" cy="1025912"/>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8D188EB5-D97B-14B8-59E8-7AE8216573F3}"/>
              </a:ext>
            </a:extLst>
          </p:cNvPr>
          <p:cNvSpPr txBox="1"/>
          <p:nvPr/>
        </p:nvSpPr>
        <p:spPr>
          <a:xfrm>
            <a:off x="10567899" y="173326"/>
            <a:ext cx="9139962" cy="1446230"/>
          </a:xfrm>
          <a:prstGeom prst="rect">
            <a:avLst/>
          </a:prstGeom>
          <a:noFill/>
        </p:spPr>
        <p:txBody>
          <a:bodyPr wrap="square" rtlCol="0">
            <a:spAutoFit/>
          </a:bodyPr>
          <a:lstStyle/>
          <a:p>
            <a:r>
              <a:rPr lang="en-IN" sz="8798" b="1" dirty="0">
                <a:latin typeface="Times New Roman" panose="02020603050405020304" pitchFamily="18" charset="0"/>
                <a:cs typeface="Times New Roman" panose="02020603050405020304" pitchFamily="18" charset="0"/>
              </a:rPr>
              <a:t>Is Cycling </a:t>
            </a:r>
            <a:r>
              <a:rPr lang="en-IN" sz="8798" b="1" u="sng" dirty="0">
                <a:solidFill>
                  <a:schemeClr val="accent6"/>
                </a:solidFill>
                <a:latin typeface="Times New Roman" panose="02020603050405020304" pitchFamily="18" charset="0"/>
                <a:cs typeface="Times New Roman" panose="02020603050405020304" pitchFamily="18" charset="0"/>
              </a:rPr>
              <a:t>Safer</a:t>
            </a:r>
            <a:r>
              <a:rPr lang="en-IN" sz="8798" b="1" dirty="0">
                <a:latin typeface="Times New Roman" panose="02020603050405020304" pitchFamily="18" charset="0"/>
                <a:cs typeface="Times New Roman" panose="02020603050405020304" pitchFamily="18" charset="0"/>
              </a:rPr>
              <a:t> ?</a:t>
            </a:r>
          </a:p>
        </p:txBody>
      </p:sp>
      <p:sp>
        <p:nvSpPr>
          <p:cNvPr id="42" name="TextBox 41">
            <a:extLst>
              <a:ext uri="{FF2B5EF4-FFF2-40B4-BE49-F238E27FC236}">
                <a16:creationId xmlns:a16="http://schemas.microsoft.com/office/drawing/2014/main" id="{D46F97AF-A5B3-7609-1620-DE65A8AF0A1E}"/>
              </a:ext>
            </a:extLst>
          </p:cNvPr>
          <p:cNvSpPr txBox="1"/>
          <p:nvPr/>
        </p:nvSpPr>
        <p:spPr>
          <a:xfrm>
            <a:off x="2053373" y="1865025"/>
            <a:ext cx="6709628"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INTRODUCTION:</a:t>
            </a:r>
            <a:endParaRPr lang="en-IN" sz="120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5A33D4B3-CF59-C6D6-EAAC-2928A8E11010}"/>
              </a:ext>
            </a:extLst>
          </p:cNvPr>
          <p:cNvSpPr txBox="1"/>
          <p:nvPr/>
        </p:nvSpPr>
        <p:spPr>
          <a:xfrm>
            <a:off x="2023874" y="2865809"/>
            <a:ext cx="12861703" cy="5908412"/>
          </a:xfrm>
          <a:prstGeom prst="rect">
            <a:avLst/>
          </a:prstGeom>
          <a:noFill/>
        </p:spPr>
        <p:txBody>
          <a:bodyPr wrap="square">
            <a:spAutoFit/>
          </a:bodyPr>
          <a:lstStyle/>
          <a:p>
            <a:pPr algn="just"/>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Modern age promotes use of pedal cycle more for environment and physical health benefits.This data analysis aims to investigate the involvement of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pedal cycles in collisions </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for the period </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2018–2022, sourced </a:t>
            </a:r>
            <a:r>
              <a:rPr lang="en-IN" sz="5399" b="1" dirty="0">
                <a:latin typeface="Times New Roman" panose="02020603050405020304" pitchFamily="18" charset="0"/>
                <a:cs typeface="Times New Roman" panose="02020603050405020304" pitchFamily="18" charset="0"/>
              </a:rPr>
              <a:t>Stats19 UK</a:t>
            </a:r>
            <a:r>
              <a:rPr lang="en-IN" sz="5399" b="1" dirty="0">
                <a:latin typeface="Times New Roman" panose="02020603050405020304" pitchFamily="18" charset="0"/>
                <a:ea typeface="Sans Serif Collection" panose="020B0502040504020204" pitchFamily="34" charset="0"/>
                <a:cs typeface="Times New Roman" panose="02020603050405020304" pitchFamily="18" charset="0"/>
              </a:rPr>
              <a:t> data </a:t>
            </a:r>
            <a:r>
              <a:rPr lang="en-IN" sz="5399" dirty="0">
                <a:latin typeface="Times New Roman" panose="02020603050405020304" pitchFamily="18" charset="0"/>
                <a:ea typeface="Sans Serif Collection" panose="020B0502040504020204" pitchFamily="34" charset="0"/>
                <a:cs typeface="Times New Roman" panose="02020603050405020304" pitchFamily="18" charset="0"/>
              </a:rPr>
              <a:t>to address common WH questions about safety concerns related to pedal cycles.</a:t>
            </a:r>
            <a:endParaRPr lang="en-IN" sz="5399" b="1" dirty="0">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49" name="TextBox 48">
            <a:extLst>
              <a:ext uri="{FF2B5EF4-FFF2-40B4-BE49-F238E27FC236}">
                <a16:creationId xmlns:a16="http://schemas.microsoft.com/office/drawing/2014/main" id="{4699CDB0-07D6-E2A0-31D7-E458712F10D1}"/>
              </a:ext>
            </a:extLst>
          </p:cNvPr>
          <p:cNvSpPr txBox="1"/>
          <p:nvPr/>
        </p:nvSpPr>
        <p:spPr>
          <a:xfrm>
            <a:off x="2032626" y="9285929"/>
            <a:ext cx="5798860" cy="923201"/>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OBSERVATION:</a:t>
            </a:r>
            <a:endParaRPr lang="en-IN" sz="5399" dirty="0">
              <a:latin typeface="Times New Roman" panose="02020603050405020304" pitchFamily="18" charset="0"/>
              <a:cs typeface="Times New Roman" panose="02020603050405020304" pitchFamily="18" charset="0"/>
            </a:endParaRPr>
          </a:p>
        </p:txBody>
      </p:sp>
      <p:sp>
        <p:nvSpPr>
          <p:cNvPr id="1029" name="TextBox 1028">
            <a:extLst>
              <a:ext uri="{FF2B5EF4-FFF2-40B4-BE49-F238E27FC236}">
                <a16:creationId xmlns:a16="http://schemas.microsoft.com/office/drawing/2014/main" id="{2F4E8814-4B54-1A9C-76E1-01CE00D720CB}"/>
              </a:ext>
            </a:extLst>
          </p:cNvPr>
          <p:cNvSpPr txBox="1"/>
          <p:nvPr/>
        </p:nvSpPr>
        <p:spPr>
          <a:xfrm>
            <a:off x="15240598" y="1716727"/>
            <a:ext cx="6074979" cy="1200329"/>
          </a:xfrm>
          <a:prstGeom prst="rect">
            <a:avLst/>
          </a:prstGeom>
          <a:noFill/>
        </p:spPr>
        <p:txBody>
          <a:bodyPr wrap="square">
            <a:spAutoFit/>
          </a:bodyPr>
          <a:lstStyle/>
          <a:p>
            <a:r>
              <a:rPr lang="en-IN" sz="5399" b="1" u="sng" dirty="0">
                <a:latin typeface="Times New Roman" panose="02020603050405020304" pitchFamily="18" charset="0"/>
                <a:cs typeface="Times New Roman" panose="02020603050405020304" pitchFamily="18" charset="0"/>
              </a:rPr>
              <a:t>CONCLUSION</a:t>
            </a:r>
            <a:r>
              <a:rPr lang="en-IN" sz="7200" b="1" u="sng" dirty="0">
                <a:latin typeface="Times New Roman" panose="02020603050405020304" pitchFamily="18" charset="0"/>
                <a:cs typeface="Times New Roman" panose="02020603050405020304" pitchFamily="18" charset="0"/>
              </a:rPr>
              <a:t>:</a:t>
            </a:r>
            <a:endParaRPr lang="en-IN" sz="468" dirty="0">
              <a:latin typeface="Times New Roman" panose="02020603050405020304" pitchFamily="18" charset="0"/>
              <a:cs typeface="Times New Roman" panose="02020603050405020304" pitchFamily="18" charset="0"/>
            </a:endParaRPr>
          </a:p>
        </p:txBody>
      </p:sp>
      <p:sp>
        <p:nvSpPr>
          <p:cNvPr id="1077" name="Arrow: Down 1076">
            <a:extLst>
              <a:ext uri="{FF2B5EF4-FFF2-40B4-BE49-F238E27FC236}">
                <a16:creationId xmlns:a16="http://schemas.microsoft.com/office/drawing/2014/main" id="{AF86C676-AF5D-5EDF-C89C-7F93B6B86ACA}"/>
              </a:ext>
            </a:extLst>
          </p:cNvPr>
          <p:cNvSpPr/>
          <p:nvPr/>
        </p:nvSpPr>
        <p:spPr>
          <a:xfrm>
            <a:off x="471976" y="6963580"/>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4" name="Picture 4" descr="Free Black And White Bicycle Images, Download Free Black And White Bicycle  Images png images, Free ClipArts on Clipart Library">
            <a:extLst>
              <a:ext uri="{FF2B5EF4-FFF2-40B4-BE49-F238E27FC236}">
                <a16:creationId xmlns:a16="http://schemas.microsoft.com/office/drawing/2014/main" id="{6792B8FD-EA13-08DE-CCDC-A0727A772D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12236867"/>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5" name="Arrow: Down 4">
            <a:extLst>
              <a:ext uri="{FF2B5EF4-FFF2-40B4-BE49-F238E27FC236}">
                <a16:creationId xmlns:a16="http://schemas.microsoft.com/office/drawing/2014/main" id="{915A2F39-37C3-CB93-2D8B-D5DE892C952B}"/>
              </a:ext>
            </a:extLst>
          </p:cNvPr>
          <p:cNvSpPr/>
          <p:nvPr/>
        </p:nvSpPr>
        <p:spPr>
          <a:xfrm>
            <a:off x="461469" y="16340958"/>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6" name="TextBox 5">
            <a:extLst>
              <a:ext uri="{FF2B5EF4-FFF2-40B4-BE49-F238E27FC236}">
                <a16:creationId xmlns:a16="http://schemas.microsoft.com/office/drawing/2014/main" id="{46DFDF63-DD6B-EE7F-B1FF-B02781321CF7}"/>
              </a:ext>
            </a:extLst>
          </p:cNvPr>
          <p:cNvSpPr txBox="1"/>
          <p:nvPr/>
        </p:nvSpPr>
        <p:spPr>
          <a:xfrm rot="18800103">
            <a:off x="11932601" y="18862527"/>
            <a:ext cx="355587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HOW</a:t>
            </a:r>
            <a:endParaRPr lang="en-IN" sz="3598" b="1" u="sn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E0B2075-306E-6DF9-071D-9C850E8D043B}"/>
              </a:ext>
            </a:extLst>
          </p:cNvPr>
          <p:cNvSpPr txBox="1"/>
          <p:nvPr/>
        </p:nvSpPr>
        <p:spPr>
          <a:xfrm rot="13615659">
            <a:off x="12129820" y="21028573"/>
            <a:ext cx="3447520" cy="1323247"/>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HOW</a:t>
            </a:r>
            <a:endParaRPr lang="en-IN" sz="3598" b="1" u="sng" dirty="0">
              <a:latin typeface="Times New Roman" panose="02020603050405020304" pitchFamily="18" charset="0"/>
              <a:cs typeface="Times New Roman" panose="02020603050405020304" pitchFamily="18" charset="0"/>
            </a:endParaRPr>
          </a:p>
          <a:p>
            <a:pPr algn="ctr"/>
            <a:endParaRPr lang="en-IN" sz="3598"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EE7A023-1623-91EC-205D-51A11735F41E}"/>
              </a:ext>
            </a:extLst>
          </p:cNvPr>
          <p:cNvSpPr txBox="1"/>
          <p:nvPr/>
        </p:nvSpPr>
        <p:spPr>
          <a:xfrm rot="8009455">
            <a:off x="15096524" y="21576626"/>
            <a:ext cx="267826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WHERE</a:t>
            </a:r>
            <a:endParaRPr lang="en-IN" sz="3598" dirty="0">
              <a:latin typeface="Times New Roman" panose="02020603050405020304" pitchFamily="18" charset="0"/>
              <a:cs typeface="Times New Roman" panose="02020603050405020304" pitchFamily="18" charset="0"/>
            </a:endParaRPr>
          </a:p>
        </p:txBody>
      </p:sp>
      <p:pic>
        <p:nvPicPr>
          <p:cNvPr id="15" name="Picture 4" descr="Free Black And White Bicycle Images, Download Free Black And White Bicycle  Images png images, Free ClipArts on Clipart Library">
            <a:extLst>
              <a:ext uri="{FF2B5EF4-FFF2-40B4-BE49-F238E27FC236}">
                <a16:creationId xmlns:a16="http://schemas.microsoft.com/office/drawing/2014/main" id="{89599FD4-0519-E20E-DD02-D48CC70362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2160815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16" name="Arrow: Down 15">
            <a:extLst>
              <a:ext uri="{FF2B5EF4-FFF2-40B4-BE49-F238E27FC236}">
                <a16:creationId xmlns:a16="http://schemas.microsoft.com/office/drawing/2014/main" id="{704A4F26-A41B-7C6A-07B5-F1004E24CCDD}"/>
              </a:ext>
            </a:extLst>
          </p:cNvPr>
          <p:cNvSpPr/>
          <p:nvPr/>
        </p:nvSpPr>
        <p:spPr>
          <a:xfrm>
            <a:off x="461469" y="25712240"/>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7" name="Picture 4" descr="Free Black And White Bicycle Images, Download Free Black And White Bicycle  Images png images, Free ClipArts on Clipart Library">
            <a:extLst>
              <a:ext uri="{FF2B5EF4-FFF2-40B4-BE49-F238E27FC236}">
                <a16:creationId xmlns:a16="http://schemas.microsoft.com/office/drawing/2014/main" id="{2369B72F-386E-787B-FF4E-6CA9B17860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15974" y="30991442"/>
            <a:ext cx="1427981" cy="1025914"/>
          </a:xfrm>
          <a:prstGeom prst="rect">
            <a:avLst/>
          </a:prstGeom>
          <a:noFill/>
          <a:extLst>
            <a:ext uri="{909E8E84-426E-40DD-AFC4-6F175D3DCCD1}">
              <a14:hiddenFill xmlns:a14="http://schemas.microsoft.com/office/drawing/2010/main">
                <a:solidFill>
                  <a:srgbClr val="FFFFFF"/>
                </a:solidFill>
              </a14:hiddenFill>
            </a:ext>
          </a:extLst>
        </p:spPr>
      </p:pic>
      <p:sp>
        <p:nvSpPr>
          <p:cNvPr id="18" name="Arrow: Down 17">
            <a:extLst>
              <a:ext uri="{FF2B5EF4-FFF2-40B4-BE49-F238E27FC236}">
                <a16:creationId xmlns:a16="http://schemas.microsoft.com/office/drawing/2014/main" id="{97A02F6C-D076-B1C8-8597-6C81803787D9}"/>
              </a:ext>
            </a:extLst>
          </p:cNvPr>
          <p:cNvSpPr/>
          <p:nvPr/>
        </p:nvSpPr>
        <p:spPr>
          <a:xfrm>
            <a:off x="502830" y="35081359"/>
            <a:ext cx="556891" cy="2144640"/>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pic>
        <p:nvPicPr>
          <p:cNvPr id="19" name="Picture 4" descr="Free Black And White Bicycle Images, Download Free Black And White Bicycle  Images png images, Free ClipArts on Clipart Library">
            <a:extLst>
              <a:ext uri="{FF2B5EF4-FFF2-40B4-BE49-F238E27FC236}">
                <a16:creationId xmlns:a16="http://schemas.microsoft.com/office/drawing/2014/main" id="{DC906657-058D-79D9-B739-5A487ADF85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69368" y="40346382"/>
            <a:ext cx="1427982" cy="1025912"/>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1377369-B23E-C68E-B145-0FCB4EC6F091}"/>
              </a:ext>
            </a:extLst>
          </p:cNvPr>
          <p:cNvSpPr txBox="1"/>
          <p:nvPr/>
        </p:nvSpPr>
        <p:spPr>
          <a:xfrm rot="2721329">
            <a:off x="15110509" y="18818099"/>
            <a:ext cx="2678266" cy="769570"/>
          </a:xfrm>
          <a:prstGeom prst="rect">
            <a:avLst/>
          </a:prstGeom>
          <a:noFill/>
        </p:spPr>
        <p:txBody>
          <a:bodyPr wrap="square">
            <a:spAutoFit/>
          </a:bodyPr>
          <a:lstStyle/>
          <a:p>
            <a:pPr algn="ctr"/>
            <a:r>
              <a:rPr lang="en-IN" sz="4401" b="1" u="sng" dirty="0">
                <a:latin typeface="Times New Roman" panose="02020603050405020304" pitchFamily="18" charset="0"/>
                <a:cs typeface="Times New Roman" panose="02020603050405020304" pitchFamily="18" charset="0"/>
              </a:rPr>
              <a:t>WHO</a:t>
            </a:r>
            <a:endParaRPr lang="en-IN" sz="4799"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AD6646B-78C2-9E06-0B0E-906F82794511}"/>
              </a:ext>
            </a:extLst>
          </p:cNvPr>
          <p:cNvSpPr txBox="1"/>
          <p:nvPr/>
        </p:nvSpPr>
        <p:spPr>
          <a:xfrm>
            <a:off x="14596003" y="19411224"/>
            <a:ext cx="1152295" cy="2215991"/>
          </a:xfrm>
          <a:prstGeom prst="rect">
            <a:avLst/>
          </a:prstGeom>
          <a:noFill/>
        </p:spPr>
        <p:txBody>
          <a:bodyPr wrap="square" rtlCol="0">
            <a:spAutoFit/>
          </a:bodyPr>
          <a:lstStyle/>
          <a:p>
            <a:r>
              <a:rPr lang="en-IN" sz="13800" b="1" u="sng" dirty="0">
                <a:latin typeface="Times New Roman" panose="02020603050405020304" pitchFamily="18" charset="0"/>
                <a:cs typeface="Times New Roman" panose="02020603050405020304" pitchFamily="18" charset="0"/>
              </a:rPr>
              <a:t>?</a:t>
            </a:r>
            <a:endParaRPr lang="en-IN" sz="13800" dirty="0"/>
          </a:p>
        </p:txBody>
      </p:sp>
      <p:cxnSp>
        <p:nvCxnSpPr>
          <p:cNvPr id="23" name="Straight Connector 22">
            <a:extLst>
              <a:ext uri="{FF2B5EF4-FFF2-40B4-BE49-F238E27FC236}">
                <a16:creationId xmlns:a16="http://schemas.microsoft.com/office/drawing/2014/main" id="{BBD84204-3D39-25D7-1EC7-A23B19694740}"/>
              </a:ext>
            </a:extLst>
          </p:cNvPr>
          <p:cNvCxnSpPr>
            <a:cxnSpLocks/>
          </p:cNvCxnSpPr>
          <p:nvPr/>
        </p:nvCxnSpPr>
        <p:spPr>
          <a:xfrm>
            <a:off x="8934364" y="20579890"/>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Diamond 27">
            <a:extLst>
              <a:ext uri="{FF2B5EF4-FFF2-40B4-BE49-F238E27FC236}">
                <a16:creationId xmlns:a16="http://schemas.microsoft.com/office/drawing/2014/main" id="{2A2B1C86-82BA-5994-8935-A32EC308CB27}"/>
              </a:ext>
            </a:extLst>
          </p:cNvPr>
          <p:cNvSpPr/>
          <p:nvPr/>
        </p:nvSpPr>
        <p:spPr>
          <a:xfrm>
            <a:off x="12846899" y="18250109"/>
            <a:ext cx="4480674" cy="4659571"/>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cxnSp>
        <p:nvCxnSpPr>
          <p:cNvPr id="31" name="Straight Connector 30">
            <a:extLst>
              <a:ext uri="{FF2B5EF4-FFF2-40B4-BE49-F238E27FC236}">
                <a16:creationId xmlns:a16="http://schemas.microsoft.com/office/drawing/2014/main" id="{253C2834-664A-F5A7-F373-ADAE6A0F7C3B}"/>
              </a:ext>
            </a:extLst>
          </p:cNvPr>
          <p:cNvCxnSpPr>
            <a:cxnSpLocks/>
          </p:cNvCxnSpPr>
          <p:nvPr/>
        </p:nvCxnSpPr>
        <p:spPr>
          <a:xfrm>
            <a:off x="17310824" y="20617992"/>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56BF68E-5F55-108B-870A-BE6C6BBF66F5}"/>
              </a:ext>
            </a:extLst>
          </p:cNvPr>
          <p:cNvCxnSpPr>
            <a:cxnSpLocks/>
          </p:cNvCxnSpPr>
          <p:nvPr/>
        </p:nvCxnSpPr>
        <p:spPr>
          <a:xfrm rot="16200000">
            <a:off x="13144468" y="16358745"/>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C57B0E6-E629-F9F4-719D-C0574A219B17}"/>
              </a:ext>
            </a:extLst>
          </p:cNvPr>
          <p:cNvCxnSpPr>
            <a:cxnSpLocks/>
          </p:cNvCxnSpPr>
          <p:nvPr/>
        </p:nvCxnSpPr>
        <p:spPr>
          <a:xfrm rot="16200000">
            <a:off x="13132703" y="24713542"/>
            <a:ext cx="3912535" cy="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0E07F566-7457-8659-2B44-5D4F5E2A7B0B}"/>
              </a:ext>
            </a:extLst>
          </p:cNvPr>
          <p:cNvSpPr txBox="1"/>
          <p:nvPr/>
        </p:nvSpPr>
        <p:spPr>
          <a:xfrm>
            <a:off x="16779893" y="10575925"/>
            <a:ext cx="12651490" cy="1754070"/>
          </a:xfrm>
          <a:prstGeom prst="rect">
            <a:avLst/>
          </a:prstGeom>
          <a:noFill/>
        </p:spPr>
        <p:txBody>
          <a:bodyPr wrap="square" rtlCol="0">
            <a:spAutoFit/>
          </a:bodyPr>
          <a:lstStyle/>
          <a:p>
            <a:pPr algn="ctr"/>
            <a:r>
              <a:rPr lang="en-IN" sz="5399" b="1" dirty="0">
                <a:latin typeface="Times New Roman" panose="02020603050405020304" pitchFamily="18" charset="0"/>
                <a:cs typeface="Times New Roman" panose="02020603050405020304" pitchFamily="18" charset="0"/>
              </a:rPr>
              <a:t>Top Age Bands in Cycle Collisions as per Severity &amp; Gender</a:t>
            </a:r>
          </a:p>
        </p:txBody>
      </p:sp>
      <p:sp>
        <p:nvSpPr>
          <p:cNvPr id="55" name="TextBox 54">
            <a:extLst>
              <a:ext uri="{FF2B5EF4-FFF2-40B4-BE49-F238E27FC236}">
                <a16:creationId xmlns:a16="http://schemas.microsoft.com/office/drawing/2014/main" id="{01E49A8C-611F-1E14-6DA7-5478B899D6D1}"/>
              </a:ext>
            </a:extLst>
          </p:cNvPr>
          <p:cNvSpPr txBox="1"/>
          <p:nvPr/>
        </p:nvSpPr>
        <p:spPr>
          <a:xfrm>
            <a:off x="16288431" y="41008652"/>
            <a:ext cx="13401880" cy="1569404"/>
          </a:xfrm>
          <a:prstGeom prst="rect">
            <a:avLst/>
          </a:prstGeom>
          <a:noFill/>
        </p:spPr>
        <p:txBody>
          <a:bodyPr wrap="square">
            <a:spAutoFit/>
          </a:bodyPr>
          <a:lstStyle/>
          <a:p>
            <a:r>
              <a:rPr lang="en-IN" sz="4799" b="1" u="sng" dirty="0">
                <a:latin typeface="Times New Roman" panose="02020603050405020304" pitchFamily="18" charset="0"/>
                <a:cs typeface="Times New Roman" panose="02020603050405020304" pitchFamily="18" charset="0"/>
              </a:rPr>
              <a:t>Source Data:</a:t>
            </a:r>
            <a:r>
              <a:rPr lang="en-IN" sz="4799" b="1" dirty="0">
                <a:latin typeface="Times New Roman" panose="02020603050405020304" pitchFamily="18" charset="0"/>
                <a:cs typeface="Times New Roman" panose="02020603050405020304" pitchFamily="18" charset="0"/>
              </a:rPr>
              <a:t> Stats19 UK Collision Data 2018-2022</a:t>
            </a:r>
          </a:p>
          <a:p>
            <a:r>
              <a:rPr lang="en-IN" sz="4799" b="1" u="sng" dirty="0">
                <a:latin typeface="Times New Roman" panose="02020603050405020304" pitchFamily="18" charset="0"/>
                <a:cs typeface="Times New Roman" panose="02020603050405020304" pitchFamily="18" charset="0"/>
              </a:rPr>
              <a:t>Poster Design</a:t>
            </a:r>
            <a:r>
              <a:rPr lang="en-IN" sz="4799" b="1" dirty="0">
                <a:latin typeface="Times New Roman" panose="02020603050405020304" pitchFamily="18" charset="0"/>
                <a:cs typeface="Times New Roman" panose="02020603050405020304" pitchFamily="18" charset="0"/>
              </a:rPr>
              <a:t>: Akson SV, 2311233</a:t>
            </a:r>
          </a:p>
        </p:txBody>
      </p:sp>
      <p:sp>
        <p:nvSpPr>
          <p:cNvPr id="57" name="Arrow: Down 56">
            <a:extLst>
              <a:ext uri="{FF2B5EF4-FFF2-40B4-BE49-F238E27FC236}">
                <a16:creationId xmlns:a16="http://schemas.microsoft.com/office/drawing/2014/main" id="{62A8E883-DB82-D1BB-54A9-C20FD72F904E}"/>
              </a:ext>
            </a:extLst>
          </p:cNvPr>
          <p:cNvSpPr/>
          <p:nvPr/>
        </p:nvSpPr>
        <p:spPr>
          <a:xfrm rot="10800000">
            <a:off x="28784233" y="16277684"/>
            <a:ext cx="599540" cy="1155729"/>
          </a:xfrm>
          <a:prstGeom prst="down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sp>
        <p:nvSpPr>
          <p:cNvPr id="1026" name="Plus Sign 1025">
            <a:extLst>
              <a:ext uri="{FF2B5EF4-FFF2-40B4-BE49-F238E27FC236}">
                <a16:creationId xmlns:a16="http://schemas.microsoft.com/office/drawing/2014/main" id="{60FB1CBF-C941-44F3-12F5-4359FC0A572C}"/>
              </a:ext>
            </a:extLst>
          </p:cNvPr>
          <p:cNvSpPr/>
          <p:nvPr/>
        </p:nvSpPr>
        <p:spPr>
          <a:xfrm>
            <a:off x="28402467" y="12979280"/>
            <a:ext cx="1317488" cy="1372732"/>
          </a:xfrm>
          <a:prstGeom prst="mathPlus">
            <a:avLst/>
          </a:prstGeom>
          <a:solidFill>
            <a:srgbClr val="FFC0CB"/>
          </a:solidFill>
          <a:ln>
            <a:solidFill>
              <a:srgbClr val="FFC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68"/>
          </a:p>
        </p:txBody>
      </p:sp>
      <p:graphicFrame>
        <p:nvGraphicFramePr>
          <p:cNvPr id="1027" name="Table 1026">
            <a:extLst>
              <a:ext uri="{FF2B5EF4-FFF2-40B4-BE49-F238E27FC236}">
                <a16:creationId xmlns:a16="http://schemas.microsoft.com/office/drawing/2014/main" id="{1CC95592-2EAB-2FD9-CD71-FA993A4D94FB}"/>
              </a:ext>
            </a:extLst>
          </p:cNvPr>
          <p:cNvGraphicFramePr>
            <a:graphicFrameLocks noGrp="1"/>
          </p:cNvGraphicFramePr>
          <p:nvPr/>
        </p:nvGraphicFramePr>
        <p:xfrm>
          <a:off x="17444552" y="13244053"/>
          <a:ext cx="10606854" cy="5723896"/>
        </p:xfrm>
        <a:graphic>
          <a:graphicData uri="http://schemas.openxmlformats.org/drawingml/2006/table">
            <a:tbl>
              <a:tblPr firstRow="1" bandRow="1">
                <a:tableStyleId>{5940675A-B579-460E-94D1-54222C63F5DA}</a:tableStyleId>
              </a:tblPr>
              <a:tblGrid>
                <a:gridCol w="3535618">
                  <a:extLst>
                    <a:ext uri="{9D8B030D-6E8A-4147-A177-3AD203B41FA5}">
                      <a16:colId xmlns:a16="http://schemas.microsoft.com/office/drawing/2014/main" val="1040416973"/>
                    </a:ext>
                  </a:extLst>
                </a:gridCol>
                <a:gridCol w="3535618">
                  <a:extLst>
                    <a:ext uri="{9D8B030D-6E8A-4147-A177-3AD203B41FA5}">
                      <a16:colId xmlns:a16="http://schemas.microsoft.com/office/drawing/2014/main" val="4256780530"/>
                    </a:ext>
                  </a:extLst>
                </a:gridCol>
                <a:gridCol w="3535618">
                  <a:extLst>
                    <a:ext uri="{9D8B030D-6E8A-4147-A177-3AD203B41FA5}">
                      <a16:colId xmlns:a16="http://schemas.microsoft.com/office/drawing/2014/main" val="950959739"/>
                    </a:ext>
                  </a:extLst>
                </a:gridCol>
              </a:tblGrid>
              <a:tr h="2861948">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46-55</a:t>
                      </a:r>
                    </a:p>
                    <a:p>
                      <a:pPr marL="0" algn="ctr" defTabSz="3027206" rtl="0" eaLnBrk="1" latinLnBrk="0" hangingPunct="1"/>
                      <a:r>
                        <a:rPr lang="en-IN" sz="5400" b="1" kern="1200" dirty="0">
                          <a:solidFill>
                            <a:schemeClr val="tx1"/>
                          </a:solidFill>
                          <a:latin typeface="Times New Roman" panose="02020603050405020304" pitchFamily="18" charset="0"/>
                          <a:ea typeface="+mn-ea"/>
                          <a:cs typeface="Times New Roman" panose="02020603050405020304" pitchFamily="18" charset="0"/>
                        </a:rPr>
                        <a:t> </a:t>
                      </a:r>
                      <a:r>
                        <a:rPr lang="en-IN" sz="4400" b="1" kern="1200" dirty="0">
                          <a:solidFill>
                            <a:schemeClr val="tx1"/>
                          </a:solidFill>
                          <a:latin typeface="Times New Roman" panose="02020603050405020304" pitchFamily="18" charset="0"/>
                          <a:ea typeface="+mn-ea"/>
                          <a:cs typeface="Times New Roman" panose="02020603050405020304" pitchFamily="18" charset="0"/>
                        </a:rPr>
                        <a:t>21.5%</a:t>
                      </a:r>
                      <a:endParaRPr lang="en-IN" sz="5400" b="1" kern="1200" dirty="0">
                        <a:solidFill>
                          <a:schemeClr val="tx1"/>
                        </a:solidFill>
                        <a:latin typeface="Times New Roman" panose="02020603050405020304" pitchFamily="18" charset="0"/>
                        <a:ea typeface="+mn-ea"/>
                        <a:cs typeface="Times New Roman" panose="02020603050405020304" pitchFamily="18" charset="0"/>
                      </a:endParaRPr>
                    </a:p>
                  </a:txBody>
                  <a:tcPr marL="91439" marR="91439" marT="45722" marB="45722" anchor="ctr"/>
                </a:tc>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26-35</a:t>
                      </a:r>
                    </a:p>
                    <a:p>
                      <a:pPr marL="0" algn="ctr" defTabSz="3027206" rtl="0" eaLnBrk="1" latinLnBrk="0" hangingPunct="1"/>
                      <a:r>
                        <a:rPr lang="en-IN" sz="5400" b="1" kern="1200" dirty="0">
                          <a:solidFill>
                            <a:schemeClr val="tx1"/>
                          </a:solidFill>
                          <a:latin typeface="Times New Roman" panose="02020603050405020304" pitchFamily="18" charset="0"/>
                          <a:ea typeface="+mn-ea"/>
                          <a:cs typeface="Times New Roman" panose="02020603050405020304" pitchFamily="18" charset="0"/>
                        </a:rPr>
                        <a:t> </a:t>
                      </a:r>
                      <a:r>
                        <a:rPr lang="en-IN" sz="4800" b="1" kern="1200" dirty="0">
                          <a:solidFill>
                            <a:schemeClr val="tx1"/>
                          </a:solidFill>
                          <a:latin typeface="Times New Roman" panose="02020603050405020304" pitchFamily="18" charset="0"/>
                          <a:ea typeface="+mn-ea"/>
                          <a:cs typeface="Times New Roman" panose="02020603050405020304" pitchFamily="18" charset="0"/>
                        </a:rPr>
                        <a:t>22.3%</a:t>
                      </a:r>
                      <a:endParaRPr lang="en-IN" sz="5400" b="1" kern="1200" dirty="0">
                        <a:solidFill>
                          <a:schemeClr val="tx1"/>
                        </a:solidFill>
                        <a:latin typeface="Times New Roman" panose="02020603050405020304" pitchFamily="18" charset="0"/>
                        <a:ea typeface="+mn-ea"/>
                        <a:cs typeface="Times New Roman" panose="02020603050405020304" pitchFamily="18" charset="0"/>
                      </a:endParaRPr>
                    </a:p>
                  </a:txBody>
                  <a:tcPr marL="91439" marR="91439" marT="45722" marB="45722" anchor="ctr"/>
                </a:tc>
                <a:tc>
                  <a:txBody>
                    <a:bodyPr/>
                    <a:lstStyle/>
                    <a:p>
                      <a:pPr algn="ctr"/>
                      <a:r>
                        <a:rPr lang="en-IN" sz="5400" dirty="0">
                          <a:latin typeface="Times New Roman" panose="02020603050405020304" pitchFamily="18" charset="0"/>
                          <a:cs typeface="Times New Roman" panose="02020603050405020304" pitchFamily="18" charset="0"/>
                        </a:rPr>
                        <a:t>26-35</a:t>
                      </a:r>
                    </a:p>
                    <a:p>
                      <a:pPr algn="ctr"/>
                      <a:r>
                        <a:rPr lang="en-IN" sz="5400" b="1" dirty="0">
                          <a:latin typeface="Times New Roman" panose="02020603050405020304" pitchFamily="18" charset="0"/>
                          <a:cs typeface="Times New Roman" panose="02020603050405020304" pitchFamily="18" charset="0"/>
                        </a:rPr>
                        <a:t>  28.9%</a:t>
                      </a:r>
                    </a:p>
                  </a:txBody>
                  <a:tcPr marL="91439" marR="91439" marT="45722" marB="45722" anchor="ctr"/>
                </a:tc>
                <a:extLst>
                  <a:ext uri="{0D108BD9-81ED-4DB2-BD59-A6C34878D82A}">
                    <a16:rowId xmlns:a16="http://schemas.microsoft.com/office/drawing/2014/main" val="3440127682"/>
                  </a:ext>
                </a:extLst>
              </a:tr>
              <a:tr h="2861948">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56-65</a:t>
                      </a:r>
                    </a:p>
                    <a:p>
                      <a:pPr marL="0" algn="ctr" defTabSz="3027206" rtl="0" eaLnBrk="1" latinLnBrk="0" hangingPunct="1"/>
                      <a:r>
                        <a:rPr lang="en-IN" sz="4400" b="1" kern="1200" dirty="0">
                          <a:solidFill>
                            <a:schemeClr val="tx1"/>
                          </a:solidFill>
                          <a:latin typeface="Times New Roman" panose="02020603050405020304" pitchFamily="18" charset="0"/>
                          <a:ea typeface="+mn-ea"/>
                          <a:cs typeface="Times New Roman" panose="02020603050405020304" pitchFamily="18" charset="0"/>
                        </a:rPr>
                        <a:t> 18.7%</a:t>
                      </a:r>
                    </a:p>
                  </a:txBody>
                  <a:tcPr marL="91439" marR="91439" marT="45722" marB="45722" anchor="ctr"/>
                </a:tc>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46-55</a:t>
                      </a:r>
                    </a:p>
                    <a:p>
                      <a:pPr marL="0" algn="ctr" defTabSz="3027206" rtl="0" eaLnBrk="1" latinLnBrk="0" hangingPunct="1"/>
                      <a:r>
                        <a:rPr lang="en-IN" sz="5400" b="1" kern="1200" dirty="0">
                          <a:solidFill>
                            <a:schemeClr val="tx1"/>
                          </a:solidFill>
                          <a:latin typeface="Times New Roman" panose="02020603050405020304" pitchFamily="18" charset="0"/>
                          <a:ea typeface="+mn-ea"/>
                          <a:cs typeface="Times New Roman" panose="02020603050405020304" pitchFamily="18" charset="0"/>
                        </a:rPr>
                        <a:t> </a:t>
                      </a:r>
                      <a:r>
                        <a:rPr lang="en-IN" sz="4800" b="1" kern="1200" dirty="0">
                          <a:solidFill>
                            <a:schemeClr val="tx1"/>
                          </a:solidFill>
                          <a:latin typeface="Times New Roman" panose="02020603050405020304" pitchFamily="18" charset="0"/>
                          <a:ea typeface="+mn-ea"/>
                          <a:cs typeface="Times New Roman" panose="02020603050405020304" pitchFamily="18" charset="0"/>
                        </a:rPr>
                        <a:t>19.3%</a:t>
                      </a:r>
                      <a:endParaRPr lang="en-IN" sz="5400" b="1" kern="1200" dirty="0">
                        <a:solidFill>
                          <a:schemeClr val="tx1"/>
                        </a:solidFill>
                        <a:latin typeface="Times New Roman" panose="02020603050405020304" pitchFamily="18" charset="0"/>
                        <a:ea typeface="+mn-ea"/>
                        <a:cs typeface="Times New Roman" panose="02020603050405020304" pitchFamily="18" charset="0"/>
                      </a:endParaRPr>
                    </a:p>
                  </a:txBody>
                  <a:tcPr marL="91439" marR="91439" marT="45722" marB="45722" anchor="ctr"/>
                </a:tc>
                <a:tc>
                  <a:txBody>
                    <a:bodyPr/>
                    <a:lstStyle/>
                    <a:p>
                      <a:pPr marL="0" algn="ctr" defTabSz="3027206" rtl="0" eaLnBrk="1" latinLnBrk="0" hangingPunct="1"/>
                      <a:r>
                        <a:rPr lang="en-IN" sz="5400" kern="1200" dirty="0">
                          <a:solidFill>
                            <a:schemeClr val="tx1"/>
                          </a:solidFill>
                          <a:latin typeface="Times New Roman" panose="02020603050405020304" pitchFamily="18" charset="0"/>
                          <a:ea typeface="+mn-ea"/>
                          <a:cs typeface="Times New Roman" panose="02020603050405020304" pitchFamily="18" charset="0"/>
                        </a:rPr>
                        <a:t>26-35</a:t>
                      </a:r>
                    </a:p>
                    <a:p>
                      <a:pPr marL="0" algn="ctr" defTabSz="3027206" rtl="0" eaLnBrk="1" latinLnBrk="0" hangingPunct="1"/>
                      <a:r>
                        <a:rPr lang="en-IN" sz="5400" b="1" kern="1200" dirty="0">
                          <a:solidFill>
                            <a:schemeClr val="tx1"/>
                          </a:solidFill>
                          <a:latin typeface="Times New Roman" panose="02020603050405020304" pitchFamily="18" charset="0"/>
                          <a:ea typeface="+mn-ea"/>
                          <a:cs typeface="Times New Roman" panose="02020603050405020304" pitchFamily="18" charset="0"/>
                        </a:rPr>
                        <a:t>22.2%</a:t>
                      </a:r>
                    </a:p>
                  </a:txBody>
                  <a:tcPr marL="91439" marR="91439" marT="45722" marB="45722" anchor="ctr"/>
                </a:tc>
                <a:extLst>
                  <a:ext uri="{0D108BD9-81ED-4DB2-BD59-A6C34878D82A}">
                    <a16:rowId xmlns:a16="http://schemas.microsoft.com/office/drawing/2014/main" val="3602409120"/>
                  </a:ext>
                </a:extLst>
              </a:tr>
            </a:tbl>
          </a:graphicData>
        </a:graphic>
      </p:graphicFrame>
      <p:sp>
        <p:nvSpPr>
          <p:cNvPr id="1028" name="TextBox 1027">
            <a:extLst>
              <a:ext uri="{FF2B5EF4-FFF2-40B4-BE49-F238E27FC236}">
                <a16:creationId xmlns:a16="http://schemas.microsoft.com/office/drawing/2014/main" id="{853F4E17-EFDC-0F3F-BA58-EF3B119D9955}"/>
              </a:ext>
            </a:extLst>
          </p:cNvPr>
          <p:cNvSpPr txBox="1"/>
          <p:nvPr/>
        </p:nvSpPr>
        <p:spPr>
          <a:xfrm>
            <a:off x="16545797" y="21699618"/>
            <a:ext cx="13348331" cy="1015534"/>
          </a:xfrm>
          <a:prstGeom prst="rect">
            <a:avLst/>
          </a:prstGeom>
          <a:noFill/>
        </p:spPr>
        <p:txBody>
          <a:bodyPr wrap="square" rtlCol="0">
            <a:spAutoFit/>
          </a:bodyPr>
          <a:lstStyle/>
          <a:p>
            <a:pPr algn="ctr"/>
            <a:r>
              <a:rPr lang="en-IN" sz="5999" b="1" dirty="0">
                <a:latin typeface="Times New Roman" panose="02020603050405020304" pitchFamily="18" charset="0"/>
                <a:cs typeface="Times New Roman" panose="02020603050405020304" pitchFamily="18" charset="0"/>
              </a:rPr>
              <a:t>Cycle Collision Counts in UK Districts</a:t>
            </a:r>
          </a:p>
        </p:txBody>
      </p:sp>
      <p:sp>
        <p:nvSpPr>
          <p:cNvPr id="1030" name="TextBox 1029">
            <a:extLst>
              <a:ext uri="{FF2B5EF4-FFF2-40B4-BE49-F238E27FC236}">
                <a16:creationId xmlns:a16="http://schemas.microsoft.com/office/drawing/2014/main" id="{2CA405D0-C01E-D0DC-BD78-E2DFCA8A851E}"/>
              </a:ext>
            </a:extLst>
          </p:cNvPr>
          <p:cNvSpPr txBox="1"/>
          <p:nvPr/>
        </p:nvSpPr>
        <p:spPr>
          <a:xfrm>
            <a:off x="17832222" y="12469493"/>
            <a:ext cx="3425703" cy="830868"/>
          </a:xfrm>
          <a:prstGeom prst="rect">
            <a:avLst/>
          </a:prstGeom>
          <a:noFill/>
        </p:spPr>
        <p:txBody>
          <a:bodyPr wrap="square" rtlCol="0" anchor="ctr">
            <a:spAutoFit/>
          </a:bodyPr>
          <a:lstStyle/>
          <a:p>
            <a:pPr algn="ctr"/>
            <a:r>
              <a:rPr lang="en-IN" sz="4401" b="1" dirty="0">
                <a:latin typeface="Times New Roman" panose="02020603050405020304" pitchFamily="18" charset="0"/>
                <a:cs typeface="Times New Roman" panose="02020603050405020304" pitchFamily="18" charset="0"/>
              </a:rPr>
              <a:t>    Fatal</a:t>
            </a:r>
            <a:r>
              <a:rPr lang="en-IN" sz="4799" b="1" dirty="0">
                <a:latin typeface="Times New Roman" panose="02020603050405020304" pitchFamily="18" charset="0"/>
                <a:cs typeface="Times New Roman" panose="02020603050405020304" pitchFamily="18" charset="0"/>
              </a:rPr>
              <a:t>       | </a:t>
            </a:r>
          </a:p>
        </p:txBody>
      </p:sp>
      <p:sp>
        <p:nvSpPr>
          <p:cNvPr id="1031" name="TextBox 1030">
            <a:extLst>
              <a:ext uri="{FF2B5EF4-FFF2-40B4-BE49-F238E27FC236}">
                <a16:creationId xmlns:a16="http://schemas.microsoft.com/office/drawing/2014/main" id="{2D5B2C4E-CA11-6A6A-F990-A16EE6CC4538}"/>
              </a:ext>
            </a:extLst>
          </p:cNvPr>
          <p:cNvSpPr txBox="1"/>
          <p:nvPr/>
        </p:nvSpPr>
        <p:spPr>
          <a:xfrm>
            <a:off x="20818939" y="12481229"/>
            <a:ext cx="3942739" cy="830868"/>
          </a:xfrm>
          <a:prstGeom prst="rect">
            <a:avLst/>
          </a:prstGeom>
          <a:noFill/>
        </p:spPr>
        <p:txBody>
          <a:bodyPr wrap="square" rtlCol="0">
            <a:spAutoFit/>
          </a:bodyPr>
          <a:lstStyle/>
          <a:p>
            <a:pPr algn="ctr"/>
            <a:r>
              <a:rPr lang="en-IN" sz="4799" b="1" dirty="0">
                <a:latin typeface="Times New Roman" panose="02020603050405020304" pitchFamily="18" charset="0"/>
                <a:cs typeface="Times New Roman" panose="02020603050405020304" pitchFamily="18" charset="0"/>
              </a:rPr>
              <a:t>     </a:t>
            </a:r>
            <a:r>
              <a:rPr lang="en-IN" sz="4401" b="1" dirty="0">
                <a:latin typeface="Times New Roman" panose="02020603050405020304" pitchFamily="18" charset="0"/>
                <a:cs typeface="Times New Roman" panose="02020603050405020304" pitchFamily="18" charset="0"/>
              </a:rPr>
              <a:t>Serious</a:t>
            </a:r>
            <a:r>
              <a:rPr lang="en-IN" sz="4799" b="1" dirty="0">
                <a:latin typeface="Times New Roman" panose="02020603050405020304" pitchFamily="18" charset="0"/>
                <a:cs typeface="Times New Roman" panose="02020603050405020304" pitchFamily="18" charset="0"/>
              </a:rPr>
              <a:t>      |</a:t>
            </a:r>
          </a:p>
        </p:txBody>
      </p:sp>
      <p:sp>
        <p:nvSpPr>
          <p:cNvPr id="1032" name="TextBox 1031">
            <a:extLst>
              <a:ext uri="{FF2B5EF4-FFF2-40B4-BE49-F238E27FC236}">
                <a16:creationId xmlns:a16="http://schemas.microsoft.com/office/drawing/2014/main" id="{212651FB-0550-D267-380C-3F863071CE01}"/>
              </a:ext>
            </a:extLst>
          </p:cNvPr>
          <p:cNvSpPr txBox="1"/>
          <p:nvPr/>
        </p:nvSpPr>
        <p:spPr>
          <a:xfrm>
            <a:off x="24818317" y="12446787"/>
            <a:ext cx="3020012" cy="769570"/>
          </a:xfrm>
          <a:prstGeom prst="rect">
            <a:avLst/>
          </a:prstGeom>
          <a:noFill/>
        </p:spPr>
        <p:txBody>
          <a:bodyPr wrap="square" rtlCol="0" anchor="ctr">
            <a:spAutoFit/>
          </a:bodyPr>
          <a:lstStyle/>
          <a:p>
            <a:pPr algn="ctr"/>
            <a:r>
              <a:rPr lang="en-IN" sz="4401" b="1" dirty="0">
                <a:latin typeface="Times New Roman" panose="02020603050405020304" pitchFamily="18" charset="0"/>
                <a:cs typeface="Times New Roman" panose="02020603050405020304" pitchFamily="18" charset="0"/>
              </a:rPr>
              <a:t>Slight</a:t>
            </a:r>
            <a:endParaRPr lang="en-IN" sz="4799" b="1" dirty="0">
              <a:latin typeface="Times New Roman" panose="02020603050405020304" pitchFamily="18" charset="0"/>
              <a:cs typeface="Times New Roman" panose="02020603050405020304" pitchFamily="18" charset="0"/>
            </a:endParaRPr>
          </a:p>
        </p:txBody>
      </p:sp>
      <p:pic>
        <p:nvPicPr>
          <p:cNvPr id="1035" name="Picture 20" descr="Green go traffic road sign on transparent background PNG - Similar PNG">
            <a:extLst>
              <a:ext uri="{FF2B5EF4-FFF2-40B4-BE49-F238E27FC236}">
                <a16:creationId xmlns:a16="http://schemas.microsoft.com/office/drawing/2014/main" id="{FFC888D7-F969-34E2-75C8-50A1824F986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688" t="10495" r="10861" b="13634"/>
          <a:stretch/>
        </p:blipFill>
        <p:spPr bwMode="auto">
          <a:xfrm>
            <a:off x="15474891" y="3174863"/>
            <a:ext cx="677731" cy="655438"/>
          </a:xfrm>
          <a:prstGeom prst="ellipse">
            <a:avLst/>
          </a:prstGeom>
          <a:noFill/>
          <a:extLst>
            <a:ext uri="{909E8E84-426E-40DD-AFC4-6F175D3DCCD1}">
              <a14:hiddenFill xmlns:a14="http://schemas.microsoft.com/office/drawing/2010/main">
                <a:solidFill>
                  <a:srgbClr val="FFFFFF"/>
                </a:solidFill>
              </a14:hiddenFill>
            </a:ext>
          </a:extLst>
        </p:spPr>
      </p:pic>
      <p:sp>
        <p:nvSpPr>
          <p:cNvPr id="1036" name="TextBox 1035">
            <a:extLst>
              <a:ext uri="{FF2B5EF4-FFF2-40B4-BE49-F238E27FC236}">
                <a16:creationId xmlns:a16="http://schemas.microsoft.com/office/drawing/2014/main" id="{D9E08B11-20C8-56A9-2E74-CB7D880CCCE2}"/>
              </a:ext>
            </a:extLst>
          </p:cNvPr>
          <p:cNvSpPr txBox="1"/>
          <p:nvPr/>
        </p:nvSpPr>
        <p:spPr>
          <a:xfrm>
            <a:off x="16470653" y="2960047"/>
            <a:ext cx="12400098" cy="923201"/>
          </a:xfrm>
          <a:prstGeom prst="rect">
            <a:avLst/>
          </a:prstGeom>
          <a:noFill/>
        </p:spPr>
        <p:txBody>
          <a:bodyPr wrap="square">
            <a:spAutoFit/>
          </a:bodyPr>
          <a:lstStyle/>
          <a:p>
            <a:pPr algn="just"/>
            <a:r>
              <a:rPr lang="en-IN" sz="5399" dirty="0">
                <a:latin typeface="Times New Roman" panose="02020603050405020304" pitchFamily="18" charset="0"/>
                <a:cs typeface="Times New Roman" panose="02020603050405020304" pitchFamily="18" charset="0"/>
              </a:rPr>
              <a:t>Yes, Cycles are </a:t>
            </a:r>
            <a:r>
              <a:rPr lang="en-IN" sz="5399" b="1" dirty="0">
                <a:latin typeface="Times New Roman" panose="02020603050405020304" pitchFamily="18" charset="0"/>
                <a:cs typeface="Times New Roman" panose="02020603050405020304" pitchFamily="18" charset="0"/>
              </a:rPr>
              <a:t>becoming</a:t>
            </a:r>
            <a:r>
              <a:rPr lang="en-IN" sz="5399" dirty="0">
                <a:latin typeface="Times New Roman" panose="02020603050405020304" pitchFamily="18" charset="0"/>
                <a:cs typeface="Times New Roman" panose="02020603050405020304" pitchFamily="18" charset="0"/>
              </a:rPr>
              <a:t> </a:t>
            </a:r>
            <a:r>
              <a:rPr lang="en-IN" sz="5399" b="1" u="sng" dirty="0">
                <a:solidFill>
                  <a:schemeClr val="accent6"/>
                </a:solidFill>
                <a:latin typeface="Times New Roman" panose="02020603050405020304" pitchFamily="18" charset="0"/>
                <a:cs typeface="Times New Roman" panose="02020603050405020304" pitchFamily="18" charset="0"/>
              </a:rPr>
              <a:t>safer</a:t>
            </a:r>
            <a:r>
              <a:rPr lang="en-IN" sz="5399" dirty="0">
                <a:latin typeface="Times New Roman" panose="02020603050405020304" pitchFamily="18" charset="0"/>
                <a:cs typeface="Times New Roman" panose="02020603050405020304" pitchFamily="18" charset="0"/>
              </a:rPr>
              <a:t> in general.</a:t>
            </a:r>
          </a:p>
        </p:txBody>
      </p:sp>
      <p:sp>
        <p:nvSpPr>
          <p:cNvPr id="1038" name="TextBox 1037">
            <a:extLst>
              <a:ext uri="{FF2B5EF4-FFF2-40B4-BE49-F238E27FC236}">
                <a16:creationId xmlns:a16="http://schemas.microsoft.com/office/drawing/2014/main" id="{D38E07E3-8971-8495-45F8-C44A49A1E107}"/>
              </a:ext>
            </a:extLst>
          </p:cNvPr>
          <p:cNvSpPr txBox="1"/>
          <p:nvPr/>
        </p:nvSpPr>
        <p:spPr>
          <a:xfrm>
            <a:off x="16515424" y="4145006"/>
            <a:ext cx="12268807" cy="923201"/>
          </a:xfrm>
          <a:prstGeom prst="rect">
            <a:avLst/>
          </a:prstGeom>
          <a:noFill/>
        </p:spPr>
        <p:txBody>
          <a:bodyPr wrap="square">
            <a:spAutoFit/>
          </a:bodyPr>
          <a:lstStyle/>
          <a:p>
            <a:pPr algn="just"/>
            <a:r>
              <a:rPr lang="en-IN" sz="5399" b="1" dirty="0">
                <a:latin typeface="Times New Roman" panose="02020603050405020304" pitchFamily="18" charset="0"/>
                <a:cs typeface="Times New Roman" panose="02020603050405020304" pitchFamily="18" charset="0"/>
              </a:rPr>
              <a:t>1% </a:t>
            </a:r>
            <a:r>
              <a:rPr lang="en-IN" sz="5399" dirty="0">
                <a:latin typeface="Times New Roman" panose="02020603050405020304" pitchFamily="18" charset="0"/>
                <a:cs typeface="Times New Roman" panose="02020603050405020304" pitchFamily="18" charset="0"/>
              </a:rPr>
              <a:t>fatal, </a:t>
            </a:r>
            <a:r>
              <a:rPr lang="en-IN" sz="5399" b="1" dirty="0">
                <a:latin typeface="Times New Roman" panose="02020603050405020304" pitchFamily="18" charset="0"/>
                <a:cs typeface="Times New Roman" panose="02020603050405020304" pitchFamily="18" charset="0"/>
              </a:rPr>
              <a:t>23% </a:t>
            </a:r>
            <a:r>
              <a:rPr lang="en-IN" sz="5399" dirty="0">
                <a:latin typeface="Times New Roman" panose="02020603050405020304" pitchFamily="18" charset="0"/>
                <a:cs typeface="Times New Roman" panose="02020603050405020304" pitchFamily="18" charset="0"/>
              </a:rPr>
              <a:t>serious, </a:t>
            </a:r>
            <a:r>
              <a:rPr lang="en-IN" sz="5399" b="1" dirty="0">
                <a:latin typeface="Times New Roman" panose="02020603050405020304" pitchFamily="18" charset="0"/>
                <a:cs typeface="Times New Roman" panose="02020603050405020304" pitchFamily="18" charset="0"/>
              </a:rPr>
              <a:t>76% </a:t>
            </a:r>
            <a:r>
              <a:rPr lang="en-IN" sz="5399" dirty="0">
                <a:latin typeface="Times New Roman" panose="02020603050405020304" pitchFamily="18" charset="0"/>
                <a:cs typeface="Times New Roman" panose="02020603050405020304" pitchFamily="18" charset="0"/>
              </a:rPr>
              <a:t>slight injuries.</a:t>
            </a:r>
          </a:p>
        </p:txBody>
      </p:sp>
      <p:pic>
        <p:nvPicPr>
          <p:cNvPr id="1039" name="Picture 16" descr="Traffic Cones PNG Transparent Images Free Download | Vector Files | Pngtree">
            <a:extLst>
              <a:ext uri="{FF2B5EF4-FFF2-40B4-BE49-F238E27FC236}">
                <a16:creationId xmlns:a16="http://schemas.microsoft.com/office/drawing/2014/main" id="{011360C2-C86C-50FC-306C-FCE8DE78F1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00179" y="4109351"/>
            <a:ext cx="829037" cy="829037"/>
          </a:xfrm>
          <a:prstGeom prst="rect">
            <a:avLst/>
          </a:prstGeom>
          <a:noFill/>
          <a:extLst>
            <a:ext uri="{909E8E84-426E-40DD-AFC4-6F175D3DCCD1}">
              <a14:hiddenFill xmlns:a14="http://schemas.microsoft.com/office/drawing/2010/main">
                <a:solidFill>
                  <a:srgbClr val="FFFFFF"/>
                </a:solidFill>
              </a14:hiddenFill>
            </a:ext>
          </a:extLst>
        </p:spPr>
      </p:pic>
      <p:sp>
        <p:nvSpPr>
          <p:cNvPr id="1041" name="TextBox 1040">
            <a:extLst>
              <a:ext uri="{FF2B5EF4-FFF2-40B4-BE49-F238E27FC236}">
                <a16:creationId xmlns:a16="http://schemas.microsoft.com/office/drawing/2014/main" id="{B836165D-3967-8400-6D76-380FB7BFB029}"/>
              </a:ext>
            </a:extLst>
          </p:cNvPr>
          <p:cNvSpPr txBox="1"/>
          <p:nvPr/>
        </p:nvSpPr>
        <p:spPr>
          <a:xfrm>
            <a:off x="16515426" y="5361486"/>
            <a:ext cx="13378708" cy="923201"/>
          </a:xfrm>
          <a:prstGeom prst="rect">
            <a:avLst/>
          </a:prstGeom>
          <a:noFill/>
        </p:spPr>
        <p:txBody>
          <a:bodyPr wrap="square">
            <a:spAutoFit/>
          </a:bodyPr>
          <a:lstStyle/>
          <a:p>
            <a:pPr algn="just"/>
            <a:r>
              <a:rPr lang="en-IN" sz="5399" b="1" dirty="0">
                <a:latin typeface="Times New Roman" panose="02020603050405020304" pitchFamily="18" charset="0"/>
                <a:cs typeface="Times New Roman" panose="02020603050405020304" pitchFamily="18" charset="0"/>
              </a:rPr>
              <a:t>75% </a:t>
            </a:r>
            <a:r>
              <a:rPr lang="en-IN" sz="5399" dirty="0">
                <a:latin typeface="Times New Roman" panose="02020603050405020304" pitchFamily="18" charset="0"/>
                <a:cs typeface="Times New Roman" panose="02020603050405020304" pitchFamily="18" charset="0"/>
              </a:rPr>
              <a:t>occurred on</a:t>
            </a:r>
            <a:r>
              <a:rPr lang="en-IN" sz="5399" b="1" dirty="0">
                <a:latin typeface="Times New Roman" panose="02020603050405020304" pitchFamily="18" charset="0"/>
                <a:cs typeface="Times New Roman" panose="02020603050405020304" pitchFamily="18" charset="0"/>
              </a:rPr>
              <a:t> </a:t>
            </a:r>
            <a:r>
              <a:rPr lang="en-IN" sz="5399" dirty="0">
                <a:latin typeface="Times New Roman" panose="02020603050405020304" pitchFamily="18" charset="0"/>
                <a:cs typeface="Times New Roman" panose="02020603050405020304" pitchFamily="18" charset="0"/>
              </a:rPr>
              <a:t>Single carriageway roads.</a:t>
            </a:r>
          </a:p>
        </p:txBody>
      </p:sp>
      <p:sp>
        <p:nvSpPr>
          <p:cNvPr id="1044" name="TextBox 1043">
            <a:extLst>
              <a:ext uri="{FF2B5EF4-FFF2-40B4-BE49-F238E27FC236}">
                <a16:creationId xmlns:a16="http://schemas.microsoft.com/office/drawing/2014/main" id="{BFB88411-A4CB-EAC2-D59C-C3DA81487FC8}"/>
              </a:ext>
            </a:extLst>
          </p:cNvPr>
          <p:cNvSpPr txBox="1"/>
          <p:nvPr/>
        </p:nvSpPr>
        <p:spPr>
          <a:xfrm>
            <a:off x="16515426" y="6445379"/>
            <a:ext cx="13672896" cy="1754070"/>
          </a:xfrm>
          <a:prstGeom prst="rect">
            <a:avLst/>
          </a:prstGeom>
          <a:noFill/>
        </p:spPr>
        <p:txBody>
          <a:bodyPr wrap="square">
            <a:spAutoFit/>
          </a:bodyPr>
          <a:lstStyle/>
          <a:p>
            <a:r>
              <a:rPr lang="en-IN" sz="5399" dirty="0">
                <a:latin typeface="Times New Roman" panose="02020603050405020304" pitchFamily="18" charset="0"/>
                <a:cs typeface="Times New Roman" panose="02020603050405020304" pitchFamily="18" charset="0"/>
              </a:rPr>
              <a:t>Males(</a:t>
            </a:r>
            <a:r>
              <a:rPr lang="en-IN" sz="5399" b="1" dirty="0">
                <a:latin typeface="Times New Roman" panose="02020603050405020304" pitchFamily="18" charset="0"/>
                <a:cs typeface="Times New Roman" panose="02020603050405020304" pitchFamily="18" charset="0"/>
              </a:rPr>
              <a:t>79%</a:t>
            </a:r>
            <a:r>
              <a:rPr lang="en-IN" sz="5399" dirty="0">
                <a:latin typeface="Times New Roman" panose="02020603050405020304" pitchFamily="18" charset="0"/>
                <a:cs typeface="Times New Roman" panose="02020603050405020304" pitchFamily="18" charset="0"/>
              </a:rPr>
              <a:t>) </a:t>
            </a:r>
            <a:r>
              <a:rPr lang="en-IN" sz="5399" b="1" dirty="0">
                <a:latin typeface="Times New Roman" panose="02020603050405020304" pitchFamily="18" charset="0"/>
                <a:cs typeface="Times New Roman" panose="02020603050405020304" pitchFamily="18" charset="0"/>
              </a:rPr>
              <a:t>4.15x </a:t>
            </a:r>
            <a:r>
              <a:rPr lang="en-IN" sz="5399" dirty="0">
                <a:latin typeface="Times New Roman" panose="02020603050405020304" pitchFamily="18" charset="0"/>
                <a:cs typeface="Times New Roman" panose="02020603050405020304" pitchFamily="18" charset="0"/>
              </a:rPr>
              <a:t>more in collisions than Females(</a:t>
            </a:r>
            <a:r>
              <a:rPr lang="en-IN" sz="5399" b="1" dirty="0">
                <a:latin typeface="Times New Roman" panose="02020603050405020304" pitchFamily="18" charset="0"/>
                <a:cs typeface="Times New Roman" panose="02020603050405020304" pitchFamily="18" charset="0"/>
              </a:rPr>
              <a:t>19%</a:t>
            </a:r>
            <a:r>
              <a:rPr lang="en-IN" sz="5399" dirty="0">
                <a:latin typeface="Times New Roman" panose="02020603050405020304" pitchFamily="18" charset="0"/>
                <a:cs typeface="Times New Roman" panose="02020603050405020304" pitchFamily="18" charset="0"/>
              </a:rPr>
              <a:t>).</a:t>
            </a:r>
            <a:endParaRPr lang="en-IN" sz="5399" b="1" dirty="0">
              <a:latin typeface="Times New Roman" panose="02020603050405020304" pitchFamily="18" charset="0"/>
              <a:cs typeface="Times New Roman" panose="02020603050405020304" pitchFamily="18" charset="0"/>
            </a:endParaRPr>
          </a:p>
        </p:txBody>
      </p:sp>
      <p:pic>
        <p:nvPicPr>
          <p:cNvPr id="1047" name="Picture 16" descr="Traffic Cones PNG Transparent Images Free Download | Vector Files | Pngtree">
            <a:extLst>
              <a:ext uri="{FF2B5EF4-FFF2-40B4-BE49-F238E27FC236}">
                <a16:creationId xmlns:a16="http://schemas.microsoft.com/office/drawing/2014/main" id="{C3069705-7414-EF4E-6D1F-5F40289FFF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89610" y="5300189"/>
            <a:ext cx="829037" cy="829037"/>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16" descr="Traffic Cones PNG Transparent Images Free Download | Vector Files | Pngtree">
            <a:extLst>
              <a:ext uri="{FF2B5EF4-FFF2-40B4-BE49-F238E27FC236}">
                <a16:creationId xmlns:a16="http://schemas.microsoft.com/office/drawing/2014/main" id="{C4290782-84B5-E3C5-BDAE-EB134E8FF6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29430" y="6519568"/>
            <a:ext cx="829037" cy="829037"/>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4B8E103-C1AE-F528-E5CB-CA95B823FC2E}"/>
              </a:ext>
            </a:extLst>
          </p:cNvPr>
          <p:cNvSpPr txBox="1"/>
          <p:nvPr/>
        </p:nvSpPr>
        <p:spPr>
          <a:xfrm>
            <a:off x="16435659" y="8154160"/>
            <a:ext cx="14320409" cy="923201"/>
          </a:xfrm>
          <a:prstGeom prst="rect">
            <a:avLst/>
          </a:prstGeom>
          <a:noFill/>
        </p:spPr>
        <p:txBody>
          <a:bodyPr wrap="square">
            <a:spAutoFit/>
          </a:bodyPr>
          <a:lstStyle/>
          <a:p>
            <a:pPr algn="just"/>
            <a:r>
              <a:rPr lang="en-US" sz="5399" dirty="0">
                <a:latin typeface="Times New Roman" panose="02020603050405020304" pitchFamily="18" charset="0"/>
                <a:cs typeface="Times New Roman" panose="02020603050405020304" pitchFamily="18" charset="0"/>
              </a:rPr>
              <a:t>Majority Collisions happen in </a:t>
            </a:r>
            <a:r>
              <a:rPr lang="en-US" sz="5399" b="1" dirty="0">
                <a:latin typeface="Times New Roman" panose="02020603050405020304" pitchFamily="18" charset="0"/>
                <a:cs typeface="Times New Roman" panose="02020603050405020304" pitchFamily="18" charset="0"/>
              </a:rPr>
              <a:t>England districts.</a:t>
            </a:r>
            <a:endParaRPr lang="en-US" sz="5399" dirty="0">
              <a:latin typeface="Times New Roman" panose="02020603050405020304" pitchFamily="18" charset="0"/>
              <a:cs typeface="Times New Roman" panose="02020603050405020304" pitchFamily="18" charset="0"/>
            </a:endParaRPr>
          </a:p>
        </p:txBody>
      </p:sp>
      <p:pic>
        <p:nvPicPr>
          <p:cNvPr id="1051" name="Picture 16" descr="Traffic Cones PNG Transparent Images Free Download | Vector Files | Pngtree">
            <a:extLst>
              <a:ext uri="{FF2B5EF4-FFF2-40B4-BE49-F238E27FC236}">
                <a16:creationId xmlns:a16="http://schemas.microsoft.com/office/drawing/2014/main" id="{19874167-C216-8919-9E44-809DCB3532A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06973" y="8257059"/>
            <a:ext cx="829037" cy="829037"/>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1052">
            <a:extLst>
              <a:ext uri="{FF2B5EF4-FFF2-40B4-BE49-F238E27FC236}">
                <a16:creationId xmlns:a16="http://schemas.microsoft.com/office/drawing/2014/main" id="{81DA676D-8246-1EBE-7CBE-EF3BA572E5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0007" y="10434175"/>
            <a:ext cx="15072888" cy="11304662"/>
          </a:xfrm>
          <a:prstGeom prst="rect">
            <a:avLst/>
          </a:prstGeom>
        </p:spPr>
      </p:pic>
      <p:pic>
        <p:nvPicPr>
          <p:cNvPr id="2" name="Picture 1">
            <a:extLst>
              <a:ext uri="{FF2B5EF4-FFF2-40B4-BE49-F238E27FC236}">
                <a16:creationId xmlns:a16="http://schemas.microsoft.com/office/drawing/2014/main" id="{31D2EBEA-5002-6C76-2385-927315B0DFF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62160" y="31458481"/>
            <a:ext cx="13836368" cy="10377277"/>
          </a:xfrm>
          <a:prstGeom prst="rect">
            <a:avLst/>
          </a:prstGeom>
        </p:spPr>
      </p:pic>
      <p:sp>
        <p:nvSpPr>
          <p:cNvPr id="10" name="TextBox 9">
            <a:extLst>
              <a:ext uri="{FF2B5EF4-FFF2-40B4-BE49-F238E27FC236}">
                <a16:creationId xmlns:a16="http://schemas.microsoft.com/office/drawing/2014/main" id="{F9B4A038-4F12-5E12-2C15-2F345DA14391}"/>
              </a:ext>
            </a:extLst>
          </p:cNvPr>
          <p:cNvSpPr txBox="1"/>
          <p:nvPr/>
        </p:nvSpPr>
        <p:spPr>
          <a:xfrm rot="16200000">
            <a:off x="13813339" y="30436775"/>
            <a:ext cx="3077499" cy="769570"/>
          </a:xfrm>
          <a:prstGeom prst="rect">
            <a:avLst/>
          </a:prstGeom>
          <a:noFill/>
        </p:spPr>
        <p:txBody>
          <a:bodyPr wrap="square" rtlCol="0">
            <a:spAutoFit/>
          </a:bodyPr>
          <a:lstStyle/>
          <a:p>
            <a:r>
              <a:rPr lang="en-IN" sz="4401" b="1" dirty="0">
                <a:latin typeface="Times New Roman" panose="02020603050405020304" pitchFamily="18" charset="0"/>
                <a:cs typeface="Times New Roman" panose="02020603050405020304" pitchFamily="18" charset="0"/>
              </a:rPr>
              <a:t>Latitude</a:t>
            </a:r>
            <a:endParaRPr lang="en-IN" sz="5399"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C39C036-A3DC-375A-AF70-8B39965BB834}"/>
              </a:ext>
            </a:extLst>
          </p:cNvPr>
          <p:cNvSpPr txBox="1"/>
          <p:nvPr/>
        </p:nvSpPr>
        <p:spPr>
          <a:xfrm>
            <a:off x="22172969" y="39956114"/>
            <a:ext cx="2987781" cy="769570"/>
          </a:xfrm>
          <a:prstGeom prst="rect">
            <a:avLst/>
          </a:prstGeom>
          <a:noFill/>
        </p:spPr>
        <p:txBody>
          <a:bodyPr wrap="square" rtlCol="0">
            <a:spAutoFit/>
          </a:bodyPr>
          <a:lstStyle/>
          <a:p>
            <a:r>
              <a:rPr lang="en-IN" sz="4401" b="1" dirty="0">
                <a:latin typeface="Times New Roman" panose="02020603050405020304" pitchFamily="18" charset="0"/>
                <a:cs typeface="Times New Roman" panose="02020603050405020304" pitchFamily="18" charset="0"/>
              </a:rPr>
              <a:t>Longitude</a:t>
            </a:r>
            <a:endParaRPr lang="en-IN" sz="5399" b="1" dirty="0">
              <a:latin typeface="Times New Roman" panose="02020603050405020304" pitchFamily="18" charset="0"/>
              <a:cs typeface="Times New Roman" panose="02020603050405020304" pitchFamily="18" charset="0"/>
            </a:endParaRPr>
          </a:p>
        </p:txBody>
      </p:sp>
      <p:cxnSp>
        <p:nvCxnSpPr>
          <p:cNvPr id="35" name="Straight Connector 34">
            <a:extLst>
              <a:ext uri="{FF2B5EF4-FFF2-40B4-BE49-F238E27FC236}">
                <a16:creationId xmlns:a16="http://schemas.microsoft.com/office/drawing/2014/main" id="{811F6B7B-1F9B-EBD2-9BB9-9472942F8F84}"/>
              </a:ext>
            </a:extLst>
          </p:cNvPr>
          <p:cNvCxnSpPr>
            <a:cxnSpLocks/>
          </p:cNvCxnSpPr>
          <p:nvPr/>
        </p:nvCxnSpPr>
        <p:spPr>
          <a:xfrm flipH="1" flipV="1">
            <a:off x="15054045" y="5936194"/>
            <a:ext cx="38473" cy="6510658"/>
          </a:xfrm>
          <a:prstGeom prst="line">
            <a:avLst/>
          </a:prstGeom>
          <a:ln w="57150">
            <a:solidFill>
              <a:srgbClr val="595959"/>
            </a:solidFill>
            <a:prstDash val="dash"/>
          </a:ln>
          <a:effectLst/>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9F54B99-2DA8-65EC-6C1A-78A742707A91}"/>
              </a:ext>
            </a:extLst>
          </p:cNvPr>
          <p:cNvCxnSpPr>
            <a:cxnSpLocks/>
          </p:cNvCxnSpPr>
          <p:nvPr/>
        </p:nvCxnSpPr>
        <p:spPr>
          <a:xfrm>
            <a:off x="26708982" y="20660544"/>
            <a:ext cx="3521756" cy="0"/>
          </a:xfrm>
          <a:prstGeom prst="line">
            <a:avLst/>
          </a:prstGeom>
          <a:ln w="57150">
            <a:solidFill>
              <a:schemeClr val="tx1"/>
            </a:solidFill>
            <a:prstDash val="dash"/>
          </a:ln>
          <a:effectLst/>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38AD9C2-4223-D465-5130-B396F5B9CF5C}"/>
              </a:ext>
            </a:extLst>
          </p:cNvPr>
          <p:cNvCxnSpPr>
            <a:cxnSpLocks/>
          </p:cNvCxnSpPr>
          <p:nvPr/>
        </p:nvCxnSpPr>
        <p:spPr>
          <a:xfrm>
            <a:off x="15294357" y="40890761"/>
            <a:ext cx="3521756" cy="0"/>
          </a:xfrm>
          <a:prstGeom prst="line">
            <a:avLst/>
          </a:prstGeom>
          <a:ln w="57150">
            <a:solidFill>
              <a:schemeClr val="tx1"/>
            </a:solidFill>
            <a:prstDash val="dash"/>
          </a:ln>
          <a:effectLst/>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174F383-826C-B218-C82A-6DBF86B2738D}"/>
              </a:ext>
            </a:extLst>
          </p:cNvPr>
          <p:cNvCxnSpPr>
            <a:cxnSpLocks/>
          </p:cNvCxnSpPr>
          <p:nvPr/>
        </p:nvCxnSpPr>
        <p:spPr>
          <a:xfrm flipV="1">
            <a:off x="15175909" y="35661601"/>
            <a:ext cx="6988" cy="7142165"/>
          </a:xfrm>
          <a:prstGeom prst="line">
            <a:avLst/>
          </a:prstGeom>
          <a:ln w="57150">
            <a:solidFill>
              <a:schemeClr val="tx1"/>
            </a:solidFill>
            <a:prstDash val="dash"/>
          </a:ln>
          <a:effectLst/>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3BFA9B10-1A62-77B2-51B0-1274AA63026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21443192"/>
            <a:ext cx="15463366" cy="11597525"/>
          </a:xfrm>
          <a:prstGeom prst="rect">
            <a:avLst/>
          </a:prstGeom>
        </p:spPr>
      </p:pic>
      <p:sp>
        <p:nvSpPr>
          <p:cNvPr id="9" name="Circle: Hollow 8">
            <a:extLst>
              <a:ext uri="{FF2B5EF4-FFF2-40B4-BE49-F238E27FC236}">
                <a16:creationId xmlns:a16="http://schemas.microsoft.com/office/drawing/2014/main" id="{3021BCDE-5BCE-C22E-E39F-1EB8EA454C9C}"/>
              </a:ext>
            </a:extLst>
          </p:cNvPr>
          <p:cNvSpPr/>
          <p:nvPr/>
        </p:nvSpPr>
        <p:spPr>
          <a:xfrm>
            <a:off x="28349921" y="14031990"/>
            <a:ext cx="1502888" cy="1487522"/>
          </a:xfrm>
          <a:prstGeom prst="donut">
            <a:avLst/>
          </a:prstGeom>
          <a:solidFill>
            <a:srgbClr val="FFC0CB"/>
          </a:solidFill>
          <a:ln>
            <a:solidFill>
              <a:srgbClr val="FFC0C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Circle: Hollow 13">
            <a:extLst>
              <a:ext uri="{FF2B5EF4-FFF2-40B4-BE49-F238E27FC236}">
                <a16:creationId xmlns:a16="http://schemas.microsoft.com/office/drawing/2014/main" id="{06C90BED-2687-02D9-2FF8-4386A769AE9A}"/>
              </a:ext>
            </a:extLst>
          </p:cNvPr>
          <p:cNvSpPr/>
          <p:nvPr/>
        </p:nvSpPr>
        <p:spPr>
          <a:xfrm>
            <a:off x="28309767" y="17046001"/>
            <a:ext cx="1502888" cy="1487522"/>
          </a:xfrm>
          <a:prstGeom prst="donut">
            <a:avLst/>
          </a:prstGeom>
          <a:solidFill>
            <a:srgbClr val="4472C4"/>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5388322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17095</TotalTime>
  <Words>2048</Words>
  <Application>Microsoft Office PowerPoint</Application>
  <PresentationFormat>Custom</PresentationFormat>
  <Paragraphs>285</Paragraphs>
  <Slides>12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Agency FB</vt:lpstr>
      <vt:lpstr>Arial</vt:lpstr>
      <vt:lpstr>Calibri</vt:lpstr>
      <vt:lpstr>Calibri Light</vt:lpstr>
      <vt:lpstr>system-ui</vt:lpstr>
      <vt:lpstr>Times New Roman</vt:lpstr>
      <vt:lpstr>Transport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Akson Sam Varghese</dc:creator>
  <cp:lastModifiedBy>Akson Sam Varghese</cp:lastModifiedBy>
  <cp:revision>151</cp:revision>
  <dcterms:created xsi:type="dcterms:W3CDTF">2023-12-04T11:03:22Z</dcterms:created>
  <dcterms:modified xsi:type="dcterms:W3CDTF">2024-01-07T19:44:03Z</dcterms:modified>
</cp:coreProperties>
</file>