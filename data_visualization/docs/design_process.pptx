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2" r:id="rId8"/>
    <p:sldId id="264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5" autoAdjust="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DEDC-8A6B-E04A-7C47-791B525AB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6B4B9-2A67-FD45-B6C6-7DA69FF04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538A7-C4A5-F1EC-F1DD-446A1E5CA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A611-50FD-0FBE-DA7E-9DC90B75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2112-D0DE-4281-8E1E-BE056708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728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F5BF2-23ED-6FD6-3CF9-1848FE94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27DD5-06D7-DCC6-CF29-1E4D2FBF4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784F1-A98E-0BE0-2F00-BC2DD130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AF5BF-7422-FE57-EBB9-215DD8FC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9C335-B9A6-581B-C3BA-8EFB21F0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674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14224-B2FD-F560-1869-7EF76043A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D86B9-5D70-A075-5A77-8D89AD242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A9BCB-C81D-64BD-4B67-AF7C1D5C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4627F-FA89-70F0-E822-C679ABF1A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E5BE0-5E34-D3CE-F7ED-D7AD85516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468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122E-0ED6-9082-07C6-1F76C67B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7E33F-C719-D672-57FB-0CC516551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E9FF3-16A9-E90B-9CF5-2C23BDBC6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E3EA1-6894-1160-E008-675278DA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EBDDA-EB84-4DE8-34D3-A6535B562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773F0-34EC-927B-4E21-6441D74F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278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BEBB-83E4-E8B4-F115-9EC1CB60D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F405A-FF12-C4BB-C8F0-34478B03A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760D1-7327-4DA4-79DD-ABE99882F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9C637-A289-50FD-6579-EA6672966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EF3006-CB39-05CD-F1B4-093A2FB8CF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5BDC93-F831-B106-F4DF-6FD2275DA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D4C87-82F0-F128-94D7-45A81B2B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F8BCF-CE62-056A-F27C-EFA2A74A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6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0F76A-EBBD-5636-9D0F-205E641F9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A0DF6-C4C7-0D1C-05F5-FF4406FF8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A83B5-C4E6-A131-2808-E4D553FB7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9AA4E2-4ACE-EB0F-F13B-402847A28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78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6EBFBA-36D4-D639-6C72-128AFB1A1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4B05C5-D847-0142-882C-3093AD09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BB31D-D1C7-9D2D-308E-803A1C44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8882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6CE3-C0E0-324F-ADF8-1C9337CE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CE7E5-8978-6383-3EBE-55B790BE8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DA41A-AB62-D8D0-8CF3-D9C514D950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65FC7-CFA6-CC70-0CB7-D288997AD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78D038-CFBA-237E-EBC0-4CDE8C9C5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12C8A-2261-4452-EA6D-4A451054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658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9946A-223D-AFCD-8C05-53D0FB4D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44E2CE-D1B6-EC77-3585-9EDF1DFF8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2E1D6-813C-CE87-F5C5-33591281A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F0FCE-EFA5-8815-F389-9931252FD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EF028-D30D-1FE5-DA52-D2E593DF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7D6B3-C0E4-903C-2CC2-E70D263A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66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1233-4597-67E1-31C8-CEFB8F92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ABF4B-AF81-1EBF-32AA-15074FB4F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CEE0D-4EAB-D949-5D99-B24783FB5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CFD3C-FFCC-1C92-31A0-D8A748C49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3FE59-BC8C-58CA-EAE8-BBC422CC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6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72B3D-AE40-3F7D-6FE7-B4CB443E7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FECE9-F81F-DCD4-FAB1-4104EAED4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872FC-501C-A912-8151-EEE584E4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B4B5D-570D-0EDF-23C8-05B1E0CC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D9F0E-52E4-A915-34F3-435C937C9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586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B5738-DD68-2640-884A-3C0F9A4E4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DF0A3-0FBC-38AB-0322-C68E71A1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F7873-4AF9-E7F5-0C60-76494B9FDC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7FD0A-7181-4AA8-9BA1-51719AD69D4A}" type="datetimeFigureOut">
              <a:rPr lang="en-IN" smtClean="0"/>
              <a:t>07-01-2024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A88F0-34D2-9F2D-DA35-EF9B09E2A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A211E-015C-3CAC-9509-C0A204DAC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9D9C3-38C4-4744-B80D-F36CAB50A1D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62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F91825-76F6-754C-3FD3-8F4F11D4C894}"/>
              </a:ext>
            </a:extLst>
          </p:cNvPr>
          <p:cNvSpPr txBox="1"/>
          <p:nvPr/>
        </p:nvSpPr>
        <p:spPr>
          <a:xfrm>
            <a:off x="3864997" y="2648447"/>
            <a:ext cx="38170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PMIM502 Data Visualization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 – 2311233</a:t>
            </a:r>
          </a:p>
        </p:txBody>
      </p:sp>
    </p:spTree>
    <p:extLst>
      <p:ext uri="{BB962C8B-B14F-4D97-AF65-F5344CB8AC3E}">
        <p14:creationId xmlns:p14="http://schemas.microsoft.com/office/powerpoint/2010/main" val="1463677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76E830D-524A-7C55-4CED-5B7C12297AFA}"/>
              </a:ext>
            </a:extLst>
          </p:cNvPr>
          <p:cNvSpPr/>
          <p:nvPr/>
        </p:nvSpPr>
        <p:spPr>
          <a:xfrm>
            <a:off x="6645552" y="742784"/>
            <a:ext cx="4860648" cy="4926495"/>
          </a:xfrm>
          <a:prstGeom prst="rect">
            <a:avLst/>
          </a:prstGeom>
          <a:ln>
            <a:solidFill>
              <a:srgbClr val="7030A0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82C25ED-0D79-47F8-1778-B7A87E5EA603}"/>
              </a:ext>
            </a:extLst>
          </p:cNvPr>
          <p:cNvSpPr/>
          <p:nvPr/>
        </p:nvSpPr>
        <p:spPr>
          <a:xfrm>
            <a:off x="8466219" y="908340"/>
            <a:ext cx="2611356" cy="1430654"/>
          </a:xfrm>
          <a:prstGeom prst="rect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D50DE6FC-D2E8-F9B4-0BA3-1ACF2F411EAA}"/>
              </a:ext>
            </a:extLst>
          </p:cNvPr>
          <p:cNvSpPr/>
          <p:nvPr/>
        </p:nvSpPr>
        <p:spPr>
          <a:xfrm>
            <a:off x="742249" y="1202524"/>
            <a:ext cx="1861855" cy="4341026"/>
          </a:xfrm>
          <a:prstGeom prst="rect">
            <a:avLst/>
          </a:prstGeom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6B857D-C990-6F13-0C86-A50624CB49EB}"/>
              </a:ext>
            </a:extLst>
          </p:cNvPr>
          <p:cNvSpPr/>
          <p:nvPr/>
        </p:nvSpPr>
        <p:spPr>
          <a:xfrm>
            <a:off x="5324474" y="2794552"/>
            <a:ext cx="1725433" cy="76332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9C9E0B-4096-C9A2-2281-A67C6D05EB06}"/>
              </a:ext>
            </a:extLst>
          </p:cNvPr>
          <p:cNvSpPr/>
          <p:nvPr/>
        </p:nvSpPr>
        <p:spPr>
          <a:xfrm>
            <a:off x="2354670" y="2800902"/>
            <a:ext cx="1725433" cy="763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WORK*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7FCDA5-A0A1-3FB4-AB29-2D1A346FD3DF}"/>
              </a:ext>
            </a:extLst>
          </p:cNvPr>
          <p:cNvSpPr txBox="1"/>
          <p:nvPr/>
        </p:nvSpPr>
        <p:spPr>
          <a:xfrm>
            <a:off x="159618" y="90180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</a:t>
            </a:r>
            <a:endParaRPr lang="en-IN" u="sng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C7428AF-9232-FACD-1D4A-BD794D967DD4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3217387" y="3564228"/>
            <a:ext cx="2550852" cy="140612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379DB97-EF55-7165-CAA5-7ABEE9211A8A}"/>
              </a:ext>
            </a:extLst>
          </p:cNvPr>
          <p:cNvSpPr/>
          <p:nvPr/>
        </p:nvSpPr>
        <p:spPr>
          <a:xfrm>
            <a:off x="7105565" y="1202524"/>
            <a:ext cx="1725433" cy="763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FRAMEWORK*</a:t>
            </a:r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4AFA314A-ED8C-5653-9CF6-DBD4CC79925E}"/>
              </a:ext>
            </a:extLst>
          </p:cNvPr>
          <p:cNvSpPr/>
          <p:nvPr/>
        </p:nvSpPr>
        <p:spPr>
          <a:xfrm>
            <a:off x="7612392" y="2800902"/>
            <a:ext cx="711778" cy="763325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BE5687-280E-FF24-1464-6231840EADD0}"/>
              </a:ext>
            </a:extLst>
          </p:cNvPr>
          <p:cNvCxnSpPr>
            <a:cxnSpLocks/>
            <a:stCxn id="3" idx="3"/>
            <a:endCxn id="38" idx="1"/>
          </p:cNvCxnSpPr>
          <p:nvPr/>
        </p:nvCxnSpPr>
        <p:spPr>
          <a:xfrm>
            <a:off x="7049907" y="3176215"/>
            <a:ext cx="562485" cy="6350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325E42-A73E-6EA5-3B15-26604C46DB90}"/>
              </a:ext>
            </a:extLst>
          </p:cNvPr>
          <p:cNvCxnSpPr>
            <a:cxnSpLocks/>
            <a:stCxn id="38" idx="0"/>
            <a:endCxn id="27" idx="2"/>
          </p:cNvCxnSpPr>
          <p:nvPr/>
        </p:nvCxnSpPr>
        <p:spPr>
          <a:xfrm flipV="1">
            <a:off x="7968281" y="1965849"/>
            <a:ext cx="1" cy="835053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03E09B4-53D2-19B4-663D-FD89E88EFD67}"/>
              </a:ext>
            </a:extLst>
          </p:cNvPr>
          <p:cNvCxnSpPr>
            <a:cxnSpLocks/>
            <a:stCxn id="38" idx="2"/>
            <a:endCxn id="28" idx="0"/>
          </p:cNvCxnSpPr>
          <p:nvPr/>
        </p:nvCxnSpPr>
        <p:spPr>
          <a:xfrm>
            <a:off x="7968281" y="3564227"/>
            <a:ext cx="1" cy="906781"/>
          </a:xfrm>
          <a:prstGeom prst="straightConnector1">
            <a:avLst/>
          </a:prstGeom>
          <a:ln w="1270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5769BAB-B325-550F-2196-288B966AAC0A}"/>
              </a:ext>
            </a:extLst>
          </p:cNvPr>
          <p:cNvSpPr txBox="1"/>
          <p:nvPr/>
        </p:nvSpPr>
        <p:spPr>
          <a:xfrm>
            <a:off x="7753176" y="2883826"/>
            <a:ext cx="4667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EF5319B-41D4-0099-84E6-8FE76348DE73}"/>
              </a:ext>
            </a:extLst>
          </p:cNvPr>
          <p:cNvSpPr/>
          <p:nvPr/>
        </p:nvSpPr>
        <p:spPr>
          <a:xfrm>
            <a:off x="6927325" y="6141350"/>
            <a:ext cx="361950" cy="369332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691FA100-B750-102F-1BAF-04F1703CB6D3}"/>
              </a:ext>
            </a:extLst>
          </p:cNvPr>
          <p:cNvSpPr/>
          <p:nvPr/>
        </p:nvSpPr>
        <p:spPr>
          <a:xfrm>
            <a:off x="228515" y="1139861"/>
            <a:ext cx="361950" cy="36933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13639D8B-8301-C52F-F353-C670D0229DA9}"/>
              </a:ext>
            </a:extLst>
          </p:cNvPr>
          <p:cNvCxnSpPr>
            <a:cxnSpLocks/>
            <a:stCxn id="127" idx="2"/>
            <a:endCxn id="38" idx="3"/>
          </p:cNvCxnSpPr>
          <p:nvPr/>
        </p:nvCxnSpPr>
        <p:spPr>
          <a:xfrm rot="5400000">
            <a:off x="8626249" y="2036916"/>
            <a:ext cx="843571" cy="1447727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06C8F02-8CAD-0DEC-5C91-88F7ACCD9F41}"/>
              </a:ext>
            </a:extLst>
          </p:cNvPr>
          <p:cNvCxnSpPr>
            <a:cxnSpLocks/>
            <a:stCxn id="129" idx="0"/>
            <a:endCxn id="38" idx="3"/>
          </p:cNvCxnSpPr>
          <p:nvPr/>
        </p:nvCxnSpPr>
        <p:spPr>
          <a:xfrm rot="16200000" flipV="1">
            <a:off x="8607272" y="2899463"/>
            <a:ext cx="874370" cy="144057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493C383D-8286-356C-0128-54ADD856785D}"/>
              </a:ext>
            </a:extLst>
          </p:cNvPr>
          <p:cNvCxnSpPr>
            <a:cxnSpLocks/>
            <a:stCxn id="62" idx="4"/>
            <a:endCxn id="107" idx="1"/>
          </p:cNvCxnSpPr>
          <p:nvPr/>
        </p:nvCxnSpPr>
        <p:spPr>
          <a:xfrm rot="16200000" flipH="1">
            <a:off x="-356053" y="2274735"/>
            <a:ext cx="1863844" cy="332759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DA3F230-72BF-9D47-C327-35E4A1E86A13}"/>
              </a:ext>
            </a:extLst>
          </p:cNvPr>
          <p:cNvCxnSpPr>
            <a:cxnSpLocks/>
            <a:stCxn id="81" idx="2"/>
            <a:endCxn id="61" idx="2"/>
          </p:cNvCxnSpPr>
          <p:nvPr/>
        </p:nvCxnSpPr>
        <p:spPr>
          <a:xfrm rot="16200000" flipH="1">
            <a:off x="6077477" y="5476168"/>
            <a:ext cx="941320" cy="75837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Diamond 80">
            <a:extLst>
              <a:ext uri="{FF2B5EF4-FFF2-40B4-BE49-F238E27FC236}">
                <a16:creationId xmlns:a16="http://schemas.microsoft.com/office/drawing/2014/main" id="{D33F952A-556F-F13D-C55D-695051454F02}"/>
              </a:ext>
            </a:extLst>
          </p:cNvPr>
          <p:cNvSpPr/>
          <p:nvPr/>
        </p:nvSpPr>
        <p:spPr>
          <a:xfrm>
            <a:off x="5768239" y="4555993"/>
            <a:ext cx="801421" cy="828703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26B623-D2BE-A246-E688-C05ACF9FF3C7}"/>
              </a:ext>
            </a:extLst>
          </p:cNvPr>
          <p:cNvSpPr txBox="1"/>
          <p:nvPr/>
        </p:nvSpPr>
        <p:spPr>
          <a:xfrm>
            <a:off x="5588024" y="4642442"/>
            <a:ext cx="11800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 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Happy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81AAC33-5FA1-94F4-76E5-DE7728EC5A94}"/>
              </a:ext>
            </a:extLst>
          </p:cNvPr>
          <p:cNvSpPr txBox="1"/>
          <p:nvPr/>
        </p:nvSpPr>
        <p:spPr>
          <a:xfrm>
            <a:off x="5799187" y="5471145"/>
            <a:ext cx="415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7AE0EBB-0661-F24D-7D48-0FF11CEC45DF}"/>
              </a:ext>
            </a:extLst>
          </p:cNvPr>
          <p:cNvSpPr txBox="1"/>
          <p:nvPr/>
        </p:nvSpPr>
        <p:spPr>
          <a:xfrm>
            <a:off x="5362501" y="4664364"/>
            <a:ext cx="4150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4148A3-87C4-87B0-8285-D4195E057089}"/>
              </a:ext>
            </a:extLst>
          </p:cNvPr>
          <p:cNvSpPr txBox="1"/>
          <p:nvPr/>
        </p:nvSpPr>
        <p:spPr>
          <a:xfrm>
            <a:off x="7244300" y="6219740"/>
            <a:ext cx="631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70765CC-7FC4-0D3E-11A9-B2764E4FDCE3}"/>
              </a:ext>
            </a:extLst>
          </p:cNvPr>
          <p:cNvSpPr txBox="1"/>
          <p:nvPr/>
        </p:nvSpPr>
        <p:spPr>
          <a:xfrm>
            <a:off x="93772" y="850450"/>
            <a:ext cx="744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2C06DDC-BE58-2538-2C11-664B4B1C2F95}"/>
              </a:ext>
            </a:extLst>
          </p:cNvPr>
          <p:cNvCxnSpPr>
            <a:cxnSpLocks/>
            <a:stCxn id="3" idx="2"/>
            <a:endCxn id="81" idx="0"/>
          </p:cNvCxnSpPr>
          <p:nvPr/>
        </p:nvCxnSpPr>
        <p:spPr>
          <a:xfrm flipH="1">
            <a:off x="6168950" y="3557877"/>
            <a:ext cx="18241" cy="9981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6D42B9E-5031-C00E-BB3E-2863FD06CACE}"/>
              </a:ext>
            </a:extLst>
          </p:cNvPr>
          <p:cNvSpPr/>
          <p:nvPr/>
        </p:nvSpPr>
        <p:spPr>
          <a:xfrm>
            <a:off x="964478" y="1698669"/>
            <a:ext cx="117796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BRIEF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07943D7-49D1-73C8-FE3D-2281E782B84B}"/>
              </a:ext>
            </a:extLst>
          </p:cNvPr>
          <p:cNvSpPr/>
          <p:nvPr/>
        </p:nvSpPr>
        <p:spPr>
          <a:xfrm>
            <a:off x="959718" y="2681148"/>
            <a:ext cx="118272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B45DFAF-25DF-ADA9-15B7-59A9302C3132}"/>
              </a:ext>
            </a:extLst>
          </p:cNvPr>
          <p:cNvSpPr/>
          <p:nvPr/>
        </p:nvSpPr>
        <p:spPr>
          <a:xfrm>
            <a:off x="946438" y="3589552"/>
            <a:ext cx="119668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EDITORIAL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9A33ABE7-2FD0-734F-609A-EF1DB930DB1F}"/>
              </a:ext>
            </a:extLst>
          </p:cNvPr>
          <p:cNvSpPr/>
          <p:nvPr/>
        </p:nvSpPr>
        <p:spPr>
          <a:xfrm>
            <a:off x="946990" y="4607214"/>
            <a:ext cx="1196135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DESIGN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A4048C1-2EEB-66BD-E754-412AB0B23B80}"/>
              </a:ext>
            </a:extLst>
          </p:cNvPr>
          <p:cNvCxnSpPr>
            <a:cxnSpLocks/>
            <a:stCxn id="101" idx="2"/>
            <a:endCxn id="102" idx="0"/>
          </p:cNvCxnSpPr>
          <p:nvPr/>
        </p:nvCxnSpPr>
        <p:spPr>
          <a:xfrm flipH="1">
            <a:off x="1551081" y="2068001"/>
            <a:ext cx="2380" cy="613147"/>
          </a:xfrm>
          <a:prstGeom prst="straightConnector1">
            <a:avLst/>
          </a:prstGeom>
          <a:ln w="1270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1CF1C6C-900A-8420-F48F-4DC13DA81A89}"/>
              </a:ext>
            </a:extLst>
          </p:cNvPr>
          <p:cNvCxnSpPr>
            <a:cxnSpLocks/>
          </p:cNvCxnSpPr>
          <p:nvPr/>
        </p:nvCxnSpPr>
        <p:spPr>
          <a:xfrm flipV="1">
            <a:off x="1551081" y="2075952"/>
            <a:ext cx="2380" cy="613147"/>
          </a:xfrm>
          <a:prstGeom prst="straightConnector1">
            <a:avLst/>
          </a:prstGeom>
          <a:ln w="1270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7164A5F0-EC95-92A8-1924-EE408DE885A7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 flipH="1">
            <a:off x="1544782" y="3050480"/>
            <a:ext cx="6299" cy="539072"/>
          </a:xfrm>
          <a:prstGeom prst="straightConnector1">
            <a:avLst/>
          </a:prstGeom>
          <a:ln w="1270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9780997-17B6-6BB8-44D8-D8F1D47B7C24}"/>
              </a:ext>
            </a:extLst>
          </p:cNvPr>
          <p:cNvCxnSpPr>
            <a:cxnSpLocks/>
            <a:stCxn id="103" idx="2"/>
            <a:endCxn id="104" idx="0"/>
          </p:cNvCxnSpPr>
          <p:nvPr/>
        </p:nvCxnSpPr>
        <p:spPr>
          <a:xfrm>
            <a:off x="1544782" y="3958884"/>
            <a:ext cx="276" cy="648330"/>
          </a:xfrm>
          <a:prstGeom prst="straightConnector1">
            <a:avLst/>
          </a:prstGeom>
          <a:ln w="1270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D35A92DE-89C5-7F90-91F4-8935420BF1CE}"/>
              </a:ext>
            </a:extLst>
          </p:cNvPr>
          <p:cNvCxnSpPr>
            <a:cxnSpLocks/>
            <a:stCxn id="103" idx="0"/>
            <a:endCxn id="102" idx="2"/>
          </p:cNvCxnSpPr>
          <p:nvPr/>
        </p:nvCxnSpPr>
        <p:spPr>
          <a:xfrm flipV="1">
            <a:off x="1544782" y="3050480"/>
            <a:ext cx="6299" cy="539072"/>
          </a:xfrm>
          <a:prstGeom prst="straightConnector1">
            <a:avLst/>
          </a:prstGeom>
          <a:ln w="1270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15EA4E5-F0A0-B6C8-6A9A-340B535EDFD1}"/>
              </a:ext>
            </a:extLst>
          </p:cNvPr>
          <p:cNvCxnSpPr>
            <a:cxnSpLocks/>
          </p:cNvCxnSpPr>
          <p:nvPr/>
        </p:nvCxnSpPr>
        <p:spPr>
          <a:xfrm flipH="1" flipV="1">
            <a:off x="1544782" y="3942982"/>
            <a:ext cx="276" cy="648330"/>
          </a:xfrm>
          <a:prstGeom prst="straightConnector1">
            <a:avLst/>
          </a:prstGeom>
          <a:ln w="12700">
            <a:solidFill>
              <a:schemeClr val="accent6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B1CD2CD0-F369-6518-BA54-3D24668AD740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4080103" y="3176215"/>
            <a:ext cx="1244371" cy="635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4ABEE442-1BF5-1E47-F4BF-55D117C9EAEB}"/>
              </a:ext>
            </a:extLst>
          </p:cNvPr>
          <p:cNvSpPr txBox="1"/>
          <p:nvPr/>
        </p:nvSpPr>
        <p:spPr>
          <a:xfrm>
            <a:off x="8925850" y="1278590"/>
            <a:ext cx="18654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AF2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53742F6-5778-E31E-CBCE-C0E58A6FDEE0}"/>
              </a:ext>
            </a:extLst>
          </p:cNvPr>
          <p:cNvSpPr/>
          <p:nvPr/>
        </p:nvSpPr>
        <p:spPr>
          <a:xfrm>
            <a:off x="8459065" y="4056935"/>
            <a:ext cx="2611356" cy="1430654"/>
          </a:xfrm>
          <a:prstGeom prst="rect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17895E-3A53-349B-3B05-335FCF8B8ED1}"/>
              </a:ext>
            </a:extLst>
          </p:cNvPr>
          <p:cNvSpPr/>
          <p:nvPr/>
        </p:nvSpPr>
        <p:spPr>
          <a:xfrm>
            <a:off x="7105565" y="4471008"/>
            <a:ext cx="1725433" cy="7633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PEER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2586B4A-E556-3A30-E7E9-C9D2125D68C7}"/>
              </a:ext>
            </a:extLst>
          </p:cNvPr>
          <p:cNvSpPr txBox="1"/>
          <p:nvPr/>
        </p:nvSpPr>
        <p:spPr>
          <a:xfrm>
            <a:off x="8909948" y="4345730"/>
            <a:ext cx="20241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 Review</a:t>
            </a: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Classmates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Friends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A7FF50A9-AB4F-BE74-FCD3-C59226DBC15C}"/>
              </a:ext>
            </a:extLst>
          </p:cNvPr>
          <p:cNvSpPr txBox="1"/>
          <p:nvPr/>
        </p:nvSpPr>
        <p:spPr>
          <a:xfrm>
            <a:off x="228515" y="6520896"/>
            <a:ext cx="42267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*Reference: Data Visualisation; Andy Kirk</a:t>
            </a: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19C94256-A67D-F2D2-3231-BB3D979DB170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049907" y="3167931"/>
            <a:ext cx="532277" cy="8284"/>
          </a:xfrm>
          <a:prstGeom prst="straightConnector1">
            <a:avLst/>
          </a:prstGeom>
          <a:ln w="3175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469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C66BD9-611F-E96D-0E45-C13BC40D8A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2" r="2137"/>
          <a:stretch/>
        </p:blipFill>
        <p:spPr>
          <a:xfrm>
            <a:off x="683813" y="747423"/>
            <a:ext cx="3775771" cy="5543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C22246-891B-ACCC-0333-F87102E3AF0B}"/>
              </a:ext>
            </a:extLst>
          </p:cNvPr>
          <p:cNvSpPr txBox="1"/>
          <p:nvPr/>
        </p:nvSpPr>
        <p:spPr>
          <a:xfrm>
            <a:off x="1529760" y="258666"/>
            <a:ext cx="117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Point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EB15C9-1290-F9CC-D11C-9C1691C275C7}"/>
              </a:ext>
            </a:extLst>
          </p:cNvPr>
          <p:cNvSpPr/>
          <p:nvPr/>
        </p:nvSpPr>
        <p:spPr>
          <a:xfrm>
            <a:off x="4993748" y="3015533"/>
            <a:ext cx="1494846" cy="413467"/>
          </a:xfrm>
          <a:prstGeom prst="rightArrow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193AE-49C9-4D5B-8D5C-CA6C230F82E4}"/>
              </a:ext>
            </a:extLst>
          </p:cNvPr>
          <p:cNvSpPr txBox="1"/>
          <p:nvPr/>
        </p:nvSpPr>
        <p:spPr>
          <a:xfrm>
            <a:off x="8747167" y="26661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Point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991BD7-6153-31C0-9D8C-FDC73812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5" y="707968"/>
            <a:ext cx="3949700" cy="558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641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C66BD9-611F-E96D-0E45-C13BC40D8A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2" r="2137"/>
          <a:stretch/>
        </p:blipFill>
        <p:spPr>
          <a:xfrm>
            <a:off x="584792" y="1764433"/>
            <a:ext cx="2120927" cy="3114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C22246-891B-ACCC-0333-F87102E3AF0B}"/>
              </a:ext>
            </a:extLst>
          </p:cNvPr>
          <p:cNvSpPr txBox="1"/>
          <p:nvPr/>
        </p:nvSpPr>
        <p:spPr>
          <a:xfrm>
            <a:off x="997933" y="747423"/>
            <a:ext cx="117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Point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EB15C9-1290-F9CC-D11C-9C1691C275C7}"/>
              </a:ext>
            </a:extLst>
          </p:cNvPr>
          <p:cNvSpPr/>
          <p:nvPr/>
        </p:nvSpPr>
        <p:spPr>
          <a:xfrm>
            <a:off x="3040797" y="3015533"/>
            <a:ext cx="807141" cy="222967"/>
          </a:xfrm>
          <a:prstGeom prst="rightArrow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193AE-49C9-4D5B-8D5C-CA6C230F82E4}"/>
              </a:ext>
            </a:extLst>
          </p:cNvPr>
          <p:cNvSpPr txBox="1"/>
          <p:nvPr/>
        </p:nvSpPr>
        <p:spPr>
          <a:xfrm>
            <a:off x="9845166" y="747423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Point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7BF2791-AFFA-4265-2E2D-1751DD66BCBC}"/>
              </a:ext>
            </a:extLst>
          </p:cNvPr>
          <p:cNvSpPr/>
          <p:nvPr/>
        </p:nvSpPr>
        <p:spPr>
          <a:xfrm>
            <a:off x="8064282" y="3015533"/>
            <a:ext cx="807141" cy="222967"/>
          </a:xfrm>
          <a:prstGeom prst="rightArrow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841CF-3960-9F4F-B0E3-ED9570BC3795}"/>
              </a:ext>
            </a:extLst>
          </p:cNvPr>
          <p:cNvSpPr txBox="1"/>
          <p:nvPr/>
        </p:nvSpPr>
        <p:spPr>
          <a:xfrm>
            <a:off x="4941935" y="29552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Point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A44D9-6721-40E5-0EA6-938989DC3846}"/>
              </a:ext>
            </a:extLst>
          </p:cNvPr>
          <p:cNvSpPr txBox="1"/>
          <p:nvPr/>
        </p:nvSpPr>
        <p:spPr>
          <a:xfrm>
            <a:off x="2800969" y="2369202"/>
            <a:ext cx="1174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E8324-7A22-874A-EB9D-C128EFC62F35}"/>
              </a:ext>
            </a:extLst>
          </p:cNvPr>
          <p:cNvSpPr txBox="1"/>
          <p:nvPr/>
        </p:nvSpPr>
        <p:spPr>
          <a:xfrm>
            <a:off x="7814318" y="2251257"/>
            <a:ext cx="11744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Revisions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139B94-C696-1FCD-6062-B0D1B30A84F4}"/>
              </a:ext>
            </a:extLst>
          </p:cNvPr>
          <p:cNvSpPr txBox="1"/>
          <p:nvPr/>
        </p:nvSpPr>
        <p:spPr>
          <a:xfrm>
            <a:off x="0" y="6581001"/>
            <a:ext cx="34929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Designs = 6 Revisions + 3 Review Points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E1056C9-8E53-44FD-013F-E12CCFF21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478" y="932089"/>
            <a:ext cx="3625703" cy="50712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F73847-CDF3-0C58-F47B-C3922CFC9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3348" y="1385576"/>
            <a:ext cx="2998651" cy="423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77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1BC255-47B2-C8E5-EA64-0FFF904A8072}"/>
              </a:ext>
            </a:extLst>
          </p:cNvPr>
          <p:cNvSpPr txBox="1"/>
          <p:nvPr/>
        </p:nvSpPr>
        <p:spPr>
          <a:xfrm>
            <a:off x="159618" y="90180"/>
            <a:ext cx="2853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Ideas &amp; Elements </a:t>
            </a:r>
            <a:endParaRPr lang="en-IN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41A38F-46D3-C6FB-910A-070AF681C550}"/>
              </a:ext>
            </a:extLst>
          </p:cNvPr>
          <p:cNvSpPr txBox="1"/>
          <p:nvPr/>
        </p:nvSpPr>
        <p:spPr>
          <a:xfrm>
            <a:off x="159618" y="877607"/>
            <a:ext cx="112425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Road Elements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Cones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Go Sign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dividers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Cul-de-sac / Quadrant Intersection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Lane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Visual Encoding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 colour in the Safer Title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Directions in cycle lane indicate flow to read the poster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Quadrant intersection dictates the flow to read the plots and compartmentalize the findings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mark to implicitly attach questions to the sections of the poster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representations using symbols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/ Text Highlighted in bold and different size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Size represents highest percentage in the age band table</a:t>
            </a:r>
          </a:p>
          <a:p>
            <a:pPr marL="1257300" lvl="2" indent="-342900"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size of point represents highest casualties in the map</a:t>
            </a:r>
          </a:p>
        </p:txBody>
      </p:sp>
    </p:spTree>
    <p:extLst>
      <p:ext uri="{BB962C8B-B14F-4D97-AF65-F5344CB8AC3E}">
        <p14:creationId xmlns:p14="http://schemas.microsoft.com/office/powerpoint/2010/main" val="63092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6AEEC8-5912-0CB6-DDAC-25C267265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92" y="80505"/>
            <a:ext cx="4737499" cy="66969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FDB74A-32B5-60B4-F966-F601853AC480}"/>
              </a:ext>
            </a:extLst>
          </p:cNvPr>
          <p:cNvSpPr txBox="1"/>
          <p:nvPr/>
        </p:nvSpPr>
        <p:spPr>
          <a:xfrm>
            <a:off x="159618" y="90180"/>
            <a:ext cx="2853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/>
              <a:t>For Reference</a:t>
            </a:r>
          </a:p>
        </p:txBody>
      </p:sp>
    </p:spTree>
    <p:extLst>
      <p:ext uri="{BB962C8B-B14F-4D97-AF65-F5344CB8AC3E}">
        <p14:creationId xmlns:p14="http://schemas.microsoft.com/office/powerpoint/2010/main" val="1804043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2EE8D0-351A-EB5A-E4F1-C4891F01E80A}"/>
              </a:ext>
            </a:extLst>
          </p:cNvPr>
          <p:cNvSpPr txBox="1"/>
          <p:nvPr/>
        </p:nvSpPr>
        <p:spPr>
          <a:xfrm>
            <a:off x="4699813" y="-28880"/>
            <a:ext cx="1223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05A646-D921-0A83-0CC1-A9490E89CE4D}"/>
              </a:ext>
            </a:extLst>
          </p:cNvPr>
          <p:cNvSpPr txBox="1"/>
          <p:nvPr/>
        </p:nvSpPr>
        <p:spPr>
          <a:xfrm>
            <a:off x="240160" y="489543"/>
            <a:ext cx="11711679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/ how this design?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Aim was to provide scientific poster with subtle touch of elements associated with the road / transport / traffic concept.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Arrived at the design after 9 revisions and implementations.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Exhibitory poster, the observations of the analysis are exhibited.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Basic questions used to derive the safety factor of cycling, How many instances of collision are cycles across all vehicles, how severe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are the collisions, where (locality wise) the collisions are higher, and who are involved in such collisions.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donut plots?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Simple to understand.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Could be integrated creatively as wheels of a bicycle.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bar chart ?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Simple to convey the decreasing trend of casualties with the visual effect of colour gradient going from orange to green indicating </a:t>
            </a:r>
          </a:p>
          <a:p>
            <a:pPr lvl="1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supporting the conclusion that cycling is becoming safer.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table in gender and not any plots ?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 Given the space constraint, it was basic intuition that a table would look good and provide more clarity than a cluttered visualization,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 design choice.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-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supportive in the demographic angle, like ‘who’ are more involved in the cycle collision. The  most involved is middle men and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women from 26-35, implicit idea is they were commuting to work and mentioned in the conclusion that majority accidents happen in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the single carriageway roads where there is no physical dividers,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implicit derivation that the top age bands are given for the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respective groups, rest falling in that group will be smaller than that.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45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5AF6FE-2D13-3135-BEBD-992DD479D246}"/>
              </a:ext>
            </a:extLst>
          </p:cNvPr>
          <p:cNvSpPr txBox="1"/>
          <p:nvPr/>
        </p:nvSpPr>
        <p:spPr>
          <a:xfrm>
            <a:off x="482599" y="770467"/>
            <a:ext cx="1162473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What was the motivation behind the quadrant design?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A weekend shopping memory.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What does  the conclusion convey 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- 4 cautionary facts, the positive fact is that cycling is becoming safer.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Why font size and what font are followed 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The criteria was to be able to see the font from a certain distance, font size and family was finalized through  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revisions, tried Agency FB for sporty look, Road Transport fonts for contextual look, Times New roman for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scientific look.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Tried 30 – 96 font size and goldilocks range was the 44 – 88.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What does the map convey?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The ‘where’ section of the poster showing the location on a higher level of the occurring collisions.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What colour scheme were followed ?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Pastel light colours, why ? Because light colours are easy on eyes, and associate the positive result of the question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asked.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C4F08-3FA9-4D7E-11B1-AA6E6764A513}"/>
              </a:ext>
            </a:extLst>
          </p:cNvPr>
          <p:cNvSpPr txBox="1"/>
          <p:nvPr/>
        </p:nvSpPr>
        <p:spPr>
          <a:xfrm>
            <a:off x="4699813" y="-28880"/>
            <a:ext cx="12239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57107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F91825-76F6-754C-3FD3-8F4F11D4C894}"/>
              </a:ext>
            </a:extLst>
          </p:cNvPr>
          <p:cNvSpPr txBox="1"/>
          <p:nvPr/>
        </p:nvSpPr>
        <p:spPr>
          <a:xfrm>
            <a:off x="4396394" y="2648447"/>
            <a:ext cx="2754280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 – 2311233</a:t>
            </a:r>
          </a:p>
        </p:txBody>
      </p:sp>
    </p:spTree>
    <p:extLst>
      <p:ext uri="{BB962C8B-B14F-4D97-AF65-F5344CB8AC3E}">
        <p14:creationId xmlns:p14="http://schemas.microsoft.com/office/powerpoint/2010/main" val="481705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</TotalTime>
  <Words>651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Akson Sam Varghese</dc:creator>
  <cp:lastModifiedBy>Akson Sam Varghese</cp:lastModifiedBy>
  <cp:revision>39</cp:revision>
  <dcterms:created xsi:type="dcterms:W3CDTF">2024-01-05T11:44:12Z</dcterms:created>
  <dcterms:modified xsi:type="dcterms:W3CDTF">2024-01-07T19:43:52Z</dcterms:modified>
</cp:coreProperties>
</file>