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58" r:id="rId6"/>
  </p:sldIdLst>
  <p:sldSz cx="2880042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54" y="-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53" y="2356703"/>
            <a:ext cx="21600319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7563446"/>
            <a:ext cx="21600319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09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71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29" y="3590055"/>
            <a:ext cx="24840367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29" y="9636811"/>
            <a:ext cx="24840367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10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3833390"/>
            <a:ext cx="1224018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3833390"/>
            <a:ext cx="1224018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181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766679"/>
            <a:ext cx="24840367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1" y="3530053"/>
            <a:ext cx="12183929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1" y="5260078"/>
            <a:ext cx="12183929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5" y="3530053"/>
            <a:ext cx="1224393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5" y="5260078"/>
            <a:ext cx="1224393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75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71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335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2073365"/>
            <a:ext cx="14580215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10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2073365"/>
            <a:ext cx="14580215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59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9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4" y="766678"/>
            <a:ext cx="6210092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29" y="766678"/>
            <a:ext cx="18270270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98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766679"/>
            <a:ext cx="24840367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3833390"/>
            <a:ext cx="24840367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17887-9C7F-48AC-8318-2E417CD4A944}" type="datetimeFigureOut">
              <a:rPr lang="en-IN" smtClean="0"/>
              <a:t>12-08-2024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13346865"/>
            <a:ext cx="972014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13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D105A5-8B66-D0A1-429A-F62044FF3553}"/>
              </a:ext>
            </a:extLst>
          </p:cNvPr>
          <p:cNvSpPr/>
          <p:nvPr/>
        </p:nvSpPr>
        <p:spPr>
          <a:xfrm>
            <a:off x="8566605" y="4065304"/>
            <a:ext cx="6265628" cy="1415332"/>
          </a:xfrm>
          <a:prstGeom prst="rect">
            <a:avLst/>
          </a:prstGeom>
          <a:noFill/>
          <a:ln>
            <a:solidFill>
              <a:schemeClr val="accent2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EBA6B3-B595-81FD-3D68-D8F7A3C4CBF2}"/>
              </a:ext>
            </a:extLst>
          </p:cNvPr>
          <p:cNvSpPr/>
          <p:nvPr/>
        </p:nvSpPr>
        <p:spPr>
          <a:xfrm>
            <a:off x="8749485" y="3969892"/>
            <a:ext cx="1256306" cy="206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4DC772-11FB-FA28-D53D-6CB46DE6CBD4}"/>
              </a:ext>
            </a:extLst>
          </p:cNvPr>
          <p:cNvSpPr/>
          <p:nvPr/>
        </p:nvSpPr>
        <p:spPr>
          <a:xfrm>
            <a:off x="8566605" y="6308897"/>
            <a:ext cx="6265628" cy="1415332"/>
          </a:xfrm>
          <a:prstGeom prst="rect">
            <a:avLst/>
          </a:prstGeom>
          <a:noFill/>
          <a:ln>
            <a:solidFill>
              <a:schemeClr val="accent1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44D5F9-4359-AF7C-A7D1-E6397B529C24}"/>
              </a:ext>
            </a:extLst>
          </p:cNvPr>
          <p:cNvSpPr/>
          <p:nvPr/>
        </p:nvSpPr>
        <p:spPr>
          <a:xfrm>
            <a:off x="8749485" y="6213485"/>
            <a:ext cx="1256306" cy="206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60D6DE-7F95-C749-5EDE-78A7A0BD04D8}"/>
              </a:ext>
            </a:extLst>
          </p:cNvPr>
          <p:cNvSpPr/>
          <p:nvPr/>
        </p:nvSpPr>
        <p:spPr>
          <a:xfrm>
            <a:off x="13911206" y="8719467"/>
            <a:ext cx="6265628" cy="1415332"/>
          </a:xfrm>
          <a:prstGeom prst="rect">
            <a:avLst/>
          </a:prstGeom>
          <a:noFill/>
          <a:ln>
            <a:solidFill>
              <a:schemeClr val="accent6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267E84-16D0-5978-21A2-369C2F97065A}"/>
              </a:ext>
            </a:extLst>
          </p:cNvPr>
          <p:cNvSpPr/>
          <p:nvPr/>
        </p:nvSpPr>
        <p:spPr>
          <a:xfrm>
            <a:off x="14094087" y="8624055"/>
            <a:ext cx="1358349" cy="206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D4F1F2-7C39-5218-E392-551D603CEDB3}"/>
              </a:ext>
            </a:extLst>
          </p:cNvPr>
          <p:cNvSpPr/>
          <p:nvPr/>
        </p:nvSpPr>
        <p:spPr>
          <a:xfrm>
            <a:off x="9775204" y="8931503"/>
            <a:ext cx="1574358" cy="99126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Tabulate Results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DD851A-B976-8A95-8404-C9F551BC136B}"/>
              </a:ext>
            </a:extLst>
          </p:cNvPr>
          <p:cNvSpPr/>
          <p:nvPr/>
        </p:nvSpPr>
        <p:spPr>
          <a:xfrm>
            <a:off x="16256841" y="4081209"/>
            <a:ext cx="1574358" cy="99126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Corpora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4C0288-8E2E-BC79-47CA-470EA523253A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>
            <a:off x="17044020" y="5072472"/>
            <a:ext cx="0" cy="36469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419C5A-DC4C-8E6B-779E-6E931E645C97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flipH="1">
            <a:off x="11349562" y="9427133"/>
            <a:ext cx="25616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7569E9A-889D-40BB-39C9-4C5B13B9124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 flipH="1">
            <a:off x="9377640" y="4772972"/>
            <a:ext cx="5454595" cy="1440513"/>
          </a:xfrm>
          <a:prstGeom prst="bentConnector4">
            <a:avLst>
              <a:gd name="adj1" fmla="val -4191"/>
              <a:gd name="adj2" fmla="val 7456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27AD5E5-8DA7-BE50-C847-BBCCF02E7EFE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>
            <a:off x="14832235" y="7016563"/>
            <a:ext cx="2211787" cy="170290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D760CAE-3051-98D0-BA8D-3FD2684A2E82}"/>
              </a:ext>
            </a:extLst>
          </p:cNvPr>
          <p:cNvSpPr txBox="1"/>
          <p:nvPr/>
        </p:nvSpPr>
        <p:spPr>
          <a:xfrm>
            <a:off x="15607934" y="6814873"/>
            <a:ext cx="425116" cy="603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8AC10A-FD38-EB10-11F2-BD2E1FF98F16}"/>
              </a:ext>
            </a:extLst>
          </p:cNvPr>
          <p:cNvSpPr txBox="1"/>
          <p:nvPr/>
        </p:nvSpPr>
        <p:spPr>
          <a:xfrm rot="5400000">
            <a:off x="16847364" y="5617182"/>
            <a:ext cx="425116" cy="603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3BB420-DC82-EF9E-2ED9-7CAE9729AD00}"/>
              </a:ext>
            </a:extLst>
          </p:cNvPr>
          <p:cNvSpPr txBox="1"/>
          <p:nvPr/>
        </p:nvSpPr>
        <p:spPr>
          <a:xfrm rot="10800000">
            <a:off x="12334415" y="9142983"/>
            <a:ext cx="425116" cy="603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9C1ED6-1C62-6BDB-ACD8-23DEB46FEDDF}"/>
              </a:ext>
            </a:extLst>
          </p:cNvPr>
          <p:cNvSpPr/>
          <p:nvPr/>
        </p:nvSpPr>
        <p:spPr>
          <a:xfrm>
            <a:off x="11170444" y="6722864"/>
            <a:ext cx="1199321" cy="581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FE650D-DCBE-DC41-DD7D-7AA14AF2CA75}"/>
              </a:ext>
            </a:extLst>
          </p:cNvPr>
          <p:cNvSpPr/>
          <p:nvPr/>
        </p:nvSpPr>
        <p:spPr>
          <a:xfrm>
            <a:off x="13436782" y="6726012"/>
            <a:ext cx="1199321" cy="581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95BDA06-21B7-E479-6B54-7E4FFA15200F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12369765" y="7013415"/>
            <a:ext cx="1067017" cy="3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6D95EC07-4853-ED32-F408-C6C58BB789AB}"/>
              </a:ext>
            </a:extLst>
          </p:cNvPr>
          <p:cNvSpPr/>
          <p:nvPr/>
        </p:nvSpPr>
        <p:spPr>
          <a:xfrm>
            <a:off x="9004377" y="6719715"/>
            <a:ext cx="1199321" cy="581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model architecture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556CFBE-3FF4-6F2A-EDB0-BC201F6FDC82}"/>
              </a:ext>
            </a:extLst>
          </p:cNvPr>
          <p:cNvCxnSpPr>
            <a:cxnSpLocks/>
            <a:stCxn id="47" idx="3"/>
            <a:endCxn id="37" idx="1"/>
          </p:cNvCxnSpPr>
          <p:nvPr/>
        </p:nvCxnSpPr>
        <p:spPr>
          <a:xfrm>
            <a:off x="10203696" y="7010268"/>
            <a:ext cx="966746" cy="31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F3A89A6F-BB02-2243-0409-D55D390735D8}"/>
              </a:ext>
            </a:extLst>
          </p:cNvPr>
          <p:cNvCxnSpPr>
            <a:cxnSpLocks/>
            <a:stCxn id="38" idx="2"/>
            <a:endCxn id="47" idx="2"/>
          </p:cNvCxnSpPr>
          <p:nvPr/>
        </p:nvCxnSpPr>
        <p:spPr>
          <a:xfrm rot="5400000" flipH="1">
            <a:off x="11817092" y="5087767"/>
            <a:ext cx="6297" cy="4432405"/>
          </a:xfrm>
          <a:prstGeom prst="bentConnector3">
            <a:avLst>
              <a:gd name="adj1" fmla="val -36303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D505C2E6-5DC0-5105-87B2-C7B774BF8120}"/>
              </a:ext>
            </a:extLst>
          </p:cNvPr>
          <p:cNvSpPr/>
          <p:nvPr/>
        </p:nvSpPr>
        <p:spPr>
          <a:xfrm>
            <a:off x="11066628" y="7420757"/>
            <a:ext cx="1698267" cy="206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Re-design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BDE5BE-334B-7062-3116-6350010E69A4}"/>
              </a:ext>
            </a:extLst>
          </p:cNvPr>
          <p:cNvSpPr txBox="1"/>
          <p:nvPr/>
        </p:nvSpPr>
        <p:spPr>
          <a:xfrm rot="10800000">
            <a:off x="12307246" y="5569475"/>
            <a:ext cx="425116" cy="603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AFFF8EA-FE9E-11CD-1FB5-40B9EBA8F32B}"/>
              </a:ext>
            </a:extLst>
          </p:cNvPr>
          <p:cNvSpPr/>
          <p:nvPr/>
        </p:nvSpPr>
        <p:spPr>
          <a:xfrm>
            <a:off x="8902335" y="4387000"/>
            <a:ext cx="1199321" cy="581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6C854B4-CB88-F841-DAD9-921B3A4042FB}"/>
              </a:ext>
            </a:extLst>
          </p:cNvPr>
          <p:cNvSpPr/>
          <p:nvPr/>
        </p:nvSpPr>
        <p:spPr>
          <a:xfrm>
            <a:off x="11012300" y="4398934"/>
            <a:ext cx="1199321" cy="581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Validate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B446872-F66D-451D-7239-147E7737B448}"/>
              </a:ext>
            </a:extLst>
          </p:cNvPr>
          <p:cNvSpPr/>
          <p:nvPr/>
        </p:nvSpPr>
        <p:spPr>
          <a:xfrm>
            <a:off x="13122265" y="4394629"/>
            <a:ext cx="1199321" cy="581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Tokenize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74A27F4-D87B-4DA5-43DC-3AB9A362B4EB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10101654" y="4677551"/>
            <a:ext cx="910644" cy="11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F5AE895F-2252-9660-C9AF-67B17BA851D6}"/>
              </a:ext>
            </a:extLst>
          </p:cNvPr>
          <p:cNvCxnSpPr>
            <a:cxnSpLocks/>
            <a:stCxn id="63" idx="2"/>
            <a:endCxn id="62" idx="2"/>
          </p:cNvCxnSpPr>
          <p:nvPr/>
        </p:nvCxnSpPr>
        <p:spPr>
          <a:xfrm rot="5400000" flipH="1">
            <a:off x="10551010" y="3919090"/>
            <a:ext cx="11934" cy="2109965"/>
          </a:xfrm>
          <a:prstGeom prst="bentConnector3">
            <a:avLst>
              <a:gd name="adj1" fmla="val -191553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17D5C9D-CBAA-3A1D-57A0-C9709A21FA7F}"/>
              </a:ext>
            </a:extLst>
          </p:cNvPr>
          <p:cNvCxnSpPr>
            <a:cxnSpLocks/>
            <a:stCxn id="63" idx="3"/>
            <a:endCxn id="64" idx="1"/>
          </p:cNvCxnSpPr>
          <p:nvPr/>
        </p:nvCxnSpPr>
        <p:spPr>
          <a:xfrm flipV="1">
            <a:off x="12211619" y="4685182"/>
            <a:ext cx="910644" cy="43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19F5E46-28B1-B025-3F9F-C78FC875B980}"/>
              </a:ext>
            </a:extLst>
          </p:cNvPr>
          <p:cNvSpPr/>
          <p:nvPr/>
        </p:nvSpPr>
        <p:spPr>
          <a:xfrm>
            <a:off x="14419216" y="9157126"/>
            <a:ext cx="1199321" cy="581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QA &amp; Processing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3821333-73B3-5B01-458C-8DFECB58CBB9}"/>
              </a:ext>
            </a:extLst>
          </p:cNvPr>
          <p:cNvSpPr/>
          <p:nvPr/>
        </p:nvSpPr>
        <p:spPr>
          <a:xfrm>
            <a:off x="16472852" y="9167660"/>
            <a:ext cx="1199321" cy="581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393A602-78F1-F911-865A-24458670698E}"/>
              </a:ext>
            </a:extLst>
          </p:cNvPr>
          <p:cNvCxnSpPr>
            <a:cxnSpLocks/>
            <a:stCxn id="74" idx="3"/>
            <a:endCxn id="75" idx="1"/>
          </p:cNvCxnSpPr>
          <p:nvPr/>
        </p:nvCxnSpPr>
        <p:spPr>
          <a:xfrm>
            <a:off x="15618537" y="9447677"/>
            <a:ext cx="854315" cy="105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DF9A3A0D-0FB9-809F-D27A-8205A1501552}"/>
              </a:ext>
            </a:extLst>
          </p:cNvPr>
          <p:cNvSpPr/>
          <p:nvPr/>
        </p:nvSpPr>
        <p:spPr>
          <a:xfrm>
            <a:off x="18501310" y="9157126"/>
            <a:ext cx="1199321" cy="581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Metrics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E45BFD6-6642-D3D7-A582-A30BCCD6D864}"/>
              </a:ext>
            </a:extLst>
          </p:cNvPr>
          <p:cNvCxnSpPr>
            <a:cxnSpLocks/>
            <a:stCxn id="75" idx="3"/>
            <a:endCxn id="80" idx="1"/>
          </p:cNvCxnSpPr>
          <p:nvPr/>
        </p:nvCxnSpPr>
        <p:spPr>
          <a:xfrm flipV="1">
            <a:off x="17672173" y="9447677"/>
            <a:ext cx="829137" cy="105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374D113-C9A3-AA40-4DC9-A819178D531B}"/>
              </a:ext>
            </a:extLst>
          </p:cNvPr>
          <p:cNvSpPr txBox="1"/>
          <p:nvPr/>
        </p:nvSpPr>
        <p:spPr>
          <a:xfrm>
            <a:off x="7450959" y="3102994"/>
            <a:ext cx="9666429" cy="603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 for literature review exclusion and inclusion</a:t>
            </a:r>
          </a:p>
        </p:txBody>
      </p:sp>
    </p:spTree>
    <p:extLst>
      <p:ext uri="{BB962C8B-B14F-4D97-AF65-F5344CB8AC3E}">
        <p14:creationId xmlns:p14="http://schemas.microsoft.com/office/powerpoint/2010/main" val="3680307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F48CEB-5FE2-7896-9A45-B057184F2B8C}"/>
              </a:ext>
            </a:extLst>
          </p:cNvPr>
          <p:cNvSpPr txBox="1"/>
          <p:nvPr/>
        </p:nvSpPr>
        <p:spPr>
          <a:xfrm>
            <a:off x="7332664" y="3113882"/>
            <a:ext cx="9666429" cy="603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 for literature review exclusion and inclusion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C12E5E-5A30-BAB1-5B59-D26CEE40E78A}"/>
              </a:ext>
            </a:extLst>
          </p:cNvPr>
          <p:cNvSpPr/>
          <p:nvPr/>
        </p:nvSpPr>
        <p:spPr>
          <a:xfrm>
            <a:off x="9514682" y="4848225"/>
            <a:ext cx="2124074" cy="519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after query 1 : 100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AC9A57-1DF3-F4DC-B643-E45C622A725A}"/>
              </a:ext>
            </a:extLst>
          </p:cNvPr>
          <p:cNvSpPr/>
          <p:nvPr/>
        </p:nvSpPr>
        <p:spPr>
          <a:xfrm>
            <a:off x="9514681" y="5915025"/>
            <a:ext cx="2124074" cy="6381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subset articles after deduplication : 85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C91561-B466-FC8C-C19D-530D7720B75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0576719" y="5367336"/>
            <a:ext cx="1" cy="547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5814AA0-FE8A-137F-D117-A6FAD04F619C}"/>
              </a:ext>
            </a:extLst>
          </p:cNvPr>
          <p:cNvSpPr/>
          <p:nvPr/>
        </p:nvSpPr>
        <p:spPr>
          <a:xfrm>
            <a:off x="12397933" y="5240853"/>
            <a:ext cx="2119605" cy="638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duplicates identified : 15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CB9634-DACA-ABEE-AD22-202BE9D8F4B7}"/>
              </a:ext>
            </a:extLst>
          </p:cNvPr>
          <p:cNvSpPr/>
          <p:nvPr/>
        </p:nvSpPr>
        <p:spPr>
          <a:xfrm>
            <a:off x="9514680" y="7138977"/>
            <a:ext cx="2124074" cy="6381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subset articles after exclusion : 55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4E8744-1B25-5B5A-230A-3E1A94A8F5AC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 flipH="1">
            <a:off x="10576718" y="6553188"/>
            <a:ext cx="1" cy="5857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6328C24-DA56-B94D-D79F-92FF016EF0DC}"/>
              </a:ext>
            </a:extLst>
          </p:cNvPr>
          <p:cNvSpPr/>
          <p:nvPr/>
        </p:nvSpPr>
        <p:spPr>
          <a:xfrm>
            <a:off x="12397933" y="6517475"/>
            <a:ext cx="2119605" cy="638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exclusion based on title and abstract : 30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B89EAB2-AFA2-3CE9-0943-85E15376B761}"/>
              </a:ext>
            </a:extLst>
          </p:cNvPr>
          <p:cNvCxnSpPr>
            <a:cxnSpLocks/>
            <a:stCxn id="5" idx="2"/>
            <a:endCxn id="15" idx="1"/>
          </p:cNvCxnSpPr>
          <p:nvPr/>
        </p:nvCxnSpPr>
        <p:spPr>
          <a:xfrm rot="16200000" flipH="1">
            <a:off x="11391027" y="4553028"/>
            <a:ext cx="192599" cy="182121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C4DBD732-99F0-D3E5-1665-030976F0DEED}"/>
              </a:ext>
            </a:extLst>
          </p:cNvPr>
          <p:cNvCxnSpPr>
            <a:cxnSpLocks/>
            <a:stCxn id="6" idx="2"/>
            <a:endCxn id="41" idx="1"/>
          </p:cNvCxnSpPr>
          <p:nvPr/>
        </p:nvCxnSpPr>
        <p:spPr>
          <a:xfrm rot="16200000" flipH="1">
            <a:off x="11345642" y="5784264"/>
            <a:ext cx="283369" cy="182121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505A0A5-F4D6-D59F-A8EC-BA48A74CD620}"/>
              </a:ext>
            </a:extLst>
          </p:cNvPr>
          <p:cNvCxnSpPr>
            <a:cxnSpLocks/>
            <a:stCxn id="18" idx="2"/>
            <a:endCxn id="58" idx="1"/>
          </p:cNvCxnSpPr>
          <p:nvPr/>
        </p:nvCxnSpPr>
        <p:spPr>
          <a:xfrm rot="16200000" flipH="1">
            <a:off x="11334798" y="7019040"/>
            <a:ext cx="305052" cy="182121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3E9A83A0-2116-0DD0-2D10-2AECA6B1D954}"/>
              </a:ext>
            </a:extLst>
          </p:cNvPr>
          <p:cNvSpPr/>
          <p:nvPr/>
        </p:nvSpPr>
        <p:spPr>
          <a:xfrm>
            <a:off x="12397933" y="7763092"/>
            <a:ext cx="2119605" cy="638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exclusion based  full text : 20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0312CC8-DF82-7E67-D2CD-4D5D2B8AADAA}"/>
              </a:ext>
            </a:extLst>
          </p:cNvPr>
          <p:cNvSpPr/>
          <p:nvPr/>
        </p:nvSpPr>
        <p:spPr>
          <a:xfrm>
            <a:off x="9514680" y="8577553"/>
            <a:ext cx="2124074" cy="6381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subset articles after exclusion : 35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F68DFDE-2574-15C2-C1D0-AC8E5E30D971}"/>
              </a:ext>
            </a:extLst>
          </p:cNvPr>
          <p:cNvCxnSpPr>
            <a:cxnSpLocks/>
            <a:stCxn id="18" idx="2"/>
            <a:endCxn id="61" idx="0"/>
          </p:cNvCxnSpPr>
          <p:nvPr/>
        </p:nvCxnSpPr>
        <p:spPr>
          <a:xfrm>
            <a:off x="10576717" y="7777122"/>
            <a:ext cx="0" cy="8004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36F09C9E-3322-CD0A-E7EF-A5989FE5E55F}"/>
              </a:ext>
            </a:extLst>
          </p:cNvPr>
          <p:cNvSpPr/>
          <p:nvPr/>
        </p:nvSpPr>
        <p:spPr>
          <a:xfrm>
            <a:off x="17003268" y="7760658"/>
            <a:ext cx="2119605" cy="638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specific to topic of interest, uses custom models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2B28496-9E94-AEB4-E1F2-E291710C8D04}"/>
              </a:ext>
            </a:extLst>
          </p:cNvPr>
          <p:cNvCxnSpPr>
            <a:cxnSpLocks/>
            <a:stCxn id="58" idx="3"/>
            <a:endCxn id="65" idx="1"/>
          </p:cNvCxnSpPr>
          <p:nvPr/>
        </p:nvCxnSpPr>
        <p:spPr>
          <a:xfrm flipV="1">
            <a:off x="14517537" y="8079739"/>
            <a:ext cx="2485730" cy="2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DA11D4A-0AB9-58CE-B5E5-04691590E840}"/>
              </a:ext>
            </a:extLst>
          </p:cNvPr>
          <p:cNvSpPr txBox="1"/>
          <p:nvPr/>
        </p:nvSpPr>
        <p:spPr>
          <a:xfrm>
            <a:off x="14517538" y="7760659"/>
            <a:ext cx="1981633" cy="603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D8B472DA-F91A-DDC7-4935-3730341B972C}"/>
              </a:ext>
            </a:extLst>
          </p:cNvPr>
          <p:cNvCxnSpPr>
            <a:cxnSpLocks/>
            <a:stCxn id="58" idx="3"/>
            <a:endCxn id="75" idx="1"/>
          </p:cNvCxnSpPr>
          <p:nvPr/>
        </p:nvCxnSpPr>
        <p:spPr>
          <a:xfrm flipV="1">
            <a:off x="14517537" y="6889005"/>
            <a:ext cx="2485730" cy="119316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0B2EF11-2896-FE9C-9EBD-5BF8D0B300D8}"/>
              </a:ext>
            </a:extLst>
          </p:cNvPr>
          <p:cNvSpPr/>
          <p:nvPr/>
        </p:nvSpPr>
        <p:spPr>
          <a:xfrm>
            <a:off x="17003268" y="6569924"/>
            <a:ext cx="2119605" cy="638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related to epilepsy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97221E7-1D07-B49E-D87C-EF93ACC77B51}"/>
              </a:ext>
            </a:extLst>
          </p:cNvPr>
          <p:cNvSpPr/>
          <p:nvPr/>
        </p:nvSpPr>
        <p:spPr>
          <a:xfrm>
            <a:off x="17003268" y="8773082"/>
            <a:ext cx="2119605" cy="638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LLM fine tuning and extensions</a:t>
            </a: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1BD3582C-C110-83DB-B453-F1FC10D2E6F7}"/>
              </a:ext>
            </a:extLst>
          </p:cNvPr>
          <p:cNvCxnSpPr>
            <a:cxnSpLocks/>
            <a:stCxn id="58" idx="3"/>
            <a:endCxn id="80" idx="1"/>
          </p:cNvCxnSpPr>
          <p:nvPr/>
        </p:nvCxnSpPr>
        <p:spPr>
          <a:xfrm>
            <a:off x="14517537" y="8082173"/>
            <a:ext cx="2485730" cy="100999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5DC56DC-CC20-3540-F5BD-9B18D5E7171D}"/>
              </a:ext>
            </a:extLst>
          </p:cNvPr>
          <p:cNvSpPr txBox="1"/>
          <p:nvPr/>
        </p:nvSpPr>
        <p:spPr>
          <a:xfrm>
            <a:off x="7714456" y="3490505"/>
            <a:ext cx="12973050" cy="880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uery 1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 language models) AND epilepsy AND prescriptions AND seizure frequency OR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UMLSOR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snowmed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94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F850C7-1B40-DE43-0F02-37B08622B50C}"/>
              </a:ext>
            </a:extLst>
          </p:cNvPr>
          <p:cNvSpPr txBox="1"/>
          <p:nvPr/>
        </p:nvSpPr>
        <p:spPr>
          <a:xfrm>
            <a:off x="0" y="0"/>
            <a:ext cx="6830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 for literature review exclusion and inclusion as per topics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8885B9-D669-8FA3-903E-DCF83CB65FF5}"/>
              </a:ext>
            </a:extLst>
          </p:cNvPr>
          <p:cNvSpPr/>
          <p:nvPr/>
        </p:nvSpPr>
        <p:spPr>
          <a:xfrm>
            <a:off x="95483" y="6216933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Terms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06A5C36-075D-75BC-0650-DD400BA8D69D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1428115" y="3034752"/>
            <a:ext cx="625388" cy="34174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2255E66-7D4E-ACFB-9BEE-E9874751E0C7}"/>
              </a:ext>
            </a:extLst>
          </p:cNvPr>
          <p:cNvSpPr/>
          <p:nvPr/>
        </p:nvSpPr>
        <p:spPr>
          <a:xfrm>
            <a:off x="2053503" y="2799441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Epilepsy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7E50-FC8E-A796-D8CA-D9D40482464D}"/>
              </a:ext>
            </a:extLst>
          </p:cNvPr>
          <p:cNvSpPr/>
          <p:nvPr/>
        </p:nvSpPr>
        <p:spPr>
          <a:xfrm>
            <a:off x="2062454" y="8408987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0872185-F5D7-EC83-5815-424F5D4ABC50}"/>
              </a:ext>
            </a:extLst>
          </p:cNvPr>
          <p:cNvCxnSpPr>
            <a:cxnSpLocks/>
            <a:stCxn id="3" idx="3"/>
            <a:endCxn id="16" idx="1"/>
          </p:cNvCxnSpPr>
          <p:nvPr/>
        </p:nvCxnSpPr>
        <p:spPr>
          <a:xfrm>
            <a:off x="1428115" y="6452244"/>
            <a:ext cx="634339" cy="219205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539E2E9-72FD-EEDA-13A9-BE735603ED1D}"/>
              </a:ext>
            </a:extLst>
          </p:cNvPr>
          <p:cNvCxnSpPr>
            <a:cxnSpLocks/>
            <a:stCxn id="12" idx="3"/>
            <a:endCxn id="41" idx="1"/>
          </p:cNvCxnSpPr>
          <p:nvPr/>
        </p:nvCxnSpPr>
        <p:spPr>
          <a:xfrm flipV="1">
            <a:off x="3386135" y="2289259"/>
            <a:ext cx="540258" cy="7454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B1C2D4E-C52C-4B5F-5B17-5A8F5FEFAEE5}"/>
              </a:ext>
            </a:extLst>
          </p:cNvPr>
          <p:cNvSpPr/>
          <p:nvPr/>
        </p:nvSpPr>
        <p:spPr>
          <a:xfrm>
            <a:off x="3926393" y="2053948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2C3F1D0-F5B0-90BA-B8C8-3329B4B8F61B}"/>
              </a:ext>
            </a:extLst>
          </p:cNvPr>
          <p:cNvCxnSpPr>
            <a:cxnSpLocks/>
            <a:stCxn id="12" idx="3"/>
            <a:endCxn id="47" idx="1"/>
          </p:cNvCxnSpPr>
          <p:nvPr/>
        </p:nvCxnSpPr>
        <p:spPr>
          <a:xfrm>
            <a:off x="3386135" y="3034752"/>
            <a:ext cx="540258" cy="9972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505978DD-3280-CE48-1848-1E80485C4997}"/>
              </a:ext>
            </a:extLst>
          </p:cNvPr>
          <p:cNvSpPr/>
          <p:nvPr/>
        </p:nvSpPr>
        <p:spPr>
          <a:xfrm>
            <a:off x="3926393" y="3796721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042AF1B-4125-FBDB-419E-C4BAABF71DDC}"/>
              </a:ext>
            </a:extLst>
          </p:cNvPr>
          <p:cNvCxnSpPr>
            <a:cxnSpLocks/>
            <a:stCxn id="16" idx="3"/>
            <a:endCxn id="52" idx="1"/>
          </p:cNvCxnSpPr>
          <p:nvPr/>
        </p:nvCxnSpPr>
        <p:spPr>
          <a:xfrm flipV="1">
            <a:off x="3395086" y="5840121"/>
            <a:ext cx="609958" cy="28041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5BA109C-EC18-8134-85CB-0358DED5A69F}"/>
              </a:ext>
            </a:extLst>
          </p:cNvPr>
          <p:cNvSpPr/>
          <p:nvPr/>
        </p:nvSpPr>
        <p:spPr>
          <a:xfrm>
            <a:off x="4005044" y="5604810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AB0865DA-4D73-1550-D36E-8904A93517E4}"/>
              </a:ext>
            </a:extLst>
          </p:cNvPr>
          <p:cNvCxnSpPr>
            <a:cxnSpLocks/>
            <a:stCxn id="16" idx="3"/>
            <a:endCxn id="68" idx="1"/>
          </p:cNvCxnSpPr>
          <p:nvPr/>
        </p:nvCxnSpPr>
        <p:spPr>
          <a:xfrm>
            <a:off x="3395086" y="8644298"/>
            <a:ext cx="609958" cy="81207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263452A-FE4B-80DC-1C99-096D296B273C}"/>
              </a:ext>
            </a:extLst>
          </p:cNvPr>
          <p:cNvSpPr/>
          <p:nvPr/>
        </p:nvSpPr>
        <p:spPr>
          <a:xfrm>
            <a:off x="4005044" y="9221066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+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C1DFABF-FBE4-C528-8EDF-9254685A8BA8}"/>
              </a:ext>
            </a:extLst>
          </p:cNvPr>
          <p:cNvSpPr/>
          <p:nvPr/>
        </p:nvSpPr>
        <p:spPr>
          <a:xfrm>
            <a:off x="14967049" y="13716971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16D8C187-E804-076B-E87E-DE993E6BC3B2}"/>
              </a:ext>
            </a:extLst>
          </p:cNvPr>
          <p:cNvCxnSpPr>
            <a:cxnSpLocks/>
            <a:stCxn id="16" idx="3"/>
            <a:endCxn id="74" idx="1"/>
          </p:cNvCxnSpPr>
          <p:nvPr/>
        </p:nvCxnSpPr>
        <p:spPr>
          <a:xfrm>
            <a:off x="3395086" y="8644298"/>
            <a:ext cx="11571963" cy="5307984"/>
          </a:xfrm>
          <a:prstGeom prst="bentConnector3">
            <a:avLst>
              <a:gd name="adj1" fmla="val 269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9998C0A-D1F5-5279-FB3B-BE80DD166226}"/>
              </a:ext>
            </a:extLst>
          </p:cNvPr>
          <p:cNvCxnSpPr>
            <a:cxnSpLocks/>
            <a:stCxn id="41" idx="3"/>
            <a:endCxn id="89" idx="1"/>
          </p:cNvCxnSpPr>
          <p:nvPr/>
        </p:nvCxnSpPr>
        <p:spPr>
          <a:xfrm>
            <a:off x="5259025" y="2289259"/>
            <a:ext cx="9046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7458BB75-A7A7-E956-DBA0-9E4614F7F7A6}"/>
              </a:ext>
            </a:extLst>
          </p:cNvPr>
          <p:cNvSpPr/>
          <p:nvPr/>
        </p:nvSpPr>
        <p:spPr>
          <a:xfrm>
            <a:off x="6163692" y="2053948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0F8EF20-BE63-B384-A596-99F4FE526D9B}"/>
              </a:ext>
            </a:extLst>
          </p:cNvPr>
          <p:cNvCxnSpPr>
            <a:cxnSpLocks/>
            <a:stCxn id="89" idx="3"/>
            <a:endCxn id="94" idx="1"/>
          </p:cNvCxnSpPr>
          <p:nvPr/>
        </p:nvCxnSpPr>
        <p:spPr>
          <a:xfrm>
            <a:off x="7496324" y="2289259"/>
            <a:ext cx="7996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C8FC4B51-334C-5FB0-B74B-78BE4FE7BB45}"/>
              </a:ext>
            </a:extLst>
          </p:cNvPr>
          <p:cNvSpPr/>
          <p:nvPr/>
        </p:nvSpPr>
        <p:spPr>
          <a:xfrm>
            <a:off x="8295989" y="2053948"/>
            <a:ext cx="2076735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filtered as per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: 5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9FB34C0-B399-B46B-55A5-8512A2C637FA}"/>
              </a:ext>
            </a:extLst>
          </p:cNvPr>
          <p:cNvCxnSpPr>
            <a:cxnSpLocks/>
            <a:stCxn id="47" idx="3"/>
            <a:endCxn id="99" idx="1"/>
          </p:cNvCxnSpPr>
          <p:nvPr/>
        </p:nvCxnSpPr>
        <p:spPr>
          <a:xfrm flipV="1">
            <a:off x="5259025" y="4029159"/>
            <a:ext cx="933825" cy="2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8C3E226A-9F0E-867C-BBB0-7E87EDD39C1E}"/>
              </a:ext>
            </a:extLst>
          </p:cNvPr>
          <p:cNvSpPr/>
          <p:nvPr/>
        </p:nvSpPr>
        <p:spPr>
          <a:xfrm>
            <a:off x="6192850" y="3793848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7A183AE-708C-5A5C-4FF4-1CF6C53806C6}"/>
              </a:ext>
            </a:extLst>
          </p:cNvPr>
          <p:cNvCxnSpPr>
            <a:cxnSpLocks/>
            <a:stCxn id="99" idx="3"/>
            <a:endCxn id="101" idx="1"/>
          </p:cNvCxnSpPr>
          <p:nvPr/>
        </p:nvCxnSpPr>
        <p:spPr>
          <a:xfrm>
            <a:off x="7525482" y="4029159"/>
            <a:ext cx="7996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987A731-2FD7-714B-E019-A0184C59ECE9}"/>
              </a:ext>
            </a:extLst>
          </p:cNvPr>
          <p:cNvSpPr/>
          <p:nvPr/>
        </p:nvSpPr>
        <p:spPr>
          <a:xfrm>
            <a:off x="8325147" y="3793848"/>
            <a:ext cx="2076735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filtered as per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date : 2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7F95C11-8FF0-9FBA-BE2C-AEC38A206C10}"/>
              </a:ext>
            </a:extLst>
          </p:cNvPr>
          <p:cNvCxnSpPr>
            <a:cxnSpLocks/>
            <a:stCxn id="52" idx="3"/>
            <a:endCxn id="111" idx="1"/>
          </p:cNvCxnSpPr>
          <p:nvPr/>
        </p:nvCxnSpPr>
        <p:spPr>
          <a:xfrm flipV="1">
            <a:off x="5337676" y="5837247"/>
            <a:ext cx="781557" cy="2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9F42229-2507-56A0-DE1D-E47681CC1205}"/>
              </a:ext>
            </a:extLst>
          </p:cNvPr>
          <p:cNvSpPr/>
          <p:nvPr/>
        </p:nvSpPr>
        <p:spPr>
          <a:xfrm>
            <a:off x="6119233" y="5601936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C2DD7382-97CB-72EF-6797-DD145973AE13}"/>
              </a:ext>
            </a:extLst>
          </p:cNvPr>
          <p:cNvCxnSpPr>
            <a:cxnSpLocks/>
            <a:stCxn id="111" idx="3"/>
          </p:cNvCxnSpPr>
          <p:nvPr/>
        </p:nvCxnSpPr>
        <p:spPr>
          <a:xfrm flipV="1">
            <a:off x="7451865" y="5834373"/>
            <a:ext cx="781557" cy="28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130D943-87AD-BD27-DC07-5F5F6451454B}"/>
              </a:ext>
            </a:extLst>
          </p:cNvPr>
          <p:cNvSpPr/>
          <p:nvPr/>
        </p:nvSpPr>
        <p:spPr>
          <a:xfrm>
            <a:off x="8233422" y="5599062"/>
            <a:ext cx="1634478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3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9DC88AE-89FB-B56F-86C8-7059B489D228}"/>
              </a:ext>
            </a:extLst>
          </p:cNvPr>
          <p:cNvSpPr/>
          <p:nvPr/>
        </p:nvSpPr>
        <p:spPr>
          <a:xfrm>
            <a:off x="8633003" y="7482975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7552223-91F4-EF7B-461C-3F73B1DE7A04}"/>
              </a:ext>
            </a:extLst>
          </p:cNvPr>
          <p:cNvCxnSpPr>
            <a:cxnSpLocks/>
            <a:stCxn id="125" idx="3"/>
            <a:endCxn id="129" idx="1"/>
          </p:cNvCxnSpPr>
          <p:nvPr/>
        </p:nvCxnSpPr>
        <p:spPr>
          <a:xfrm flipV="1">
            <a:off x="9965635" y="7708760"/>
            <a:ext cx="779802" cy="95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01162CC-D12A-4A49-80BF-1519CAF1AC21}"/>
              </a:ext>
            </a:extLst>
          </p:cNvPr>
          <p:cNvSpPr/>
          <p:nvPr/>
        </p:nvSpPr>
        <p:spPr>
          <a:xfrm>
            <a:off x="10745437" y="7473449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8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E4734C2-E11F-0883-9A48-00615CDE2A3B}"/>
              </a:ext>
            </a:extLst>
          </p:cNvPr>
          <p:cNvSpPr txBox="1"/>
          <p:nvPr/>
        </p:nvSpPr>
        <p:spPr>
          <a:xfrm>
            <a:off x="6166858" y="742195"/>
            <a:ext cx="1319941" cy="127727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epilepsy,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of epilepsy,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in epilepsy,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epilepsy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94AE767-2726-EF09-6711-7CF2B4AC02B2}"/>
              </a:ext>
            </a:extLst>
          </p:cNvPr>
          <p:cNvSpPr txBox="1"/>
          <p:nvPr/>
        </p:nvSpPr>
        <p:spPr>
          <a:xfrm>
            <a:off x="6192850" y="3161729"/>
            <a:ext cx="1332632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 Epilepsy statistics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75063B7-693B-732C-592B-B30659A05EC5}"/>
              </a:ext>
            </a:extLst>
          </p:cNvPr>
          <p:cNvSpPr txBox="1"/>
          <p:nvPr/>
        </p:nvSpPr>
        <p:spPr>
          <a:xfrm>
            <a:off x="25957764" y="369333"/>
            <a:ext cx="2233094" cy="1107996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tool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                 -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                  -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PubMed              - 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    -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10CD35D-C03B-2FCD-C8C0-37D194B29825}"/>
              </a:ext>
            </a:extLst>
          </p:cNvPr>
          <p:cNvSpPr/>
          <p:nvPr/>
        </p:nvSpPr>
        <p:spPr>
          <a:xfrm>
            <a:off x="27481648" y="573266"/>
            <a:ext cx="418953" cy="133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D1F3707-2962-FE79-5999-1273F9FA7EA6}"/>
              </a:ext>
            </a:extLst>
          </p:cNvPr>
          <p:cNvSpPr/>
          <p:nvPr/>
        </p:nvSpPr>
        <p:spPr>
          <a:xfrm>
            <a:off x="27481649" y="752465"/>
            <a:ext cx="418953" cy="1333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F589F95-1AA2-0E64-3142-97B7C3890248}"/>
              </a:ext>
            </a:extLst>
          </p:cNvPr>
          <p:cNvSpPr/>
          <p:nvPr/>
        </p:nvSpPr>
        <p:spPr>
          <a:xfrm>
            <a:off x="27481650" y="925210"/>
            <a:ext cx="418953" cy="13335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EEBE131-EE38-623E-5D77-94890478C161}"/>
              </a:ext>
            </a:extLst>
          </p:cNvPr>
          <p:cNvSpPr/>
          <p:nvPr/>
        </p:nvSpPr>
        <p:spPr>
          <a:xfrm>
            <a:off x="27481651" y="1085967"/>
            <a:ext cx="418953" cy="133350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A1C24BA-7B18-73B8-C2AB-C5C678AC3E54}"/>
              </a:ext>
            </a:extLst>
          </p:cNvPr>
          <p:cNvSpPr/>
          <p:nvPr/>
        </p:nvSpPr>
        <p:spPr>
          <a:xfrm>
            <a:off x="6176383" y="2568472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D7FE018-5B71-3785-0F5F-29D1E2EF057C}"/>
              </a:ext>
            </a:extLst>
          </p:cNvPr>
          <p:cNvSpPr/>
          <p:nvPr/>
        </p:nvSpPr>
        <p:spPr>
          <a:xfrm>
            <a:off x="6416095" y="2568472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5387C5F-2B02-3F5C-057E-9B1479059435}"/>
              </a:ext>
            </a:extLst>
          </p:cNvPr>
          <p:cNvSpPr/>
          <p:nvPr/>
        </p:nvSpPr>
        <p:spPr>
          <a:xfrm>
            <a:off x="6651839" y="256847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CC93546-B254-0734-A0B4-6B90D1A80283}"/>
              </a:ext>
            </a:extLst>
          </p:cNvPr>
          <p:cNvSpPr/>
          <p:nvPr/>
        </p:nvSpPr>
        <p:spPr>
          <a:xfrm>
            <a:off x="6887583" y="256847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4A4452F-612A-D761-9AEE-FB320B242688}"/>
              </a:ext>
            </a:extLst>
          </p:cNvPr>
          <p:cNvSpPr/>
          <p:nvPr/>
        </p:nvSpPr>
        <p:spPr>
          <a:xfrm>
            <a:off x="8293107" y="256847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C8B8971-9D6D-56F4-FFF6-781A00ED7237}"/>
              </a:ext>
            </a:extLst>
          </p:cNvPr>
          <p:cNvSpPr/>
          <p:nvPr/>
        </p:nvSpPr>
        <p:spPr>
          <a:xfrm>
            <a:off x="8528851" y="256847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45556B9-D4EE-9E99-E815-9B19C701E1EB}"/>
              </a:ext>
            </a:extLst>
          </p:cNvPr>
          <p:cNvSpPr/>
          <p:nvPr/>
        </p:nvSpPr>
        <p:spPr>
          <a:xfrm>
            <a:off x="6192850" y="4308371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422AE3F-9D44-69DE-7A01-A6C24B36F574}"/>
              </a:ext>
            </a:extLst>
          </p:cNvPr>
          <p:cNvSpPr/>
          <p:nvPr/>
        </p:nvSpPr>
        <p:spPr>
          <a:xfrm>
            <a:off x="6432562" y="4308371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AFF864E-4B09-DF72-E6D4-86D223447CB6}"/>
              </a:ext>
            </a:extLst>
          </p:cNvPr>
          <p:cNvSpPr/>
          <p:nvPr/>
        </p:nvSpPr>
        <p:spPr>
          <a:xfrm>
            <a:off x="6668306" y="4308371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244F508-14A4-7200-FC88-73D6EB419861}"/>
              </a:ext>
            </a:extLst>
          </p:cNvPr>
          <p:cNvSpPr/>
          <p:nvPr/>
        </p:nvSpPr>
        <p:spPr>
          <a:xfrm>
            <a:off x="6904050" y="4308371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72165AB-234B-97E5-31F3-E7A75E65F677}"/>
              </a:ext>
            </a:extLst>
          </p:cNvPr>
          <p:cNvSpPr txBox="1"/>
          <p:nvPr/>
        </p:nvSpPr>
        <p:spPr>
          <a:xfrm>
            <a:off x="23525714" y="369333"/>
            <a:ext cx="2233094" cy="1107996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Type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 -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          - 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EAB24D5-DB1B-40CC-F9F2-F7DC88EFFB21}"/>
              </a:ext>
            </a:extLst>
          </p:cNvPr>
          <p:cNvSpPr/>
          <p:nvPr/>
        </p:nvSpPr>
        <p:spPr>
          <a:xfrm>
            <a:off x="24415750" y="605915"/>
            <a:ext cx="139700" cy="1433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383CC99-641E-C390-8AA1-4F34A2321AA3}"/>
              </a:ext>
            </a:extLst>
          </p:cNvPr>
          <p:cNvSpPr/>
          <p:nvPr/>
        </p:nvSpPr>
        <p:spPr>
          <a:xfrm>
            <a:off x="24415750" y="801422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CCBFC5DE-3DDD-CF26-03A8-E1D3E7F3E0DC}"/>
              </a:ext>
            </a:extLst>
          </p:cNvPr>
          <p:cNvSpPr/>
          <p:nvPr/>
        </p:nvSpPr>
        <p:spPr>
          <a:xfrm>
            <a:off x="6161912" y="558148"/>
            <a:ext cx="139700" cy="1433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C92EC59A-3855-81B6-011B-EE00D4F05CCB}"/>
              </a:ext>
            </a:extLst>
          </p:cNvPr>
          <p:cNvSpPr/>
          <p:nvPr/>
        </p:nvSpPr>
        <p:spPr>
          <a:xfrm>
            <a:off x="6182742" y="2963060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CF3EE2A-F5CD-51A8-E9D1-A9D0501E92F3}"/>
              </a:ext>
            </a:extLst>
          </p:cNvPr>
          <p:cNvSpPr txBox="1"/>
          <p:nvPr/>
        </p:nvSpPr>
        <p:spPr>
          <a:xfrm>
            <a:off x="6119233" y="4957730"/>
            <a:ext cx="1330878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natural language processing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EC151AD-9F2D-8BDE-6B22-DB187577E600}"/>
              </a:ext>
            </a:extLst>
          </p:cNvPr>
          <p:cNvSpPr/>
          <p:nvPr/>
        </p:nvSpPr>
        <p:spPr>
          <a:xfrm>
            <a:off x="6121453" y="6108082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D5E1B94-BB1B-D24F-72CF-0A61737B6853}"/>
              </a:ext>
            </a:extLst>
          </p:cNvPr>
          <p:cNvSpPr/>
          <p:nvPr/>
        </p:nvSpPr>
        <p:spPr>
          <a:xfrm>
            <a:off x="6361165" y="6108082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7D9E3F6-BD56-C700-1E69-C8140C985DE4}"/>
              </a:ext>
            </a:extLst>
          </p:cNvPr>
          <p:cNvSpPr/>
          <p:nvPr/>
        </p:nvSpPr>
        <p:spPr>
          <a:xfrm>
            <a:off x="6596909" y="610808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3160339-2087-8C71-A9E9-100EB40EE2E0}"/>
              </a:ext>
            </a:extLst>
          </p:cNvPr>
          <p:cNvSpPr/>
          <p:nvPr/>
        </p:nvSpPr>
        <p:spPr>
          <a:xfrm>
            <a:off x="6832653" y="610808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121AF4D-35ED-D8B4-F079-6D6A1B4A8613}"/>
              </a:ext>
            </a:extLst>
          </p:cNvPr>
          <p:cNvSpPr/>
          <p:nvPr/>
        </p:nvSpPr>
        <p:spPr>
          <a:xfrm>
            <a:off x="8331830" y="433793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62C612F-769C-EC7F-9397-E2A9D975C915}"/>
              </a:ext>
            </a:extLst>
          </p:cNvPr>
          <p:cNvSpPr/>
          <p:nvPr/>
        </p:nvSpPr>
        <p:spPr>
          <a:xfrm>
            <a:off x="8567574" y="433793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F463D3D7-7F38-AA15-CCDB-C982093E86C8}"/>
              </a:ext>
            </a:extLst>
          </p:cNvPr>
          <p:cNvSpPr/>
          <p:nvPr/>
        </p:nvSpPr>
        <p:spPr>
          <a:xfrm>
            <a:off x="6163692" y="4737412"/>
            <a:ext cx="139700" cy="1433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8B5C0EAA-6A10-9663-5C88-12166B59FF42}"/>
              </a:ext>
            </a:extLst>
          </p:cNvPr>
          <p:cNvSpPr/>
          <p:nvPr/>
        </p:nvSpPr>
        <p:spPr>
          <a:xfrm>
            <a:off x="6346245" y="4731240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7AD1F67-7E70-83AE-33EC-B7E7575E4731}"/>
              </a:ext>
            </a:extLst>
          </p:cNvPr>
          <p:cNvSpPr/>
          <p:nvPr/>
        </p:nvSpPr>
        <p:spPr>
          <a:xfrm>
            <a:off x="8249359" y="6126486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6B9F52C-CE1C-9FAD-678C-A651AE98185D}"/>
              </a:ext>
            </a:extLst>
          </p:cNvPr>
          <p:cNvSpPr/>
          <p:nvPr/>
        </p:nvSpPr>
        <p:spPr>
          <a:xfrm>
            <a:off x="6459675" y="7490082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19E23FC-56A6-9A8B-A053-6C5D9B575EBC}"/>
              </a:ext>
            </a:extLst>
          </p:cNvPr>
          <p:cNvSpPr/>
          <p:nvPr/>
        </p:nvSpPr>
        <p:spPr>
          <a:xfrm>
            <a:off x="6418288" y="9422849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+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Epilepsy 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939DFF9-7EF2-7C0D-F66D-5FDEFB752426}"/>
              </a:ext>
            </a:extLst>
          </p:cNvPr>
          <p:cNvSpPr/>
          <p:nvPr/>
        </p:nvSpPr>
        <p:spPr>
          <a:xfrm>
            <a:off x="6434755" y="12089121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Notes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4ABECAC-26E1-C1E6-3E04-43DBFB1E5CF2}"/>
              </a:ext>
            </a:extLst>
          </p:cNvPr>
          <p:cNvSpPr/>
          <p:nvPr/>
        </p:nvSpPr>
        <p:spPr>
          <a:xfrm>
            <a:off x="8599848" y="13212695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clinical Notes</a:t>
            </a:r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1207CCA6-F3F3-9150-E1E5-A47D2D2F8F36}"/>
              </a:ext>
            </a:extLst>
          </p:cNvPr>
          <p:cNvCxnSpPr>
            <a:cxnSpLocks/>
            <a:stCxn id="68" idx="3"/>
            <a:endCxn id="169" idx="1"/>
          </p:cNvCxnSpPr>
          <p:nvPr/>
        </p:nvCxnSpPr>
        <p:spPr>
          <a:xfrm flipV="1">
            <a:off x="5337676" y="7725393"/>
            <a:ext cx="1121999" cy="1730984"/>
          </a:xfrm>
          <a:prstGeom prst="bentConnector3">
            <a:avLst>
              <a:gd name="adj1" fmla="val 483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FA4514A7-0FFF-D43A-64C1-88E70A749E79}"/>
              </a:ext>
            </a:extLst>
          </p:cNvPr>
          <p:cNvCxnSpPr>
            <a:cxnSpLocks/>
            <a:stCxn id="68" idx="3"/>
            <a:endCxn id="171" idx="1"/>
          </p:cNvCxnSpPr>
          <p:nvPr/>
        </p:nvCxnSpPr>
        <p:spPr>
          <a:xfrm>
            <a:off x="5337676" y="9456377"/>
            <a:ext cx="1097079" cy="286805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3A7D1D9F-5D8F-DEF2-7070-57FF0A1F7F6C}"/>
              </a:ext>
            </a:extLst>
          </p:cNvPr>
          <p:cNvCxnSpPr>
            <a:cxnSpLocks/>
            <a:stCxn id="171" idx="2"/>
            <a:endCxn id="175" idx="1"/>
          </p:cNvCxnSpPr>
          <p:nvPr/>
        </p:nvCxnSpPr>
        <p:spPr>
          <a:xfrm rot="16200000" flipH="1">
            <a:off x="7406327" y="12254485"/>
            <a:ext cx="888264" cy="149877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0AC7A530-1B0C-699A-385A-9189EED1C11A}"/>
              </a:ext>
            </a:extLst>
          </p:cNvPr>
          <p:cNvCxnSpPr>
            <a:cxnSpLocks/>
            <a:stCxn id="169" idx="3"/>
            <a:endCxn id="125" idx="1"/>
          </p:cNvCxnSpPr>
          <p:nvPr/>
        </p:nvCxnSpPr>
        <p:spPr>
          <a:xfrm flipV="1">
            <a:off x="7792307" y="7718286"/>
            <a:ext cx="840696" cy="71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A5FEB7D-78A8-2634-5D5C-BFA40249AE9F}"/>
              </a:ext>
            </a:extLst>
          </p:cNvPr>
          <p:cNvSpPr txBox="1"/>
          <p:nvPr/>
        </p:nvSpPr>
        <p:spPr>
          <a:xfrm>
            <a:off x="8633003" y="6624235"/>
            <a:ext cx="1330878" cy="769441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in healthcare,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NLP in healthcare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D0B71EB-0647-08D1-B5AA-85928A1B6EB2}"/>
              </a:ext>
            </a:extLst>
          </p:cNvPr>
          <p:cNvSpPr/>
          <p:nvPr/>
        </p:nvSpPr>
        <p:spPr>
          <a:xfrm>
            <a:off x="8633003" y="8008574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5C659B47-6172-71E1-9F7F-A0AF2E33531D}"/>
              </a:ext>
            </a:extLst>
          </p:cNvPr>
          <p:cNvSpPr/>
          <p:nvPr/>
        </p:nvSpPr>
        <p:spPr>
          <a:xfrm>
            <a:off x="8872715" y="8008574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4DB0242-3FC3-DC5D-4877-4F19992939E4}"/>
              </a:ext>
            </a:extLst>
          </p:cNvPr>
          <p:cNvSpPr/>
          <p:nvPr/>
        </p:nvSpPr>
        <p:spPr>
          <a:xfrm>
            <a:off x="9108459" y="8008574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F055C303-1701-1A18-0442-7F5DA5F4E275}"/>
              </a:ext>
            </a:extLst>
          </p:cNvPr>
          <p:cNvSpPr/>
          <p:nvPr/>
        </p:nvSpPr>
        <p:spPr>
          <a:xfrm>
            <a:off x="9344203" y="800857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E7023C37-F1B9-72E5-5BA5-CF8B2C03D56E}"/>
              </a:ext>
            </a:extLst>
          </p:cNvPr>
          <p:cNvSpPr/>
          <p:nvPr/>
        </p:nvSpPr>
        <p:spPr>
          <a:xfrm>
            <a:off x="8677462" y="6426143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AB712D9D-262A-5666-1FAD-9A7A8C61C020}"/>
              </a:ext>
            </a:extLst>
          </p:cNvPr>
          <p:cNvSpPr/>
          <p:nvPr/>
        </p:nvSpPr>
        <p:spPr>
          <a:xfrm>
            <a:off x="8860015" y="6423145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5474317-730F-4ACD-14D0-15083F0F08CA}"/>
              </a:ext>
            </a:extLst>
          </p:cNvPr>
          <p:cNvSpPr/>
          <p:nvPr/>
        </p:nvSpPr>
        <p:spPr>
          <a:xfrm>
            <a:off x="8605484" y="9415738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A6BA0F82-FD2A-BF09-1E9D-5E450D3A5104}"/>
              </a:ext>
            </a:extLst>
          </p:cNvPr>
          <p:cNvCxnSpPr>
            <a:cxnSpLocks/>
            <a:stCxn id="212" idx="3"/>
            <a:endCxn id="214" idx="1"/>
          </p:cNvCxnSpPr>
          <p:nvPr/>
        </p:nvCxnSpPr>
        <p:spPr>
          <a:xfrm flipV="1">
            <a:off x="9938116" y="9646603"/>
            <a:ext cx="779802" cy="44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E9586A8-CBB3-6903-413E-0BF4D69E2D22}"/>
              </a:ext>
            </a:extLst>
          </p:cNvPr>
          <p:cNvSpPr/>
          <p:nvPr/>
        </p:nvSpPr>
        <p:spPr>
          <a:xfrm>
            <a:off x="10717918" y="9411292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5 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B6A250A-0346-1D90-429A-6E49D8339792}"/>
              </a:ext>
            </a:extLst>
          </p:cNvPr>
          <p:cNvSpPr txBox="1"/>
          <p:nvPr/>
        </p:nvSpPr>
        <p:spPr>
          <a:xfrm>
            <a:off x="8605484" y="8556998"/>
            <a:ext cx="1330878" cy="769441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in healthcare,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NLP in healthcare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A215DB2-8753-A428-50E9-47D896E14593}"/>
              </a:ext>
            </a:extLst>
          </p:cNvPr>
          <p:cNvSpPr/>
          <p:nvPr/>
        </p:nvSpPr>
        <p:spPr>
          <a:xfrm>
            <a:off x="8605484" y="9941337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3D22DAB-0339-CAFA-06BE-7255DB40E304}"/>
              </a:ext>
            </a:extLst>
          </p:cNvPr>
          <p:cNvSpPr/>
          <p:nvPr/>
        </p:nvSpPr>
        <p:spPr>
          <a:xfrm>
            <a:off x="8845196" y="9941337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6EEE45F-DEAA-CF25-BE0D-301BF5887C72}"/>
              </a:ext>
            </a:extLst>
          </p:cNvPr>
          <p:cNvSpPr/>
          <p:nvPr/>
        </p:nvSpPr>
        <p:spPr>
          <a:xfrm>
            <a:off x="9080940" y="9941337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EE7DE445-C2DB-7CD2-08B3-150596B738BB}"/>
              </a:ext>
            </a:extLst>
          </p:cNvPr>
          <p:cNvSpPr/>
          <p:nvPr/>
        </p:nvSpPr>
        <p:spPr>
          <a:xfrm>
            <a:off x="9316684" y="9941337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DC0DE01F-8B09-08CE-56E8-1B184365F284}"/>
              </a:ext>
            </a:extLst>
          </p:cNvPr>
          <p:cNvSpPr/>
          <p:nvPr/>
        </p:nvSpPr>
        <p:spPr>
          <a:xfrm>
            <a:off x="8649943" y="8358906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52EF8F28-D7AD-DDD1-D50F-18A0FA952540}"/>
              </a:ext>
            </a:extLst>
          </p:cNvPr>
          <p:cNvSpPr/>
          <p:nvPr/>
        </p:nvSpPr>
        <p:spPr>
          <a:xfrm>
            <a:off x="8832496" y="8355908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B60CEE22-096E-6737-0C54-AD0CC61C8E65}"/>
              </a:ext>
            </a:extLst>
          </p:cNvPr>
          <p:cNvCxnSpPr>
            <a:cxnSpLocks/>
            <a:stCxn id="170" idx="3"/>
            <a:endCxn id="212" idx="1"/>
          </p:cNvCxnSpPr>
          <p:nvPr/>
        </p:nvCxnSpPr>
        <p:spPr>
          <a:xfrm flipV="1">
            <a:off x="7750920" y="9651049"/>
            <a:ext cx="854564" cy="7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8BDE3BE1-49C5-2597-04D1-05274C5FC96A}"/>
              </a:ext>
            </a:extLst>
          </p:cNvPr>
          <p:cNvCxnSpPr>
            <a:cxnSpLocks/>
            <a:stCxn id="68" idx="3"/>
            <a:endCxn id="170" idx="1"/>
          </p:cNvCxnSpPr>
          <p:nvPr/>
        </p:nvCxnSpPr>
        <p:spPr>
          <a:xfrm>
            <a:off x="5337676" y="9456377"/>
            <a:ext cx="1080612" cy="201783"/>
          </a:xfrm>
          <a:prstGeom prst="bentConnector3">
            <a:avLst>
              <a:gd name="adj1" fmla="val 5052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7F7684BF-67A2-46B3-CC48-4C2D70F925E6}"/>
              </a:ext>
            </a:extLst>
          </p:cNvPr>
          <p:cNvCxnSpPr>
            <a:cxnSpLocks/>
            <a:stCxn id="74" idx="0"/>
            <a:endCxn id="239" idx="1"/>
          </p:cNvCxnSpPr>
          <p:nvPr/>
        </p:nvCxnSpPr>
        <p:spPr>
          <a:xfrm rot="5400000" flipH="1" flipV="1">
            <a:off x="10392183" y="7655881"/>
            <a:ext cx="11302273" cy="81990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A78A5E6-C1D7-33E5-28DB-28F769F80F9A}"/>
              </a:ext>
            </a:extLst>
          </p:cNvPr>
          <p:cNvSpPr/>
          <p:nvPr/>
        </p:nvSpPr>
        <p:spPr>
          <a:xfrm>
            <a:off x="16453274" y="2179387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65C2626A-29D2-0AF1-B7A0-90F7FBC1BFF3}"/>
              </a:ext>
            </a:extLst>
          </p:cNvPr>
          <p:cNvSpPr/>
          <p:nvPr/>
        </p:nvSpPr>
        <p:spPr>
          <a:xfrm>
            <a:off x="16527510" y="7075455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in health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26AA929-9960-1912-A74E-52B52FA6213B}"/>
              </a:ext>
            </a:extLst>
          </p:cNvPr>
          <p:cNvSpPr/>
          <p:nvPr/>
        </p:nvSpPr>
        <p:spPr>
          <a:xfrm>
            <a:off x="16506570" y="4645469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cxnSp>
        <p:nvCxnSpPr>
          <p:cNvPr id="243" name="Connector: Elbow 242">
            <a:extLst>
              <a:ext uri="{FF2B5EF4-FFF2-40B4-BE49-F238E27FC236}">
                <a16:creationId xmlns:a16="http://schemas.microsoft.com/office/drawing/2014/main" id="{7D29E94D-68E2-3ADE-8EF8-5A2AAA22C786}"/>
              </a:ext>
            </a:extLst>
          </p:cNvPr>
          <p:cNvCxnSpPr>
            <a:cxnSpLocks/>
            <a:stCxn id="171" idx="0"/>
            <a:endCxn id="247" idx="1"/>
          </p:cNvCxnSpPr>
          <p:nvPr/>
        </p:nvCxnSpPr>
        <p:spPr>
          <a:xfrm rot="5400000" flipH="1" flipV="1">
            <a:off x="7519110" y="11075018"/>
            <a:ext cx="596065" cy="14321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ectangle 246">
            <a:extLst>
              <a:ext uri="{FF2B5EF4-FFF2-40B4-BE49-F238E27FC236}">
                <a16:creationId xmlns:a16="http://schemas.microsoft.com/office/drawing/2014/main" id="{EC53EB22-6D0B-CF97-F494-A02DB6BA7B12}"/>
              </a:ext>
            </a:extLst>
          </p:cNvPr>
          <p:cNvSpPr/>
          <p:nvPr/>
        </p:nvSpPr>
        <p:spPr>
          <a:xfrm>
            <a:off x="8533213" y="11257745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8139546-D95F-F231-1B57-65A55106AF8E}"/>
              </a:ext>
            </a:extLst>
          </p:cNvPr>
          <p:cNvSpPr txBox="1"/>
          <p:nvPr/>
        </p:nvSpPr>
        <p:spPr>
          <a:xfrm>
            <a:off x="10673598" y="12219916"/>
            <a:ext cx="1355615" cy="938719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Synthetic clinical notes, automated clinical coding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E99A89A5-8649-A313-D705-D096D7753285}"/>
              </a:ext>
            </a:extLst>
          </p:cNvPr>
          <p:cNvSpPr/>
          <p:nvPr/>
        </p:nvSpPr>
        <p:spPr>
          <a:xfrm>
            <a:off x="10708533" y="12021824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CD071357-1E9B-77E4-DCDA-101DF01CFA88}"/>
              </a:ext>
            </a:extLst>
          </p:cNvPr>
          <p:cNvSpPr/>
          <p:nvPr/>
        </p:nvSpPr>
        <p:spPr>
          <a:xfrm>
            <a:off x="10891086" y="12018826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BEE2DC90-06FF-7FD4-7195-CBA233BD61CE}"/>
              </a:ext>
            </a:extLst>
          </p:cNvPr>
          <p:cNvSpPr/>
          <p:nvPr/>
        </p:nvSpPr>
        <p:spPr>
          <a:xfrm>
            <a:off x="10739811" y="1377969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4ACB85DF-52C2-FAB0-FC00-BEFFC4B8D07D}"/>
              </a:ext>
            </a:extLst>
          </p:cNvPr>
          <p:cNvSpPr/>
          <p:nvPr/>
        </p:nvSpPr>
        <p:spPr>
          <a:xfrm>
            <a:off x="10979523" y="13779699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F36F43F5-C6AE-6DAA-7E1D-0F1248FE2239}"/>
              </a:ext>
            </a:extLst>
          </p:cNvPr>
          <p:cNvSpPr/>
          <p:nvPr/>
        </p:nvSpPr>
        <p:spPr>
          <a:xfrm>
            <a:off x="11215267" y="13779699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BBC22F50-B101-88D1-CE55-E9126519BD84}"/>
              </a:ext>
            </a:extLst>
          </p:cNvPr>
          <p:cNvSpPr/>
          <p:nvPr/>
        </p:nvSpPr>
        <p:spPr>
          <a:xfrm>
            <a:off x="11451011" y="1377969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6B156AFF-C115-F8FB-7C49-72DDCCA8CA1E}"/>
              </a:ext>
            </a:extLst>
          </p:cNvPr>
          <p:cNvCxnSpPr>
            <a:cxnSpLocks/>
            <a:stCxn id="247" idx="3"/>
            <a:endCxn id="279" idx="1"/>
          </p:cNvCxnSpPr>
          <p:nvPr/>
        </p:nvCxnSpPr>
        <p:spPr>
          <a:xfrm flipV="1">
            <a:off x="9865845" y="11487437"/>
            <a:ext cx="814059" cy="5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Rectangle 278">
            <a:extLst>
              <a:ext uri="{FF2B5EF4-FFF2-40B4-BE49-F238E27FC236}">
                <a16:creationId xmlns:a16="http://schemas.microsoft.com/office/drawing/2014/main" id="{24F2CA66-4662-2C10-26F6-6009CB32E82D}"/>
              </a:ext>
            </a:extLst>
          </p:cNvPr>
          <p:cNvSpPr/>
          <p:nvPr/>
        </p:nvSpPr>
        <p:spPr>
          <a:xfrm>
            <a:off x="10679904" y="11252126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74B3BDD-9E30-AAE0-E569-F5BE4195362D}"/>
              </a:ext>
            </a:extLst>
          </p:cNvPr>
          <p:cNvSpPr/>
          <p:nvPr/>
        </p:nvSpPr>
        <p:spPr>
          <a:xfrm>
            <a:off x="10679904" y="11777725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F95BCCBE-EE8F-0CB1-111C-1F21D528C91E}"/>
              </a:ext>
            </a:extLst>
          </p:cNvPr>
          <p:cNvSpPr/>
          <p:nvPr/>
        </p:nvSpPr>
        <p:spPr>
          <a:xfrm>
            <a:off x="10919616" y="11777725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6E81843B-E16D-2DEA-2372-5D5BBB82D7E2}"/>
              </a:ext>
            </a:extLst>
          </p:cNvPr>
          <p:cNvSpPr/>
          <p:nvPr/>
        </p:nvSpPr>
        <p:spPr>
          <a:xfrm>
            <a:off x="11155360" y="11777725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B237DB1-AB40-EF5E-B424-9DECA93934A1}"/>
              </a:ext>
            </a:extLst>
          </p:cNvPr>
          <p:cNvSpPr/>
          <p:nvPr/>
        </p:nvSpPr>
        <p:spPr>
          <a:xfrm>
            <a:off x="11391104" y="11777725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E8C0E239-28C0-172F-890A-22383CAEA453}"/>
              </a:ext>
            </a:extLst>
          </p:cNvPr>
          <p:cNvSpPr/>
          <p:nvPr/>
        </p:nvSpPr>
        <p:spPr>
          <a:xfrm>
            <a:off x="10724363" y="10195294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37C4060C-9D35-3DFE-C6D2-360176C9907B}"/>
              </a:ext>
            </a:extLst>
          </p:cNvPr>
          <p:cNvSpPr/>
          <p:nvPr/>
        </p:nvSpPr>
        <p:spPr>
          <a:xfrm>
            <a:off x="10906916" y="10192296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79B8E930-3E0B-31D1-0A08-E33471AFFDEB}"/>
              </a:ext>
            </a:extLst>
          </p:cNvPr>
          <p:cNvSpPr txBox="1"/>
          <p:nvPr/>
        </p:nvSpPr>
        <p:spPr>
          <a:xfrm>
            <a:off x="10679904" y="10439035"/>
            <a:ext cx="1330878" cy="769441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clinical notes, origins of clinical notes</a:t>
            </a: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79743B16-BCD7-0B79-D7E3-BD9A5DB93D25}"/>
              </a:ext>
            </a:extLst>
          </p:cNvPr>
          <p:cNvSpPr/>
          <p:nvPr/>
        </p:nvSpPr>
        <p:spPr>
          <a:xfrm>
            <a:off x="10694970" y="13216339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AA03F304-634F-22E2-9AF5-79FB2712D722}"/>
              </a:ext>
            </a:extLst>
          </p:cNvPr>
          <p:cNvCxnSpPr>
            <a:cxnSpLocks/>
            <a:stCxn id="175" idx="3"/>
            <a:endCxn id="289" idx="1"/>
          </p:cNvCxnSpPr>
          <p:nvPr/>
        </p:nvCxnSpPr>
        <p:spPr>
          <a:xfrm>
            <a:off x="9932480" y="13448006"/>
            <a:ext cx="762490" cy="3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E5CB4C6B-9D7D-89C1-AC35-4D0F213F63CB}"/>
              </a:ext>
            </a:extLst>
          </p:cNvPr>
          <p:cNvCxnSpPr>
            <a:cxnSpLocks/>
            <a:stCxn id="279" idx="3"/>
            <a:endCxn id="294" idx="1"/>
          </p:cNvCxnSpPr>
          <p:nvPr/>
        </p:nvCxnSpPr>
        <p:spPr>
          <a:xfrm flipV="1">
            <a:off x="12012536" y="11484854"/>
            <a:ext cx="621855" cy="25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Rectangle 293">
            <a:extLst>
              <a:ext uri="{FF2B5EF4-FFF2-40B4-BE49-F238E27FC236}">
                <a16:creationId xmlns:a16="http://schemas.microsoft.com/office/drawing/2014/main" id="{38F3DC24-1BC7-1C8B-53D0-E9E2425D4B7B}"/>
              </a:ext>
            </a:extLst>
          </p:cNvPr>
          <p:cNvSpPr/>
          <p:nvPr/>
        </p:nvSpPr>
        <p:spPr>
          <a:xfrm>
            <a:off x="12634391" y="11249543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4 </a:t>
            </a:r>
          </a:p>
        </p:txBody>
      </p: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ECF6F3F0-EEA6-A01B-1130-A0BD379E226C}"/>
              </a:ext>
            </a:extLst>
          </p:cNvPr>
          <p:cNvCxnSpPr>
            <a:cxnSpLocks/>
            <a:endCxn id="299" idx="1"/>
          </p:cNvCxnSpPr>
          <p:nvPr/>
        </p:nvCxnSpPr>
        <p:spPr>
          <a:xfrm flipV="1">
            <a:off x="12027602" y="13448006"/>
            <a:ext cx="621855" cy="25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Rectangle 298">
            <a:extLst>
              <a:ext uri="{FF2B5EF4-FFF2-40B4-BE49-F238E27FC236}">
                <a16:creationId xmlns:a16="http://schemas.microsoft.com/office/drawing/2014/main" id="{9A10CA61-908D-8935-433A-91DB758ABA24}"/>
              </a:ext>
            </a:extLst>
          </p:cNvPr>
          <p:cNvSpPr/>
          <p:nvPr/>
        </p:nvSpPr>
        <p:spPr>
          <a:xfrm>
            <a:off x="12649457" y="13212695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5 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97F39844-7633-4BD8-1071-8C37AE58882D}"/>
              </a:ext>
            </a:extLst>
          </p:cNvPr>
          <p:cNvSpPr/>
          <p:nvPr/>
        </p:nvSpPr>
        <p:spPr>
          <a:xfrm>
            <a:off x="16557312" y="9359235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in epilepsy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376EB18A-6426-5E38-F4FB-FBF30D8217BD}"/>
              </a:ext>
            </a:extLst>
          </p:cNvPr>
          <p:cNvSpPr/>
          <p:nvPr/>
        </p:nvSpPr>
        <p:spPr>
          <a:xfrm>
            <a:off x="12651429" y="1175453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69B9B212-F0A0-DEFE-CAA5-F87F221807CE}"/>
              </a:ext>
            </a:extLst>
          </p:cNvPr>
          <p:cNvSpPr/>
          <p:nvPr/>
        </p:nvSpPr>
        <p:spPr>
          <a:xfrm>
            <a:off x="12658393" y="13711493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7BA3BDDA-7BD3-B16C-6632-43D02FA92DD5}"/>
              </a:ext>
            </a:extLst>
          </p:cNvPr>
          <p:cNvSpPr/>
          <p:nvPr/>
        </p:nvSpPr>
        <p:spPr>
          <a:xfrm>
            <a:off x="10753475" y="7982246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29349DBC-773A-ED9E-3247-996313CD11E8}"/>
              </a:ext>
            </a:extLst>
          </p:cNvPr>
          <p:cNvSpPr/>
          <p:nvPr/>
        </p:nvSpPr>
        <p:spPr>
          <a:xfrm>
            <a:off x="10993187" y="7982246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992CBDC6-B4C2-F51B-EAFF-32B7C49529F7}"/>
              </a:ext>
            </a:extLst>
          </p:cNvPr>
          <p:cNvSpPr/>
          <p:nvPr/>
        </p:nvSpPr>
        <p:spPr>
          <a:xfrm>
            <a:off x="11228931" y="7982246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7F4FC5D-19B5-7DC8-AACC-56435C2D472D}"/>
              </a:ext>
            </a:extLst>
          </p:cNvPr>
          <p:cNvSpPr/>
          <p:nvPr/>
        </p:nvSpPr>
        <p:spPr>
          <a:xfrm>
            <a:off x="11464675" y="7982246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186075EE-1143-3BB7-37D0-65DF5F507C3F}"/>
              </a:ext>
            </a:extLst>
          </p:cNvPr>
          <p:cNvSpPr/>
          <p:nvPr/>
        </p:nvSpPr>
        <p:spPr>
          <a:xfrm>
            <a:off x="10718720" y="9914150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A9625476-3212-7132-4BE2-4C85494ACD44}"/>
              </a:ext>
            </a:extLst>
          </p:cNvPr>
          <p:cNvSpPr/>
          <p:nvPr/>
        </p:nvSpPr>
        <p:spPr>
          <a:xfrm>
            <a:off x="10954464" y="9914150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E29A62BB-DB6C-393E-758C-733081B84F75}"/>
              </a:ext>
            </a:extLst>
          </p:cNvPr>
          <p:cNvSpPr txBox="1"/>
          <p:nvPr/>
        </p:nvSpPr>
        <p:spPr>
          <a:xfrm>
            <a:off x="18568430" y="1377209"/>
            <a:ext cx="1355615" cy="769441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is all you need, origin of transformers</a:t>
            </a:r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257F2B69-B3A1-6686-CECA-8A92B1932F1F}"/>
              </a:ext>
            </a:extLst>
          </p:cNvPr>
          <p:cNvSpPr/>
          <p:nvPr/>
        </p:nvSpPr>
        <p:spPr>
          <a:xfrm>
            <a:off x="18603365" y="1141017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5E6782A0-601B-7095-ABCA-17276054CE56}"/>
              </a:ext>
            </a:extLst>
          </p:cNvPr>
          <p:cNvSpPr/>
          <p:nvPr/>
        </p:nvSpPr>
        <p:spPr>
          <a:xfrm>
            <a:off x="18785918" y="1138019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7E51A811-0E4F-F131-D28E-5C558AEFA95E}"/>
              </a:ext>
            </a:extLst>
          </p:cNvPr>
          <p:cNvSpPr/>
          <p:nvPr/>
        </p:nvSpPr>
        <p:spPr>
          <a:xfrm>
            <a:off x="18634643" y="2746492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37A2DB7C-D7CF-7F1B-00E7-84A9228D6970}"/>
              </a:ext>
            </a:extLst>
          </p:cNvPr>
          <p:cNvSpPr/>
          <p:nvPr/>
        </p:nvSpPr>
        <p:spPr>
          <a:xfrm>
            <a:off x="18874355" y="2746492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8D430EC1-CEC1-89A7-ED36-CAE03DBB809C}"/>
              </a:ext>
            </a:extLst>
          </p:cNvPr>
          <p:cNvSpPr/>
          <p:nvPr/>
        </p:nvSpPr>
        <p:spPr>
          <a:xfrm>
            <a:off x="19110099" y="274649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1EDB8197-D85C-77A7-3908-3A2633066373}"/>
              </a:ext>
            </a:extLst>
          </p:cNvPr>
          <p:cNvSpPr/>
          <p:nvPr/>
        </p:nvSpPr>
        <p:spPr>
          <a:xfrm>
            <a:off x="19345843" y="274649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FA3C0FE8-C8C0-4A8C-C692-6E5EF3ADA056}"/>
              </a:ext>
            </a:extLst>
          </p:cNvPr>
          <p:cNvSpPr/>
          <p:nvPr/>
        </p:nvSpPr>
        <p:spPr>
          <a:xfrm>
            <a:off x="18589802" y="2183132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366019F1-FCA6-0C1C-73DA-EBBEDA36065C}"/>
              </a:ext>
            </a:extLst>
          </p:cNvPr>
          <p:cNvCxnSpPr>
            <a:cxnSpLocks/>
            <a:stCxn id="239" idx="3"/>
            <a:endCxn id="320" idx="1"/>
          </p:cNvCxnSpPr>
          <p:nvPr/>
        </p:nvCxnSpPr>
        <p:spPr>
          <a:xfrm>
            <a:off x="17785906" y="2414698"/>
            <a:ext cx="803896" cy="37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92BFBD4E-8935-FA42-3E85-8320C42E59A5}"/>
              </a:ext>
            </a:extLst>
          </p:cNvPr>
          <p:cNvCxnSpPr>
            <a:cxnSpLocks/>
            <a:stCxn id="320" idx="3"/>
            <a:endCxn id="328" idx="1"/>
          </p:cNvCxnSpPr>
          <p:nvPr/>
        </p:nvCxnSpPr>
        <p:spPr>
          <a:xfrm>
            <a:off x="19922434" y="2418443"/>
            <a:ext cx="823342" cy="1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Rectangle 327">
            <a:extLst>
              <a:ext uri="{FF2B5EF4-FFF2-40B4-BE49-F238E27FC236}">
                <a16:creationId xmlns:a16="http://schemas.microsoft.com/office/drawing/2014/main" id="{48D2F3C8-DFB6-D955-DC90-DBDD9739152F}"/>
              </a:ext>
            </a:extLst>
          </p:cNvPr>
          <p:cNvSpPr/>
          <p:nvPr/>
        </p:nvSpPr>
        <p:spPr>
          <a:xfrm>
            <a:off x="20745776" y="2184179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1 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661E07D7-2483-DD36-97EA-43226F3AFD1B}"/>
              </a:ext>
            </a:extLst>
          </p:cNvPr>
          <p:cNvSpPr/>
          <p:nvPr/>
        </p:nvSpPr>
        <p:spPr>
          <a:xfrm>
            <a:off x="20745776" y="2716930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2" name="Connector: Elbow 331">
            <a:extLst>
              <a:ext uri="{FF2B5EF4-FFF2-40B4-BE49-F238E27FC236}">
                <a16:creationId xmlns:a16="http://schemas.microsoft.com/office/drawing/2014/main" id="{053D7111-D48A-4384-A4CC-4C207E07D74C}"/>
              </a:ext>
            </a:extLst>
          </p:cNvPr>
          <p:cNvCxnSpPr>
            <a:cxnSpLocks/>
            <a:stCxn id="74" idx="0"/>
            <a:endCxn id="242" idx="1"/>
          </p:cNvCxnSpPr>
          <p:nvPr/>
        </p:nvCxnSpPr>
        <p:spPr>
          <a:xfrm rot="5400000" flipH="1" flipV="1">
            <a:off x="11651872" y="8862274"/>
            <a:ext cx="8836191" cy="87320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4F622245-64C3-43A6-2AE5-AEDCF3AB02F8}"/>
              </a:ext>
            </a:extLst>
          </p:cNvPr>
          <p:cNvCxnSpPr>
            <a:cxnSpLocks/>
            <a:stCxn id="74" idx="0"/>
            <a:endCxn id="241" idx="1"/>
          </p:cNvCxnSpPr>
          <p:nvPr/>
        </p:nvCxnSpPr>
        <p:spPr>
          <a:xfrm rot="5400000" flipH="1" flipV="1">
            <a:off x="12877335" y="10066797"/>
            <a:ext cx="6406205" cy="8941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: Elbow 338">
            <a:extLst>
              <a:ext uri="{FF2B5EF4-FFF2-40B4-BE49-F238E27FC236}">
                <a16:creationId xmlns:a16="http://schemas.microsoft.com/office/drawing/2014/main" id="{AC7B970F-D1A8-C002-02D7-377673D8150C}"/>
              </a:ext>
            </a:extLst>
          </p:cNvPr>
          <p:cNvCxnSpPr>
            <a:cxnSpLocks/>
            <a:stCxn id="74" idx="0"/>
            <a:endCxn id="301" idx="1"/>
          </p:cNvCxnSpPr>
          <p:nvPr/>
        </p:nvCxnSpPr>
        <p:spPr>
          <a:xfrm rot="5400000" flipH="1" flipV="1">
            <a:off x="14034126" y="11193786"/>
            <a:ext cx="4122425" cy="923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TextBox 341">
            <a:extLst>
              <a:ext uri="{FF2B5EF4-FFF2-40B4-BE49-F238E27FC236}">
                <a16:creationId xmlns:a16="http://schemas.microsoft.com/office/drawing/2014/main" id="{3F0427AA-3ECE-4205-3904-AA6F18AC86A4}"/>
              </a:ext>
            </a:extLst>
          </p:cNvPr>
          <p:cNvSpPr txBox="1"/>
          <p:nvPr/>
        </p:nvSpPr>
        <p:spPr>
          <a:xfrm>
            <a:off x="18589803" y="3277316"/>
            <a:ext cx="1332632" cy="127727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models origin, GPU computing in machine learning, foundation models in healthcare</a:t>
            </a:r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4A3BE2F9-AB16-49C2-242F-D7139CDCEEA1}"/>
              </a:ext>
            </a:extLst>
          </p:cNvPr>
          <p:cNvSpPr/>
          <p:nvPr/>
        </p:nvSpPr>
        <p:spPr>
          <a:xfrm>
            <a:off x="18616526" y="3030236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E2F9CC85-8FD1-EEF6-5A97-CFF2074F035E}"/>
              </a:ext>
            </a:extLst>
          </p:cNvPr>
          <p:cNvSpPr/>
          <p:nvPr/>
        </p:nvSpPr>
        <p:spPr>
          <a:xfrm>
            <a:off x="18799079" y="3027238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CE383201-7BBF-C07B-BE2B-EE7BBC17E54A}"/>
              </a:ext>
            </a:extLst>
          </p:cNvPr>
          <p:cNvSpPr/>
          <p:nvPr/>
        </p:nvSpPr>
        <p:spPr>
          <a:xfrm>
            <a:off x="18647804" y="5169111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99F849FA-3188-7170-B55D-EBF9AD9C5714}"/>
              </a:ext>
            </a:extLst>
          </p:cNvPr>
          <p:cNvSpPr/>
          <p:nvPr/>
        </p:nvSpPr>
        <p:spPr>
          <a:xfrm>
            <a:off x="18887516" y="5169111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DA13A94C-D9DD-FCED-F195-224B9246D2D3}"/>
              </a:ext>
            </a:extLst>
          </p:cNvPr>
          <p:cNvSpPr/>
          <p:nvPr/>
        </p:nvSpPr>
        <p:spPr>
          <a:xfrm>
            <a:off x="19123260" y="5169111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2EB903A4-7B7E-133D-1E6B-450675286598}"/>
              </a:ext>
            </a:extLst>
          </p:cNvPr>
          <p:cNvSpPr/>
          <p:nvPr/>
        </p:nvSpPr>
        <p:spPr>
          <a:xfrm>
            <a:off x="19359004" y="5169111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A4C1A4C2-ADA1-1BAF-0E6B-9494D38DCD14}"/>
              </a:ext>
            </a:extLst>
          </p:cNvPr>
          <p:cNvSpPr/>
          <p:nvPr/>
        </p:nvSpPr>
        <p:spPr>
          <a:xfrm>
            <a:off x="18602963" y="4631151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20FEFC9C-15D4-4401-0C4C-5EE251AFDA27}"/>
              </a:ext>
            </a:extLst>
          </p:cNvPr>
          <p:cNvCxnSpPr>
            <a:cxnSpLocks/>
            <a:stCxn id="349" idx="3"/>
            <a:endCxn id="351" idx="1"/>
          </p:cNvCxnSpPr>
          <p:nvPr/>
        </p:nvCxnSpPr>
        <p:spPr>
          <a:xfrm flipV="1">
            <a:off x="19935595" y="4854809"/>
            <a:ext cx="823342" cy="11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Rectangle 350">
            <a:extLst>
              <a:ext uri="{FF2B5EF4-FFF2-40B4-BE49-F238E27FC236}">
                <a16:creationId xmlns:a16="http://schemas.microsoft.com/office/drawing/2014/main" id="{957BB205-A0C9-BA13-5CEE-D5D6F6317F0B}"/>
              </a:ext>
            </a:extLst>
          </p:cNvPr>
          <p:cNvSpPr/>
          <p:nvPr/>
        </p:nvSpPr>
        <p:spPr>
          <a:xfrm>
            <a:off x="20758937" y="4619498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4 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F6E6CA9F-596E-A855-55FE-A1390CFAB7B0}"/>
              </a:ext>
            </a:extLst>
          </p:cNvPr>
          <p:cNvSpPr/>
          <p:nvPr/>
        </p:nvSpPr>
        <p:spPr>
          <a:xfrm>
            <a:off x="21012804" y="514448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4A629F55-3181-5BE2-0E43-7C2F43DFD8F0}"/>
              </a:ext>
            </a:extLst>
          </p:cNvPr>
          <p:cNvCxnSpPr>
            <a:cxnSpLocks/>
            <a:stCxn id="242" idx="3"/>
            <a:endCxn id="349" idx="1"/>
          </p:cNvCxnSpPr>
          <p:nvPr/>
        </p:nvCxnSpPr>
        <p:spPr>
          <a:xfrm flipV="1">
            <a:off x="17839202" y="4866462"/>
            <a:ext cx="763761" cy="14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Rectangle 357">
            <a:extLst>
              <a:ext uri="{FF2B5EF4-FFF2-40B4-BE49-F238E27FC236}">
                <a16:creationId xmlns:a16="http://schemas.microsoft.com/office/drawing/2014/main" id="{AAA1B46A-A7F6-E463-5D7C-0ECAA744BBB4}"/>
              </a:ext>
            </a:extLst>
          </p:cNvPr>
          <p:cNvSpPr/>
          <p:nvPr/>
        </p:nvSpPr>
        <p:spPr>
          <a:xfrm>
            <a:off x="20767208" y="514448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B60BCA8B-B2CF-C710-547A-39DC94650BEB}"/>
              </a:ext>
            </a:extLst>
          </p:cNvPr>
          <p:cNvSpPr txBox="1"/>
          <p:nvPr/>
        </p:nvSpPr>
        <p:spPr>
          <a:xfrm>
            <a:off x="18616123" y="6074899"/>
            <a:ext cx="1332632" cy="938719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in healthcare, NLP in healthcare</a:t>
            </a:r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0B721090-8FB9-A09B-B558-9C6A558E6E6E}"/>
              </a:ext>
            </a:extLst>
          </p:cNvPr>
          <p:cNvSpPr/>
          <p:nvPr/>
        </p:nvSpPr>
        <p:spPr>
          <a:xfrm>
            <a:off x="18642846" y="5891319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10560138-B743-029C-1E8A-14828FADEBC6}"/>
              </a:ext>
            </a:extLst>
          </p:cNvPr>
          <p:cNvSpPr/>
          <p:nvPr/>
        </p:nvSpPr>
        <p:spPr>
          <a:xfrm>
            <a:off x="18825399" y="5888321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65F45F7E-6A0E-1C3F-D04C-CA68A8972977}"/>
              </a:ext>
            </a:extLst>
          </p:cNvPr>
          <p:cNvSpPr/>
          <p:nvPr/>
        </p:nvSpPr>
        <p:spPr>
          <a:xfrm>
            <a:off x="18660964" y="7604430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0468C2F3-0580-DDF5-8452-80DFF872F79D}"/>
              </a:ext>
            </a:extLst>
          </p:cNvPr>
          <p:cNvSpPr/>
          <p:nvPr/>
        </p:nvSpPr>
        <p:spPr>
          <a:xfrm>
            <a:off x="18900676" y="7604430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A4DEBB69-F823-D98C-B637-B5B35E3F027E}"/>
              </a:ext>
            </a:extLst>
          </p:cNvPr>
          <p:cNvSpPr/>
          <p:nvPr/>
        </p:nvSpPr>
        <p:spPr>
          <a:xfrm>
            <a:off x="19136420" y="7604430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E3BF2101-A167-7181-B238-E1B72FF23500}"/>
              </a:ext>
            </a:extLst>
          </p:cNvPr>
          <p:cNvSpPr/>
          <p:nvPr/>
        </p:nvSpPr>
        <p:spPr>
          <a:xfrm>
            <a:off x="19372164" y="7604430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26962DA2-0506-EDD7-E989-A128625D545B}"/>
              </a:ext>
            </a:extLst>
          </p:cNvPr>
          <p:cNvSpPr/>
          <p:nvPr/>
        </p:nvSpPr>
        <p:spPr>
          <a:xfrm>
            <a:off x="18616123" y="7066470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07A768D5-0B5B-BA11-AA02-6720803C9F46}"/>
              </a:ext>
            </a:extLst>
          </p:cNvPr>
          <p:cNvCxnSpPr>
            <a:cxnSpLocks/>
            <a:stCxn id="366" idx="3"/>
            <a:endCxn id="368" idx="1"/>
          </p:cNvCxnSpPr>
          <p:nvPr/>
        </p:nvCxnSpPr>
        <p:spPr>
          <a:xfrm flipV="1">
            <a:off x="19948755" y="7290128"/>
            <a:ext cx="823342" cy="11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Rectangle 367">
            <a:extLst>
              <a:ext uri="{FF2B5EF4-FFF2-40B4-BE49-F238E27FC236}">
                <a16:creationId xmlns:a16="http://schemas.microsoft.com/office/drawing/2014/main" id="{3ECFE56F-D1F9-648D-F87D-C7A06287122A}"/>
              </a:ext>
            </a:extLst>
          </p:cNvPr>
          <p:cNvSpPr/>
          <p:nvPr/>
        </p:nvSpPr>
        <p:spPr>
          <a:xfrm>
            <a:off x="20772097" y="7054817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3 </a:t>
            </a:r>
          </a:p>
        </p:txBody>
      </p:sp>
      <p:cxnSp>
        <p:nvCxnSpPr>
          <p:cNvPr id="371" name="Straight Arrow Connector 370">
            <a:extLst>
              <a:ext uri="{FF2B5EF4-FFF2-40B4-BE49-F238E27FC236}">
                <a16:creationId xmlns:a16="http://schemas.microsoft.com/office/drawing/2014/main" id="{9703B65D-484A-0A6C-FAF2-33A64B0748B0}"/>
              </a:ext>
            </a:extLst>
          </p:cNvPr>
          <p:cNvCxnSpPr>
            <a:cxnSpLocks/>
            <a:stCxn id="241" idx="3"/>
            <a:endCxn id="366" idx="1"/>
          </p:cNvCxnSpPr>
          <p:nvPr/>
        </p:nvCxnSpPr>
        <p:spPr>
          <a:xfrm flipV="1">
            <a:off x="17860142" y="7301781"/>
            <a:ext cx="755981" cy="8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TextBox 374">
            <a:extLst>
              <a:ext uri="{FF2B5EF4-FFF2-40B4-BE49-F238E27FC236}">
                <a16:creationId xmlns:a16="http://schemas.microsoft.com/office/drawing/2014/main" id="{CBD17D43-6BE2-EF96-7E03-58739C5D1E68}"/>
              </a:ext>
            </a:extLst>
          </p:cNvPr>
          <p:cNvSpPr txBox="1"/>
          <p:nvPr/>
        </p:nvSpPr>
        <p:spPr>
          <a:xfrm>
            <a:off x="18616123" y="8697733"/>
            <a:ext cx="1332632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in epilepsy</a:t>
            </a:r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8A509FE1-B28A-4830-627F-EFB022CDF726}"/>
              </a:ext>
            </a:extLst>
          </p:cNvPr>
          <p:cNvSpPr/>
          <p:nvPr/>
        </p:nvSpPr>
        <p:spPr>
          <a:xfrm>
            <a:off x="18642846" y="8514153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C36CE5E8-1C6E-1CC9-9640-759E8CF5D7E4}"/>
              </a:ext>
            </a:extLst>
          </p:cNvPr>
          <p:cNvSpPr/>
          <p:nvPr/>
        </p:nvSpPr>
        <p:spPr>
          <a:xfrm>
            <a:off x="18825399" y="8511155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E6AE8945-0664-FF58-AA5F-C06EF333AEF3}"/>
              </a:ext>
            </a:extLst>
          </p:cNvPr>
          <p:cNvSpPr/>
          <p:nvPr/>
        </p:nvSpPr>
        <p:spPr>
          <a:xfrm>
            <a:off x="18660964" y="9884364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676A43BA-6FBD-42AC-4BFC-24ECA278A77E}"/>
              </a:ext>
            </a:extLst>
          </p:cNvPr>
          <p:cNvSpPr/>
          <p:nvPr/>
        </p:nvSpPr>
        <p:spPr>
          <a:xfrm>
            <a:off x="18900676" y="9884364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25C0405E-AD85-1F9D-E865-3FD900747760}"/>
              </a:ext>
            </a:extLst>
          </p:cNvPr>
          <p:cNvSpPr/>
          <p:nvPr/>
        </p:nvSpPr>
        <p:spPr>
          <a:xfrm>
            <a:off x="19136420" y="9884364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C73BA10B-BAA3-B870-8F08-3F29C339B922}"/>
              </a:ext>
            </a:extLst>
          </p:cNvPr>
          <p:cNvSpPr/>
          <p:nvPr/>
        </p:nvSpPr>
        <p:spPr>
          <a:xfrm>
            <a:off x="19372164" y="988436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7B310FE5-3F01-E403-55E8-5A00AA1A269D}"/>
              </a:ext>
            </a:extLst>
          </p:cNvPr>
          <p:cNvSpPr/>
          <p:nvPr/>
        </p:nvSpPr>
        <p:spPr>
          <a:xfrm>
            <a:off x="18616123" y="9346404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33</a:t>
            </a:r>
          </a:p>
        </p:txBody>
      </p: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62D82A67-EB5B-1402-7021-D6CCB685098A}"/>
              </a:ext>
            </a:extLst>
          </p:cNvPr>
          <p:cNvCxnSpPr>
            <a:cxnSpLocks/>
            <a:stCxn id="382" idx="3"/>
            <a:endCxn id="384" idx="1"/>
          </p:cNvCxnSpPr>
          <p:nvPr/>
        </p:nvCxnSpPr>
        <p:spPr>
          <a:xfrm flipV="1">
            <a:off x="19948755" y="9570062"/>
            <a:ext cx="823342" cy="11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Rectangle 383">
            <a:extLst>
              <a:ext uri="{FF2B5EF4-FFF2-40B4-BE49-F238E27FC236}">
                <a16:creationId xmlns:a16="http://schemas.microsoft.com/office/drawing/2014/main" id="{D09EBCAF-6CB4-6F2F-FBFF-B7160F449C45}"/>
              </a:ext>
            </a:extLst>
          </p:cNvPr>
          <p:cNvSpPr/>
          <p:nvPr/>
        </p:nvSpPr>
        <p:spPr>
          <a:xfrm>
            <a:off x="20772097" y="9334751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7 </a:t>
            </a:r>
          </a:p>
        </p:txBody>
      </p: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ED38310B-4774-F246-5B01-76D6AD4F0027}"/>
              </a:ext>
            </a:extLst>
          </p:cNvPr>
          <p:cNvCxnSpPr>
            <a:cxnSpLocks/>
            <a:stCxn id="301" idx="3"/>
            <a:endCxn id="382" idx="1"/>
          </p:cNvCxnSpPr>
          <p:nvPr/>
        </p:nvCxnSpPr>
        <p:spPr>
          <a:xfrm flipV="1">
            <a:off x="17889944" y="9581715"/>
            <a:ext cx="726179" cy="128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Rectangle 388">
            <a:extLst>
              <a:ext uri="{FF2B5EF4-FFF2-40B4-BE49-F238E27FC236}">
                <a16:creationId xmlns:a16="http://schemas.microsoft.com/office/drawing/2014/main" id="{EB22964C-6284-AA69-ED50-02EB84890054}"/>
              </a:ext>
            </a:extLst>
          </p:cNvPr>
          <p:cNvSpPr/>
          <p:nvPr/>
        </p:nvSpPr>
        <p:spPr>
          <a:xfrm>
            <a:off x="20773728" y="9853880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CFAFA59D-C9AE-8E98-879C-D20597413692}"/>
              </a:ext>
            </a:extLst>
          </p:cNvPr>
          <p:cNvSpPr/>
          <p:nvPr/>
        </p:nvSpPr>
        <p:spPr>
          <a:xfrm>
            <a:off x="21028204" y="9853880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AEE2869A-B016-AD5F-CED3-31E9F4012709}"/>
              </a:ext>
            </a:extLst>
          </p:cNvPr>
          <p:cNvSpPr/>
          <p:nvPr/>
        </p:nvSpPr>
        <p:spPr>
          <a:xfrm>
            <a:off x="21263948" y="9853880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3" name="Connector: Elbow 392">
            <a:extLst>
              <a:ext uri="{FF2B5EF4-FFF2-40B4-BE49-F238E27FC236}">
                <a16:creationId xmlns:a16="http://schemas.microsoft.com/office/drawing/2014/main" id="{2A53E329-8294-56B2-024B-5C0871D05F53}"/>
              </a:ext>
            </a:extLst>
          </p:cNvPr>
          <p:cNvCxnSpPr>
            <a:cxnSpLocks/>
            <a:stCxn id="301" idx="2"/>
            <a:endCxn id="395" idx="1"/>
          </p:cNvCxnSpPr>
          <p:nvPr/>
        </p:nvCxnSpPr>
        <p:spPr>
          <a:xfrm rot="16200000" flipH="1">
            <a:off x="16236080" y="10817404"/>
            <a:ext cx="2961701" cy="98660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Rectangle 394">
            <a:extLst>
              <a:ext uri="{FF2B5EF4-FFF2-40B4-BE49-F238E27FC236}">
                <a16:creationId xmlns:a16="http://schemas.microsoft.com/office/drawing/2014/main" id="{E701BCC0-19C1-23A2-9F3F-2923C4549387}"/>
              </a:ext>
            </a:extLst>
          </p:cNvPr>
          <p:cNvSpPr/>
          <p:nvPr/>
        </p:nvSpPr>
        <p:spPr>
          <a:xfrm>
            <a:off x="18210232" y="12556246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NER in epilepsy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7289BAB-7586-57E8-2068-CACC9456E9CA}"/>
              </a:ext>
            </a:extLst>
          </p:cNvPr>
          <p:cNvSpPr/>
          <p:nvPr/>
        </p:nvSpPr>
        <p:spPr>
          <a:xfrm>
            <a:off x="20141957" y="13272834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Prescriptions</a:t>
            </a:r>
          </a:p>
        </p:txBody>
      </p:sp>
      <p:cxnSp>
        <p:nvCxnSpPr>
          <p:cNvPr id="400" name="Connector: Elbow 399">
            <a:extLst>
              <a:ext uri="{FF2B5EF4-FFF2-40B4-BE49-F238E27FC236}">
                <a16:creationId xmlns:a16="http://schemas.microsoft.com/office/drawing/2014/main" id="{7E572A84-FD9F-B590-A9B4-C72F38A601DB}"/>
              </a:ext>
            </a:extLst>
          </p:cNvPr>
          <p:cNvCxnSpPr>
            <a:cxnSpLocks/>
            <a:stCxn id="395" idx="2"/>
            <a:endCxn id="399" idx="1"/>
          </p:cNvCxnSpPr>
          <p:nvPr/>
        </p:nvCxnSpPr>
        <p:spPr>
          <a:xfrm rot="16200000" flipH="1">
            <a:off x="19268613" y="12634801"/>
            <a:ext cx="481278" cy="126540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Rectangle 402">
            <a:extLst>
              <a:ext uri="{FF2B5EF4-FFF2-40B4-BE49-F238E27FC236}">
                <a16:creationId xmlns:a16="http://schemas.microsoft.com/office/drawing/2014/main" id="{20B03DAA-4898-2E50-4B2C-1A277DF8B255}"/>
              </a:ext>
            </a:extLst>
          </p:cNvPr>
          <p:cNvSpPr/>
          <p:nvPr/>
        </p:nvSpPr>
        <p:spPr>
          <a:xfrm>
            <a:off x="20079460" y="11202763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Seizure frequency</a:t>
            </a:r>
          </a:p>
        </p:txBody>
      </p:sp>
      <p:cxnSp>
        <p:nvCxnSpPr>
          <p:cNvPr id="404" name="Connector: Elbow 403">
            <a:extLst>
              <a:ext uri="{FF2B5EF4-FFF2-40B4-BE49-F238E27FC236}">
                <a16:creationId xmlns:a16="http://schemas.microsoft.com/office/drawing/2014/main" id="{E3B55BE6-06B2-7154-D3D7-C47CA6C3355C}"/>
              </a:ext>
            </a:extLst>
          </p:cNvPr>
          <p:cNvCxnSpPr>
            <a:cxnSpLocks/>
            <a:stCxn id="395" idx="0"/>
            <a:endCxn id="403" idx="1"/>
          </p:cNvCxnSpPr>
          <p:nvPr/>
        </p:nvCxnSpPr>
        <p:spPr>
          <a:xfrm rot="5400000" flipH="1" flipV="1">
            <a:off x="18918918" y="11395704"/>
            <a:ext cx="1118172" cy="120291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TextBox 408">
            <a:extLst>
              <a:ext uri="{FF2B5EF4-FFF2-40B4-BE49-F238E27FC236}">
                <a16:creationId xmlns:a16="http://schemas.microsoft.com/office/drawing/2014/main" id="{86DA5ED3-0FED-4D6F-C4C4-00B2FF4A38A6}"/>
              </a:ext>
            </a:extLst>
          </p:cNvPr>
          <p:cNvSpPr txBox="1"/>
          <p:nvPr/>
        </p:nvSpPr>
        <p:spPr>
          <a:xfrm>
            <a:off x="22183178" y="10397004"/>
            <a:ext cx="1332632" cy="769441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seizure frequency LLMs</a:t>
            </a: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D966223-3F32-3AD9-AE88-8D88C1DF827C}"/>
              </a:ext>
            </a:extLst>
          </p:cNvPr>
          <p:cNvSpPr/>
          <p:nvPr/>
        </p:nvSpPr>
        <p:spPr>
          <a:xfrm>
            <a:off x="22222559" y="10151835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F98A36F5-3555-C20B-206E-DB363309C635}"/>
              </a:ext>
            </a:extLst>
          </p:cNvPr>
          <p:cNvSpPr/>
          <p:nvPr/>
        </p:nvSpPr>
        <p:spPr>
          <a:xfrm>
            <a:off x="22405112" y="10148837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61EE5611-7487-C204-96AF-F3A02190AC40}"/>
              </a:ext>
            </a:extLst>
          </p:cNvPr>
          <p:cNvSpPr/>
          <p:nvPr/>
        </p:nvSpPr>
        <p:spPr>
          <a:xfrm>
            <a:off x="22240677" y="11731596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CDDDCDFB-00D8-ED12-BF59-0A68E2A31EA8}"/>
              </a:ext>
            </a:extLst>
          </p:cNvPr>
          <p:cNvSpPr/>
          <p:nvPr/>
        </p:nvSpPr>
        <p:spPr>
          <a:xfrm>
            <a:off x="22480389" y="11731596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5BF9F6F5-92CF-B4B0-4470-BD09D37591F1}"/>
              </a:ext>
            </a:extLst>
          </p:cNvPr>
          <p:cNvSpPr/>
          <p:nvPr/>
        </p:nvSpPr>
        <p:spPr>
          <a:xfrm>
            <a:off x="22716133" y="11731596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2FCCCAF-A249-41B4-3151-17DF2EEE2F3F}"/>
              </a:ext>
            </a:extLst>
          </p:cNvPr>
          <p:cNvSpPr/>
          <p:nvPr/>
        </p:nvSpPr>
        <p:spPr>
          <a:xfrm>
            <a:off x="22951877" y="11731596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18FB9060-C832-B6E6-5AAB-E7666D06BCB5}"/>
              </a:ext>
            </a:extLst>
          </p:cNvPr>
          <p:cNvSpPr/>
          <p:nvPr/>
        </p:nvSpPr>
        <p:spPr>
          <a:xfrm>
            <a:off x="22195836" y="11193636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</a:t>
            </a: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289D7156-3C27-C016-934E-AF376CB149F4}"/>
              </a:ext>
            </a:extLst>
          </p:cNvPr>
          <p:cNvCxnSpPr>
            <a:cxnSpLocks/>
            <a:stCxn id="416" idx="3"/>
            <a:endCxn id="418" idx="1"/>
          </p:cNvCxnSpPr>
          <p:nvPr/>
        </p:nvCxnSpPr>
        <p:spPr>
          <a:xfrm flipV="1">
            <a:off x="23528468" y="11417294"/>
            <a:ext cx="823342" cy="11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A16FE40-B769-50B2-DD4A-C4F2DBA8E5A4}"/>
              </a:ext>
            </a:extLst>
          </p:cNvPr>
          <p:cNvSpPr/>
          <p:nvPr/>
        </p:nvSpPr>
        <p:spPr>
          <a:xfrm>
            <a:off x="24351810" y="11181983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 </a:t>
            </a:r>
          </a:p>
        </p:txBody>
      </p:sp>
      <p:cxnSp>
        <p:nvCxnSpPr>
          <p:cNvPr id="419" name="Straight Arrow Connector 418">
            <a:extLst>
              <a:ext uri="{FF2B5EF4-FFF2-40B4-BE49-F238E27FC236}">
                <a16:creationId xmlns:a16="http://schemas.microsoft.com/office/drawing/2014/main" id="{731B84E4-01D4-51F4-4B92-C3FDA9465075}"/>
              </a:ext>
            </a:extLst>
          </p:cNvPr>
          <p:cNvCxnSpPr>
            <a:cxnSpLocks/>
            <a:stCxn id="403" idx="3"/>
            <a:endCxn id="416" idx="1"/>
          </p:cNvCxnSpPr>
          <p:nvPr/>
        </p:nvCxnSpPr>
        <p:spPr>
          <a:xfrm flipV="1">
            <a:off x="21412092" y="11428947"/>
            <a:ext cx="783744" cy="91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Rectangle 419">
            <a:extLst>
              <a:ext uri="{FF2B5EF4-FFF2-40B4-BE49-F238E27FC236}">
                <a16:creationId xmlns:a16="http://schemas.microsoft.com/office/drawing/2014/main" id="{4AE8D3A6-DA18-C06F-DC1B-19CC4480E58A}"/>
              </a:ext>
            </a:extLst>
          </p:cNvPr>
          <p:cNvSpPr/>
          <p:nvPr/>
        </p:nvSpPr>
        <p:spPr>
          <a:xfrm>
            <a:off x="24353441" y="11701112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686A8074-2BA0-C344-20C1-4A45DE0D0D63}"/>
              </a:ext>
            </a:extLst>
          </p:cNvPr>
          <p:cNvSpPr/>
          <p:nvPr/>
        </p:nvSpPr>
        <p:spPr>
          <a:xfrm>
            <a:off x="24607917" y="1170111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CE73AF0F-A51C-CE7B-E804-B8405AE047A4}"/>
              </a:ext>
            </a:extLst>
          </p:cNvPr>
          <p:cNvSpPr/>
          <p:nvPr/>
        </p:nvSpPr>
        <p:spPr>
          <a:xfrm>
            <a:off x="24843661" y="1170111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A017943E-DFB4-EC54-4D39-D0940FB02F1D}"/>
              </a:ext>
            </a:extLst>
          </p:cNvPr>
          <p:cNvSpPr txBox="1"/>
          <p:nvPr/>
        </p:nvSpPr>
        <p:spPr>
          <a:xfrm>
            <a:off x="22221816" y="12472301"/>
            <a:ext cx="1332632" cy="769441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prescriptions LLMs</a:t>
            </a:r>
          </a:p>
        </p:txBody>
      </p:sp>
      <p:sp>
        <p:nvSpPr>
          <p:cNvPr id="426" name="Oval 425">
            <a:extLst>
              <a:ext uri="{FF2B5EF4-FFF2-40B4-BE49-F238E27FC236}">
                <a16:creationId xmlns:a16="http://schemas.microsoft.com/office/drawing/2014/main" id="{C65F00E2-2E0E-8976-ADB5-FE5C5AC08B73}"/>
              </a:ext>
            </a:extLst>
          </p:cNvPr>
          <p:cNvSpPr/>
          <p:nvPr/>
        </p:nvSpPr>
        <p:spPr>
          <a:xfrm>
            <a:off x="22248539" y="12288721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7" name="Oval 426">
            <a:extLst>
              <a:ext uri="{FF2B5EF4-FFF2-40B4-BE49-F238E27FC236}">
                <a16:creationId xmlns:a16="http://schemas.microsoft.com/office/drawing/2014/main" id="{5159A74C-EA45-B682-FB80-B49BF6DEDCB2}"/>
              </a:ext>
            </a:extLst>
          </p:cNvPr>
          <p:cNvSpPr/>
          <p:nvPr/>
        </p:nvSpPr>
        <p:spPr>
          <a:xfrm>
            <a:off x="22431092" y="12285723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AAE0779F-26F4-B42F-CD2D-6C69C653707A}"/>
              </a:ext>
            </a:extLst>
          </p:cNvPr>
          <p:cNvSpPr/>
          <p:nvPr/>
        </p:nvSpPr>
        <p:spPr>
          <a:xfrm>
            <a:off x="22266657" y="13811332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A280F480-6662-A6C8-88F1-2D1BC8B38C7C}"/>
              </a:ext>
            </a:extLst>
          </p:cNvPr>
          <p:cNvSpPr/>
          <p:nvPr/>
        </p:nvSpPr>
        <p:spPr>
          <a:xfrm>
            <a:off x="22506369" y="13811332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C47ED15A-FC28-9B62-6941-EE54A8F41CC9}"/>
              </a:ext>
            </a:extLst>
          </p:cNvPr>
          <p:cNvSpPr/>
          <p:nvPr/>
        </p:nvSpPr>
        <p:spPr>
          <a:xfrm>
            <a:off x="22742113" y="1381133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12E71C54-955D-2D9F-C708-D7C094A773A9}"/>
              </a:ext>
            </a:extLst>
          </p:cNvPr>
          <p:cNvSpPr/>
          <p:nvPr/>
        </p:nvSpPr>
        <p:spPr>
          <a:xfrm>
            <a:off x="22977857" y="1381133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EA153D8A-EB0C-DF0F-BDAB-C60E50373897}"/>
              </a:ext>
            </a:extLst>
          </p:cNvPr>
          <p:cNvSpPr/>
          <p:nvPr/>
        </p:nvSpPr>
        <p:spPr>
          <a:xfrm>
            <a:off x="22221816" y="13273372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</a:t>
            </a: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A62D9944-1044-8090-BDCA-FF4914B3CB33}"/>
              </a:ext>
            </a:extLst>
          </p:cNvPr>
          <p:cNvSpPr/>
          <p:nvPr/>
        </p:nvSpPr>
        <p:spPr>
          <a:xfrm>
            <a:off x="24377790" y="13261719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 </a:t>
            </a: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F89F77A2-6950-8789-22CB-F222975D74EA}"/>
              </a:ext>
            </a:extLst>
          </p:cNvPr>
          <p:cNvSpPr/>
          <p:nvPr/>
        </p:nvSpPr>
        <p:spPr>
          <a:xfrm>
            <a:off x="24379421" y="13780848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9EEC0583-D6DC-6980-3461-09A4D4A1BFE0}"/>
              </a:ext>
            </a:extLst>
          </p:cNvPr>
          <p:cNvSpPr/>
          <p:nvPr/>
        </p:nvSpPr>
        <p:spPr>
          <a:xfrm>
            <a:off x="24633897" y="13780848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5A19B576-E17A-545D-0BDC-E0809F383098}"/>
              </a:ext>
            </a:extLst>
          </p:cNvPr>
          <p:cNvSpPr/>
          <p:nvPr/>
        </p:nvSpPr>
        <p:spPr>
          <a:xfrm>
            <a:off x="24869641" y="13780848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BB7BC619-F187-A3CD-B445-2E8DFC6E4423}"/>
              </a:ext>
            </a:extLst>
          </p:cNvPr>
          <p:cNvCxnSpPr>
            <a:cxnSpLocks/>
            <a:stCxn id="432" idx="3"/>
            <a:endCxn id="433" idx="1"/>
          </p:cNvCxnSpPr>
          <p:nvPr/>
        </p:nvCxnSpPr>
        <p:spPr>
          <a:xfrm flipV="1">
            <a:off x="23554448" y="13497030"/>
            <a:ext cx="823342" cy="11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Arrow Connector 437">
            <a:extLst>
              <a:ext uri="{FF2B5EF4-FFF2-40B4-BE49-F238E27FC236}">
                <a16:creationId xmlns:a16="http://schemas.microsoft.com/office/drawing/2014/main" id="{6620A458-7308-822F-0A41-0F9FDE7DD500}"/>
              </a:ext>
            </a:extLst>
          </p:cNvPr>
          <p:cNvCxnSpPr>
            <a:cxnSpLocks/>
            <a:stCxn id="399" idx="3"/>
            <a:endCxn id="432" idx="1"/>
          </p:cNvCxnSpPr>
          <p:nvPr/>
        </p:nvCxnSpPr>
        <p:spPr>
          <a:xfrm>
            <a:off x="21474589" y="13508145"/>
            <a:ext cx="747227" cy="5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: Elbow 443">
            <a:extLst>
              <a:ext uri="{FF2B5EF4-FFF2-40B4-BE49-F238E27FC236}">
                <a16:creationId xmlns:a16="http://schemas.microsoft.com/office/drawing/2014/main" id="{86D25070-D52C-BAEE-A0F3-E63A0F8F398D}"/>
              </a:ext>
            </a:extLst>
          </p:cNvPr>
          <p:cNvCxnSpPr>
            <a:cxnSpLocks/>
            <a:stCxn id="241" idx="2"/>
            <a:endCxn id="447" idx="1"/>
          </p:cNvCxnSpPr>
          <p:nvPr/>
        </p:nvCxnSpPr>
        <p:spPr>
          <a:xfrm rot="16200000" flipH="1">
            <a:off x="19642016" y="5097885"/>
            <a:ext cx="549811" cy="54461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Rectangle 446">
            <a:extLst>
              <a:ext uri="{FF2B5EF4-FFF2-40B4-BE49-F238E27FC236}">
                <a16:creationId xmlns:a16="http://schemas.microsoft.com/office/drawing/2014/main" id="{1B455218-18B2-3ECA-FC7C-42B36E8715E3}"/>
              </a:ext>
            </a:extLst>
          </p:cNvPr>
          <p:cNvSpPr/>
          <p:nvPr/>
        </p:nvSpPr>
        <p:spPr>
          <a:xfrm>
            <a:off x="22640017" y="7860576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NER with LLMS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8F03EBF5-FAB4-BC07-AEB0-473B9DD9B894}"/>
              </a:ext>
            </a:extLst>
          </p:cNvPr>
          <p:cNvSpPr txBox="1"/>
          <p:nvPr/>
        </p:nvSpPr>
        <p:spPr>
          <a:xfrm>
            <a:off x="24743735" y="6877017"/>
            <a:ext cx="1332632" cy="938719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LLMS biomedicine, clinical notes</a:t>
            </a:r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40991FE8-6C54-6224-C58E-3B724775D2F9}"/>
              </a:ext>
            </a:extLst>
          </p:cNvPr>
          <p:cNvSpPr/>
          <p:nvPr/>
        </p:nvSpPr>
        <p:spPr>
          <a:xfrm>
            <a:off x="24783116" y="6631848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262B94C4-D50D-7571-2818-3140B13B5C79}"/>
              </a:ext>
            </a:extLst>
          </p:cNvPr>
          <p:cNvSpPr/>
          <p:nvPr/>
        </p:nvSpPr>
        <p:spPr>
          <a:xfrm>
            <a:off x="24965669" y="6628850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87E4103E-67EC-38F9-F3D3-E7E16BA20A8E}"/>
              </a:ext>
            </a:extLst>
          </p:cNvPr>
          <p:cNvSpPr/>
          <p:nvPr/>
        </p:nvSpPr>
        <p:spPr>
          <a:xfrm>
            <a:off x="24801234" y="838940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92AD4ADC-817B-E2BD-E48A-A566DE750662}"/>
              </a:ext>
            </a:extLst>
          </p:cNvPr>
          <p:cNvSpPr/>
          <p:nvPr/>
        </p:nvSpPr>
        <p:spPr>
          <a:xfrm>
            <a:off x="25040946" y="8389409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E6AC08E9-09BB-C997-AE69-3FA988AC4586}"/>
              </a:ext>
            </a:extLst>
          </p:cNvPr>
          <p:cNvSpPr/>
          <p:nvPr/>
        </p:nvSpPr>
        <p:spPr>
          <a:xfrm>
            <a:off x="25276690" y="8389409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F4824318-E8B3-336D-C7E5-1D580402B4BE}"/>
              </a:ext>
            </a:extLst>
          </p:cNvPr>
          <p:cNvSpPr/>
          <p:nvPr/>
        </p:nvSpPr>
        <p:spPr>
          <a:xfrm>
            <a:off x="25512434" y="838940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3A04086E-6E3D-1577-5CDE-BE5E3F140046}"/>
              </a:ext>
            </a:extLst>
          </p:cNvPr>
          <p:cNvSpPr/>
          <p:nvPr/>
        </p:nvSpPr>
        <p:spPr>
          <a:xfrm>
            <a:off x="24756393" y="7851449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40</a:t>
            </a:r>
          </a:p>
        </p:txBody>
      </p:sp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1B92765A-44FA-1AA9-4B23-155C361B6967}"/>
              </a:ext>
            </a:extLst>
          </p:cNvPr>
          <p:cNvCxnSpPr>
            <a:cxnSpLocks/>
            <a:stCxn id="455" idx="3"/>
            <a:endCxn id="457" idx="1"/>
          </p:cNvCxnSpPr>
          <p:nvPr/>
        </p:nvCxnSpPr>
        <p:spPr>
          <a:xfrm flipV="1">
            <a:off x="26089025" y="8075107"/>
            <a:ext cx="823342" cy="11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Rectangle 456">
            <a:extLst>
              <a:ext uri="{FF2B5EF4-FFF2-40B4-BE49-F238E27FC236}">
                <a16:creationId xmlns:a16="http://schemas.microsoft.com/office/drawing/2014/main" id="{55C9DCCD-27C4-DA2E-B539-72188636D70C}"/>
              </a:ext>
            </a:extLst>
          </p:cNvPr>
          <p:cNvSpPr/>
          <p:nvPr/>
        </p:nvSpPr>
        <p:spPr>
          <a:xfrm>
            <a:off x="26912367" y="7839796"/>
            <a:ext cx="1417157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relevance :  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B1843BA2-3B60-1554-7C0C-38F5953B60AF}"/>
              </a:ext>
            </a:extLst>
          </p:cNvPr>
          <p:cNvCxnSpPr>
            <a:cxnSpLocks/>
            <a:stCxn id="447" idx="3"/>
            <a:endCxn id="455" idx="1"/>
          </p:cNvCxnSpPr>
          <p:nvPr/>
        </p:nvCxnSpPr>
        <p:spPr>
          <a:xfrm flipV="1">
            <a:off x="23972649" y="8086760"/>
            <a:ext cx="783744" cy="91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F2ED2B3-A0DA-9D86-D6BC-0F5BCA7DE26C}"/>
              </a:ext>
            </a:extLst>
          </p:cNvPr>
          <p:cNvSpPr/>
          <p:nvPr/>
        </p:nvSpPr>
        <p:spPr>
          <a:xfrm>
            <a:off x="26912367" y="838940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FA9C8-BB50-4AE7-213B-8441B6AC3157}"/>
              </a:ext>
            </a:extLst>
          </p:cNvPr>
          <p:cNvSpPr/>
          <p:nvPr/>
        </p:nvSpPr>
        <p:spPr>
          <a:xfrm>
            <a:off x="27152079" y="8389409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EE8FD0-3B18-0B50-2B0E-3A5C4B1CE48E}"/>
              </a:ext>
            </a:extLst>
          </p:cNvPr>
          <p:cNvSpPr/>
          <p:nvPr/>
        </p:nvSpPr>
        <p:spPr>
          <a:xfrm>
            <a:off x="27387823" y="8389409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347CC-9D33-655C-6154-52DAD914C101}"/>
              </a:ext>
            </a:extLst>
          </p:cNvPr>
          <p:cNvSpPr/>
          <p:nvPr/>
        </p:nvSpPr>
        <p:spPr>
          <a:xfrm>
            <a:off x="27623567" y="838940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DB75C98-0AE8-5808-4D36-B113DAF63E21}"/>
              </a:ext>
            </a:extLst>
          </p:cNvPr>
          <p:cNvCxnSpPr>
            <a:cxnSpLocks/>
            <a:stCxn id="41" idx="3"/>
            <a:endCxn id="15" idx="1"/>
          </p:cNvCxnSpPr>
          <p:nvPr/>
        </p:nvCxnSpPr>
        <p:spPr>
          <a:xfrm>
            <a:off x="5259025" y="2289259"/>
            <a:ext cx="6489996" cy="397622"/>
          </a:xfrm>
          <a:prstGeom prst="bentConnector3">
            <a:avLst>
              <a:gd name="adj1" fmla="val 83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2F9ABB5-9EDE-4857-5C25-DD55F50433EC}"/>
              </a:ext>
            </a:extLst>
          </p:cNvPr>
          <p:cNvSpPr/>
          <p:nvPr/>
        </p:nvSpPr>
        <p:spPr>
          <a:xfrm>
            <a:off x="11749021" y="2451570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of articles as per query : 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079322-2C0D-A78D-5A09-DA2E7C0D8861}"/>
              </a:ext>
            </a:extLst>
          </p:cNvPr>
          <p:cNvSpPr txBox="1"/>
          <p:nvPr/>
        </p:nvSpPr>
        <p:spPr>
          <a:xfrm>
            <a:off x="11733331" y="1787566"/>
            <a:ext cx="1319941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seizure frequency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31BCFA-C994-EE22-3D45-7F68DD935F96}"/>
              </a:ext>
            </a:extLst>
          </p:cNvPr>
          <p:cNvSpPr/>
          <p:nvPr/>
        </p:nvSpPr>
        <p:spPr>
          <a:xfrm>
            <a:off x="11754896" y="296547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CD7223-D5FE-F94F-3634-83A6B1BCA003}"/>
              </a:ext>
            </a:extLst>
          </p:cNvPr>
          <p:cNvSpPr/>
          <p:nvPr/>
        </p:nvSpPr>
        <p:spPr>
          <a:xfrm>
            <a:off x="11689259" y="1612177"/>
            <a:ext cx="139700" cy="1433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E1ECD23-C058-5B4E-26EC-BDA800D785DE}"/>
              </a:ext>
            </a:extLst>
          </p:cNvPr>
          <p:cNvSpPr/>
          <p:nvPr/>
        </p:nvSpPr>
        <p:spPr>
          <a:xfrm>
            <a:off x="11871812" y="1606005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DF80A3-2120-03D2-40C2-D3DD64EFE320}"/>
              </a:ext>
            </a:extLst>
          </p:cNvPr>
          <p:cNvSpPr/>
          <p:nvPr/>
        </p:nvSpPr>
        <p:spPr>
          <a:xfrm>
            <a:off x="21039974" y="7562105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63DE32-867C-2F1E-4B26-B693C2F4B33F}"/>
              </a:ext>
            </a:extLst>
          </p:cNvPr>
          <p:cNvSpPr/>
          <p:nvPr/>
        </p:nvSpPr>
        <p:spPr>
          <a:xfrm>
            <a:off x="20794378" y="7562105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09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F850C7-1B40-DE43-0F02-37B08622B50C}"/>
              </a:ext>
            </a:extLst>
          </p:cNvPr>
          <p:cNvSpPr txBox="1"/>
          <p:nvPr/>
        </p:nvSpPr>
        <p:spPr>
          <a:xfrm>
            <a:off x="0" y="0"/>
            <a:ext cx="6830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 for literature review exclusion and inclusion as per topics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8885B9-D669-8FA3-903E-DCF83CB65FF5}"/>
              </a:ext>
            </a:extLst>
          </p:cNvPr>
          <p:cNvSpPr/>
          <p:nvPr/>
        </p:nvSpPr>
        <p:spPr>
          <a:xfrm>
            <a:off x="95483" y="6216933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Terms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06A5C36-075D-75BC-0650-DD400BA8D69D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1428115" y="3034752"/>
            <a:ext cx="625388" cy="34174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2255E66-7D4E-ACFB-9BEE-E9874751E0C7}"/>
              </a:ext>
            </a:extLst>
          </p:cNvPr>
          <p:cNvSpPr/>
          <p:nvPr/>
        </p:nvSpPr>
        <p:spPr>
          <a:xfrm>
            <a:off x="2053503" y="2799441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Epilepsy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7E50-FC8E-A796-D8CA-D9D40482464D}"/>
              </a:ext>
            </a:extLst>
          </p:cNvPr>
          <p:cNvSpPr/>
          <p:nvPr/>
        </p:nvSpPr>
        <p:spPr>
          <a:xfrm>
            <a:off x="2062454" y="8408987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0872185-F5D7-EC83-5815-424F5D4ABC50}"/>
              </a:ext>
            </a:extLst>
          </p:cNvPr>
          <p:cNvCxnSpPr>
            <a:cxnSpLocks/>
            <a:stCxn id="3" idx="3"/>
            <a:endCxn id="16" idx="1"/>
          </p:cNvCxnSpPr>
          <p:nvPr/>
        </p:nvCxnSpPr>
        <p:spPr>
          <a:xfrm>
            <a:off x="1428115" y="6452244"/>
            <a:ext cx="634339" cy="219205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539E2E9-72FD-EEDA-13A9-BE735603ED1D}"/>
              </a:ext>
            </a:extLst>
          </p:cNvPr>
          <p:cNvCxnSpPr>
            <a:cxnSpLocks/>
            <a:stCxn id="12" idx="3"/>
            <a:endCxn id="41" idx="1"/>
          </p:cNvCxnSpPr>
          <p:nvPr/>
        </p:nvCxnSpPr>
        <p:spPr>
          <a:xfrm flipV="1">
            <a:off x="3386135" y="2289259"/>
            <a:ext cx="540258" cy="7454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B1C2D4E-C52C-4B5F-5B17-5A8F5FEFAEE5}"/>
              </a:ext>
            </a:extLst>
          </p:cNvPr>
          <p:cNvSpPr/>
          <p:nvPr/>
        </p:nvSpPr>
        <p:spPr>
          <a:xfrm>
            <a:off x="3926393" y="2053948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2C3F1D0-F5B0-90BA-B8C8-3329B4B8F61B}"/>
              </a:ext>
            </a:extLst>
          </p:cNvPr>
          <p:cNvCxnSpPr>
            <a:cxnSpLocks/>
            <a:stCxn id="12" idx="3"/>
            <a:endCxn id="47" idx="1"/>
          </p:cNvCxnSpPr>
          <p:nvPr/>
        </p:nvCxnSpPr>
        <p:spPr>
          <a:xfrm>
            <a:off x="3386135" y="3034752"/>
            <a:ext cx="565150" cy="137540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505978DD-3280-CE48-1848-1E80485C4997}"/>
              </a:ext>
            </a:extLst>
          </p:cNvPr>
          <p:cNvSpPr/>
          <p:nvPr/>
        </p:nvSpPr>
        <p:spPr>
          <a:xfrm>
            <a:off x="3951285" y="4174848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042AF1B-4125-FBDB-419E-C4BAABF71DDC}"/>
              </a:ext>
            </a:extLst>
          </p:cNvPr>
          <p:cNvCxnSpPr>
            <a:cxnSpLocks/>
            <a:stCxn id="16" idx="3"/>
            <a:endCxn id="52" idx="1"/>
          </p:cNvCxnSpPr>
          <p:nvPr/>
        </p:nvCxnSpPr>
        <p:spPr>
          <a:xfrm flipV="1">
            <a:off x="3395086" y="5946801"/>
            <a:ext cx="609958" cy="269749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5BA109C-EC18-8134-85CB-0358DED5A69F}"/>
              </a:ext>
            </a:extLst>
          </p:cNvPr>
          <p:cNvSpPr/>
          <p:nvPr/>
        </p:nvSpPr>
        <p:spPr>
          <a:xfrm>
            <a:off x="4005044" y="5711490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AB0865DA-4D73-1550-D36E-8904A93517E4}"/>
              </a:ext>
            </a:extLst>
          </p:cNvPr>
          <p:cNvCxnSpPr>
            <a:cxnSpLocks/>
            <a:stCxn id="16" idx="3"/>
            <a:endCxn id="68" idx="1"/>
          </p:cNvCxnSpPr>
          <p:nvPr/>
        </p:nvCxnSpPr>
        <p:spPr>
          <a:xfrm>
            <a:off x="3395086" y="8644298"/>
            <a:ext cx="609958" cy="81207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263452A-FE4B-80DC-1C99-096D296B273C}"/>
              </a:ext>
            </a:extLst>
          </p:cNvPr>
          <p:cNvSpPr/>
          <p:nvPr/>
        </p:nvSpPr>
        <p:spPr>
          <a:xfrm>
            <a:off x="4005044" y="9221066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+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C1DFABF-FBE4-C528-8EDF-9254685A8BA8}"/>
              </a:ext>
            </a:extLst>
          </p:cNvPr>
          <p:cNvSpPr/>
          <p:nvPr/>
        </p:nvSpPr>
        <p:spPr>
          <a:xfrm>
            <a:off x="12793844" y="2794409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16D8C187-E804-076B-E87E-DE993E6BC3B2}"/>
              </a:ext>
            </a:extLst>
          </p:cNvPr>
          <p:cNvCxnSpPr>
            <a:cxnSpLocks/>
            <a:stCxn id="16" idx="3"/>
            <a:endCxn id="193" idx="1"/>
          </p:cNvCxnSpPr>
          <p:nvPr/>
        </p:nvCxnSpPr>
        <p:spPr>
          <a:xfrm>
            <a:off x="3395086" y="8644298"/>
            <a:ext cx="609958" cy="53192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9998C0A-D1F5-5279-FB3B-BE80DD166226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5259025" y="2289259"/>
            <a:ext cx="9046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7F95C11-8FF0-9FBA-BE2C-AEC38A206C10}"/>
              </a:ext>
            </a:extLst>
          </p:cNvPr>
          <p:cNvCxnSpPr>
            <a:cxnSpLocks/>
            <a:stCxn id="52" idx="3"/>
            <a:endCxn id="501" idx="1"/>
          </p:cNvCxnSpPr>
          <p:nvPr/>
        </p:nvCxnSpPr>
        <p:spPr>
          <a:xfrm flipV="1">
            <a:off x="5337676" y="5938969"/>
            <a:ext cx="915570" cy="7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E4734C2-E11F-0883-9A48-00615CDE2A3B}"/>
              </a:ext>
            </a:extLst>
          </p:cNvPr>
          <p:cNvSpPr txBox="1"/>
          <p:nvPr/>
        </p:nvSpPr>
        <p:spPr>
          <a:xfrm>
            <a:off x="6179869" y="1223804"/>
            <a:ext cx="2792327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epilepsy, Definitions of epilepsy,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in epilepsy, Classification of epilepsy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75063B7-693B-732C-592B-B30659A05EC5}"/>
              </a:ext>
            </a:extLst>
          </p:cNvPr>
          <p:cNvSpPr txBox="1"/>
          <p:nvPr/>
        </p:nvSpPr>
        <p:spPr>
          <a:xfrm>
            <a:off x="25957764" y="369333"/>
            <a:ext cx="2233094" cy="1107996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tool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                 -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                  -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PubMed              - 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    -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10CD35D-C03B-2FCD-C8C0-37D194B29825}"/>
              </a:ext>
            </a:extLst>
          </p:cNvPr>
          <p:cNvSpPr/>
          <p:nvPr/>
        </p:nvSpPr>
        <p:spPr>
          <a:xfrm>
            <a:off x="27481648" y="573266"/>
            <a:ext cx="418953" cy="133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D1F3707-2962-FE79-5999-1273F9FA7EA6}"/>
              </a:ext>
            </a:extLst>
          </p:cNvPr>
          <p:cNvSpPr/>
          <p:nvPr/>
        </p:nvSpPr>
        <p:spPr>
          <a:xfrm>
            <a:off x="27481649" y="752465"/>
            <a:ext cx="418953" cy="1333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F589F95-1AA2-0E64-3142-97B7C3890248}"/>
              </a:ext>
            </a:extLst>
          </p:cNvPr>
          <p:cNvSpPr/>
          <p:nvPr/>
        </p:nvSpPr>
        <p:spPr>
          <a:xfrm>
            <a:off x="27481650" y="925210"/>
            <a:ext cx="418953" cy="13335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EEBE131-EE38-623E-5D77-94890478C161}"/>
              </a:ext>
            </a:extLst>
          </p:cNvPr>
          <p:cNvSpPr/>
          <p:nvPr/>
        </p:nvSpPr>
        <p:spPr>
          <a:xfrm>
            <a:off x="27481651" y="1085967"/>
            <a:ext cx="418953" cy="133350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A1C24BA-7B18-73B8-C2AB-C5C678AC3E54}"/>
              </a:ext>
            </a:extLst>
          </p:cNvPr>
          <p:cNvSpPr/>
          <p:nvPr/>
        </p:nvSpPr>
        <p:spPr>
          <a:xfrm>
            <a:off x="6197836" y="1880771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D7FE018-5B71-3785-0F5F-29D1E2EF057C}"/>
              </a:ext>
            </a:extLst>
          </p:cNvPr>
          <p:cNvSpPr/>
          <p:nvPr/>
        </p:nvSpPr>
        <p:spPr>
          <a:xfrm>
            <a:off x="6437548" y="1880771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5387C5F-2B02-3F5C-057E-9B1479059435}"/>
              </a:ext>
            </a:extLst>
          </p:cNvPr>
          <p:cNvSpPr/>
          <p:nvPr/>
        </p:nvSpPr>
        <p:spPr>
          <a:xfrm>
            <a:off x="6673292" y="1880771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CC93546-B254-0734-A0B4-6B90D1A80283}"/>
              </a:ext>
            </a:extLst>
          </p:cNvPr>
          <p:cNvSpPr/>
          <p:nvPr/>
        </p:nvSpPr>
        <p:spPr>
          <a:xfrm>
            <a:off x="6909036" y="1880771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4A4452F-612A-D761-9AEE-FB320B242688}"/>
              </a:ext>
            </a:extLst>
          </p:cNvPr>
          <p:cNvSpPr/>
          <p:nvPr/>
        </p:nvSpPr>
        <p:spPr>
          <a:xfrm>
            <a:off x="7032429" y="2549504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C8B8971-9D6D-56F4-FFF6-781A00ED7237}"/>
              </a:ext>
            </a:extLst>
          </p:cNvPr>
          <p:cNvSpPr/>
          <p:nvPr/>
        </p:nvSpPr>
        <p:spPr>
          <a:xfrm>
            <a:off x="7268173" y="254950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72165AB-234B-97E5-31F3-E7A75E65F677}"/>
              </a:ext>
            </a:extLst>
          </p:cNvPr>
          <p:cNvSpPr txBox="1"/>
          <p:nvPr/>
        </p:nvSpPr>
        <p:spPr>
          <a:xfrm>
            <a:off x="23525714" y="369333"/>
            <a:ext cx="2233094" cy="1107996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Type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 -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          - 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EAB24D5-DB1B-40CC-F9F2-F7DC88EFFB21}"/>
              </a:ext>
            </a:extLst>
          </p:cNvPr>
          <p:cNvSpPr/>
          <p:nvPr/>
        </p:nvSpPr>
        <p:spPr>
          <a:xfrm>
            <a:off x="24415750" y="605915"/>
            <a:ext cx="139700" cy="1433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383CC99-641E-C390-8AA1-4F34A2321AA3}"/>
              </a:ext>
            </a:extLst>
          </p:cNvPr>
          <p:cNvSpPr/>
          <p:nvPr/>
        </p:nvSpPr>
        <p:spPr>
          <a:xfrm>
            <a:off x="24415750" y="801422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CCBFC5DE-3DDD-CF26-03A8-E1D3E7F3E0DC}"/>
              </a:ext>
            </a:extLst>
          </p:cNvPr>
          <p:cNvSpPr/>
          <p:nvPr/>
        </p:nvSpPr>
        <p:spPr>
          <a:xfrm>
            <a:off x="6163692" y="1006664"/>
            <a:ext cx="139700" cy="1433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6B9F52C-CE1C-9FAD-678C-A651AE98185D}"/>
              </a:ext>
            </a:extLst>
          </p:cNvPr>
          <p:cNvSpPr/>
          <p:nvPr/>
        </p:nvSpPr>
        <p:spPr>
          <a:xfrm>
            <a:off x="6459675" y="7490082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19E23FC-56A6-9A8B-A053-6C5D9B575EBC}"/>
              </a:ext>
            </a:extLst>
          </p:cNvPr>
          <p:cNvSpPr/>
          <p:nvPr/>
        </p:nvSpPr>
        <p:spPr>
          <a:xfrm>
            <a:off x="6418288" y="9224729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+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Epilepsy 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939DFF9-7EF2-7C0D-F66D-5FDEFB752426}"/>
              </a:ext>
            </a:extLst>
          </p:cNvPr>
          <p:cNvSpPr/>
          <p:nvPr/>
        </p:nvSpPr>
        <p:spPr>
          <a:xfrm>
            <a:off x="6434755" y="12089121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Notes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4ABECAC-26E1-C1E6-3E04-43DBFB1E5CF2}"/>
              </a:ext>
            </a:extLst>
          </p:cNvPr>
          <p:cNvSpPr/>
          <p:nvPr/>
        </p:nvSpPr>
        <p:spPr>
          <a:xfrm>
            <a:off x="7822608" y="13212695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clinical Notes</a:t>
            </a:r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1207CCA6-F3F3-9150-E1E5-A47D2D2F8F36}"/>
              </a:ext>
            </a:extLst>
          </p:cNvPr>
          <p:cNvCxnSpPr>
            <a:cxnSpLocks/>
            <a:stCxn id="68" idx="3"/>
            <a:endCxn id="169" idx="1"/>
          </p:cNvCxnSpPr>
          <p:nvPr/>
        </p:nvCxnSpPr>
        <p:spPr>
          <a:xfrm flipV="1">
            <a:off x="5337676" y="7725393"/>
            <a:ext cx="1121999" cy="1730984"/>
          </a:xfrm>
          <a:prstGeom prst="bentConnector3">
            <a:avLst>
              <a:gd name="adj1" fmla="val 483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FA4514A7-0FFF-D43A-64C1-88E70A749E79}"/>
              </a:ext>
            </a:extLst>
          </p:cNvPr>
          <p:cNvCxnSpPr>
            <a:cxnSpLocks/>
            <a:stCxn id="68" idx="3"/>
            <a:endCxn id="171" idx="1"/>
          </p:cNvCxnSpPr>
          <p:nvPr/>
        </p:nvCxnSpPr>
        <p:spPr>
          <a:xfrm>
            <a:off x="5337676" y="9456377"/>
            <a:ext cx="1097079" cy="286805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3A7D1D9F-5D8F-DEF2-7070-57FF0A1F7F6C}"/>
              </a:ext>
            </a:extLst>
          </p:cNvPr>
          <p:cNvCxnSpPr>
            <a:cxnSpLocks/>
            <a:stCxn id="171" idx="2"/>
            <a:endCxn id="175" idx="1"/>
          </p:cNvCxnSpPr>
          <p:nvPr/>
        </p:nvCxnSpPr>
        <p:spPr>
          <a:xfrm rot="16200000" flipH="1">
            <a:off x="7017707" y="12643105"/>
            <a:ext cx="888264" cy="7215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0AC7A530-1B0C-699A-385A-9189EED1C11A}"/>
              </a:ext>
            </a:extLst>
          </p:cNvPr>
          <p:cNvCxnSpPr>
            <a:cxnSpLocks/>
            <a:stCxn id="169" idx="3"/>
            <a:endCxn id="510" idx="1"/>
          </p:cNvCxnSpPr>
          <p:nvPr/>
        </p:nvCxnSpPr>
        <p:spPr>
          <a:xfrm flipV="1">
            <a:off x="7792307" y="7722561"/>
            <a:ext cx="413429" cy="2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B60CEE22-096E-6737-0C54-AD0CC61C8E65}"/>
              </a:ext>
            </a:extLst>
          </p:cNvPr>
          <p:cNvCxnSpPr>
            <a:cxnSpLocks/>
            <a:stCxn id="170" idx="3"/>
            <a:endCxn id="73" idx="1"/>
          </p:cNvCxnSpPr>
          <p:nvPr/>
        </p:nvCxnSpPr>
        <p:spPr>
          <a:xfrm flipV="1">
            <a:off x="7750920" y="9452276"/>
            <a:ext cx="447454" cy="7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8BDE3BE1-49C5-2597-04D1-05274C5FC96A}"/>
              </a:ext>
            </a:extLst>
          </p:cNvPr>
          <p:cNvCxnSpPr>
            <a:cxnSpLocks/>
            <a:stCxn id="68" idx="3"/>
            <a:endCxn id="170" idx="1"/>
          </p:cNvCxnSpPr>
          <p:nvPr/>
        </p:nvCxnSpPr>
        <p:spPr>
          <a:xfrm>
            <a:off x="5337676" y="9456377"/>
            <a:ext cx="1080612" cy="366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7F7684BF-67A2-46B3-CC48-4C2D70F925E6}"/>
              </a:ext>
            </a:extLst>
          </p:cNvPr>
          <p:cNvCxnSpPr>
            <a:cxnSpLocks/>
            <a:stCxn id="74" idx="3"/>
            <a:endCxn id="239" idx="1"/>
          </p:cNvCxnSpPr>
          <p:nvPr/>
        </p:nvCxnSpPr>
        <p:spPr>
          <a:xfrm flipV="1">
            <a:off x="14126476" y="2414698"/>
            <a:ext cx="481053" cy="615022"/>
          </a:xfrm>
          <a:prstGeom prst="bentConnector3">
            <a:avLst>
              <a:gd name="adj1" fmla="val 5264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A78A5E6-C1D7-33E5-28DB-28F769F80F9A}"/>
              </a:ext>
            </a:extLst>
          </p:cNvPr>
          <p:cNvSpPr/>
          <p:nvPr/>
        </p:nvSpPr>
        <p:spPr>
          <a:xfrm>
            <a:off x="14607529" y="2179387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65C2626A-29D2-0AF1-B7A0-90F7FBC1BFF3}"/>
              </a:ext>
            </a:extLst>
          </p:cNvPr>
          <p:cNvSpPr/>
          <p:nvPr/>
        </p:nvSpPr>
        <p:spPr>
          <a:xfrm>
            <a:off x="14636695" y="5743374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in health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26AA929-9960-1912-A74E-52B52FA6213B}"/>
              </a:ext>
            </a:extLst>
          </p:cNvPr>
          <p:cNvSpPr/>
          <p:nvPr/>
        </p:nvSpPr>
        <p:spPr>
          <a:xfrm>
            <a:off x="14636695" y="3889819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cxnSp>
        <p:nvCxnSpPr>
          <p:cNvPr id="243" name="Connector: Elbow 242">
            <a:extLst>
              <a:ext uri="{FF2B5EF4-FFF2-40B4-BE49-F238E27FC236}">
                <a16:creationId xmlns:a16="http://schemas.microsoft.com/office/drawing/2014/main" id="{7D29E94D-68E2-3ADE-8EF8-5A2AAA22C786}"/>
              </a:ext>
            </a:extLst>
          </p:cNvPr>
          <p:cNvCxnSpPr>
            <a:cxnSpLocks/>
            <a:stCxn id="171" idx="0"/>
            <a:endCxn id="247" idx="1"/>
          </p:cNvCxnSpPr>
          <p:nvPr/>
        </p:nvCxnSpPr>
        <p:spPr>
          <a:xfrm rot="5400000" flipH="1" flipV="1">
            <a:off x="6940189" y="11290777"/>
            <a:ext cx="959226" cy="63746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ectangle 246">
            <a:extLst>
              <a:ext uri="{FF2B5EF4-FFF2-40B4-BE49-F238E27FC236}">
                <a16:creationId xmlns:a16="http://schemas.microsoft.com/office/drawing/2014/main" id="{EC53EB22-6D0B-CF97-F494-A02DB6BA7B12}"/>
              </a:ext>
            </a:extLst>
          </p:cNvPr>
          <p:cNvSpPr/>
          <p:nvPr/>
        </p:nvSpPr>
        <p:spPr>
          <a:xfrm>
            <a:off x="7738533" y="10894584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6B156AFF-C115-F8FB-7C49-72DDCCA8CA1E}"/>
              </a:ext>
            </a:extLst>
          </p:cNvPr>
          <p:cNvCxnSpPr>
            <a:cxnSpLocks/>
            <a:stCxn id="247" idx="3"/>
            <a:endCxn id="92" idx="1"/>
          </p:cNvCxnSpPr>
          <p:nvPr/>
        </p:nvCxnSpPr>
        <p:spPr>
          <a:xfrm flipV="1">
            <a:off x="9071165" y="11123444"/>
            <a:ext cx="408703" cy="64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AA03F304-634F-22E2-9AF5-79FB2712D722}"/>
              </a:ext>
            </a:extLst>
          </p:cNvPr>
          <p:cNvCxnSpPr>
            <a:cxnSpLocks/>
            <a:stCxn id="175" idx="3"/>
            <a:endCxn id="109" idx="1"/>
          </p:cNvCxnSpPr>
          <p:nvPr/>
        </p:nvCxnSpPr>
        <p:spPr>
          <a:xfrm flipV="1">
            <a:off x="9155240" y="13439924"/>
            <a:ext cx="357751" cy="8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Rectangle 300">
            <a:extLst>
              <a:ext uri="{FF2B5EF4-FFF2-40B4-BE49-F238E27FC236}">
                <a16:creationId xmlns:a16="http://schemas.microsoft.com/office/drawing/2014/main" id="{97F39844-7633-4BD8-1071-8C37AE58882D}"/>
              </a:ext>
            </a:extLst>
          </p:cNvPr>
          <p:cNvSpPr/>
          <p:nvPr/>
        </p:nvSpPr>
        <p:spPr>
          <a:xfrm>
            <a:off x="14719924" y="8580613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in epilepsy</a:t>
            </a:r>
          </a:p>
        </p:txBody>
      </p: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366019F1-FCA6-0C1C-73DA-EBBEDA36065C}"/>
              </a:ext>
            </a:extLst>
          </p:cNvPr>
          <p:cNvCxnSpPr>
            <a:cxnSpLocks/>
            <a:stCxn id="239" idx="3"/>
            <a:endCxn id="123" idx="1"/>
          </p:cNvCxnSpPr>
          <p:nvPr/>
        </p:nvCxnSpPr>
        <p:spPr>
          <a:xfrm flipV="1">
            <a:off x="15940161" y="2400981"/>
            <a:ext cx="902182" cy="137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: Elbow 331">
            <a:extLst>
              <a:ext uri="{FF2B5EF4-FFF2-40B4-BE49-F238E27FC236}">
                <a16:creationId xmlns:a16="http://schemas.microsoft.com/office/drawing/2014/main" id="{053D7111-D48A-4384-A4CC-4C207E07D74C}"/>
              </a:ext>
            </a:extLst>
          </p:cNvPr>
          <p:cNvCxnSpPr>
            <a:cxnSpLocks/>
            <a:stCxn id="74" idx="3"/>
            <a:endCxn id="242" idx="1"/>
          </p:cNvCxnSpPr>
          <p:nvPr/>
        </p:nvCxnSpPr>
        <p:spPr>
          <a:xfrm>
            <a:off x="14126476" y="3029720"/>
            <a:ext cx="510219" cy="10954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4F622245-64C3-43A6-2AE5-AEDCF3AB02F8}"/>
              </a:ext>
            </a:extLst>
          </p:cNvPr>
          <p:cNvCxnSpPr>
            <a:cxnSpLocks/>
            <a:stCxn id="74" idx="3"/>
            <a:endCxn id="241" idx="1"/>
          </p:cNvCxnSpPr>
          <p:nvPr/>
        </p:nvCxnSpPr>
        <p:spPr>
          <a:xfrm>
            <a:off x="14126476" y="3029720"/>
            <a:ext cx="510219" cy="29489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: Elbow 338">
            <a:extLst>
              <a:ext uri="{FF2B5EF4-FFF2-40B4-BE49-F238E27FC236}">
                <a16:creationId xmlns:a16="http://schemas.microsoft.com/office/drawing/2014/main" id="{AC7B970F-D1A8-C002-02D7-377673D8150C}"/>
              </a:ext>
            </a:extLst>
          </p:cNvPr>
          <p:cNvCxnSpPr>
            <a:cxnSpLocks/>
            <a:stCxn id="74" idx="3"/>
            <a:endCxn id="301" idx="1"/>
          </p:cNvCxnSpPr>
          <p:nvPr/>
        </p:nvCxnSpPr>
        <p:spPr>
          <a:xfrm>
            <a:off x="14126476" y="3029720"/>
            <a:ext cx="593448" cy="5786204"/>
          </a:xfrm>
          <a:prstGeom prst="bentConnector3">
            <a:avLst>
              <a:gd name="adj1" fmla="val 4358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4A629F55-3181-5BE2-0E43-7C2F43DFD8F0}"/>
              </a:ext>
            </a:extLst>
          </p:cNvPr>
          <p:cNvCxnSpPr>
            <a:cxnSpLocks/>
            <a:stCxn id="242" idx="3"/>
            <a:endCxn id="172" idx="1"/>
          </p:cNvCxnSpPr>
          <p:nvPr/>
        </p:nvCxnSpPr>
        <p:spPr>
          <a:xfrm flipV="1">
            <a:off x="15969327" y="4117636"/>
            <a:ext cx="885192" cy="74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Arrow Connector 370">
            <a:extLst>
              <a:ext uri="{FF2B5EF4-FFF2-40B4-BE49-F238E27FC236}">
                <a16:creationId xmlns:a16="http://schemas.microsoft.com/office/drawing/2014/main" id="{9703B65D-484A-0A6C-FAF2-33A64B0748B0}"/>
              </a:ext>
            </a:extLst>
          </p:cNvPr>
          <p:cNvCxnSpPr>
            <a:cxnSpLocks/>
            <a:stCxn id="241" idx="3"/>
          </p:cNvCxnSpPr>
          <p:nvPr/>
        </p:nvCxnSpPr>
        <p:spPr>
          <a:xfrm flipV="1">
            <a:off x="15969327" y="5969700"/>
            <a:ext cx="755981" cy="8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ED38310B-4774-F246-5B01-76D6AD4F0027}"/>
              </a:ext>
            </a:extLst>
          </p:cNvPr>
          <p:cNvCxnSpPr>
            <a:cxnSpLocks/>
            <a:stCxn id="301" idx="3"/>
            <a:endCxn id="291" idx="1"/>
          </p:cNvCxnSpPr>
          <p:nvPr/>
        </p:nvCxnSpPr>
        <p:spPr>
          <a:xfrm>
            <a:off x="16052556" y="8815924"/>
            <a:ext cx="806228" cy="1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: Elbow 392">
            <a:extLst>
              <a:ext uri="{FF2B5EF4-FFF2-40B4-BE49-F238E27FC236}">
                <a16:creationId xmlns:a16="http://schemas.microsoft.com/office/drawing/2014/main" id="{2A53E329-8294-56B2-024B-5C0871D05F53}"/>
              </a:ext>
            </a:extLst>
          </p:cNvPr>
          <p:cNvCxnSpPr>
            <a:cxnSpLocks/>
            <a:stCxn id="301" idx="3"/>
            <a:endCxn id="395" idx="1"/>
          </p:cNvCxnSpPr>
          <p:nvPr/>
        </p:nvCxnSpPr>
        <p:spPr>
          <a:xfrm>
            <a:off x="16052556" y="8815924"/>
            <a:ext cx="1098883" cy="148323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Rectangle 394">
            <a:extLst>
              <a:ext uri="{FF2B5EF4-FFF2-40B4-BE49-F238E27FC236}">
                <a16:creationId xmlns:a16="http://schemas.microsoft.com/office/drawing/2014/main" id="{E701BCC0-19C1-23A2-9F3F-2923C4549387}"/>
              </a:ext>
            </a:extLst>
          </p:cNvPr>
          <p:cNvSpPr/>
          <p:nvPr/>
        </p:nvSpPr>
        <p:spPr>
          <a:xfrm>
            <a:off x="17151439" y="10063845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NER in epilepsy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7289BAB-7586-57E8-2068-CACC9456E9CA}"/>
              </a:ext>
            </a:extLst>
          </p:cNvPr>
          <p:cNvSpPr/>
          <p:nvPr/>
        </p:nvSpPr>
        <p:spPr>
          <a:xfrm>
            <a:off x="18878958" y="11625469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Prescriptions</a:t>
            </a:r>
          </a:p>
        </p:txBody>
      </p:sp>
      <p:cxnSp>
        <p:nvCxnSpPr>
          <p:cNvPr id="400" name="Connector: Elbow 399">
            <a:extLst>
              <a:ext uri="{FF2B5EF4-FFF2-40B4-BE49-F238E27FC236}">
                <a16:creationId xmlns:a16="http://schemas.microsoft.com/office/drawing/2014/main" id="{7E572A84-FD9F-B590-A9B4-C72F38A601DB}"/>
              </a:ext>
            </a:extLst>
          </p:cNvPr>
          <p:cNvCxnSpPr>
            <a:cxnSpLocks/>
            <a:stCxn id="395" idx="3"/>
            <a:endCxn id="399" idx="1"/>
          </p:cNvCxnSpPr>
          <p:nvPr/>
        </p:nvCxnSpPr>
        <p:spPr>
          <a:xfrm>
            <a:off x="18484071" y="10299156"/>
            <a:ext cx="394887" cy="1561624"/>
          </a:xfrm>
          <a:prstGeom prst="bentConnector3">
            <a:avLst>
              <a:gd name="adj1" fmla="val 4035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Rectangle 402">
            <a:extLst>
              <a:ext uri="{FF2B5EF4-FFF2-40B4-BE49-F238E27FC236}">
                <a16:creationId xmlns:a16="http://schemas.microsoft.com/office/drawing/2014/main" id="{20B03DAA-4898-2E50-4B2C-1A277DF8B255}"/>
              </a:ext>
            </a:extLst>
          </p:cNvPr>
          <p:cNvSpPr/>
          <p:nvPr/>
        </p:nvSpPr>
        <p:spPr>
          <a:xfrm>
            <a:off x="18803761" y="9402998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Seizure frequency</a:t>
            </a:r>
          </a:p>
        </p:txBody>
      </p:sp>
      <p:cxnSp>
        <p:nvCxnSpPr>
          <p:cNvPr id="404" name="Connector: Elbow 403">
            <a:extLst>
              <a:ext uri="{FF2B5EF4-FFF2-40B4-BE49-F238E27FC236}">
                <a16:creationId xmlns:a16="http://schemas.microsoft.com/office/drawing/2014/main" id="{E3B55BE6-06B2-7154-D3D7-C47CA6C3355C}"/>
              </a:ext>
            </a:extLst>
          </p:cNvPr>
          <p:cNvCxnSpPr>
            <a:cxnSpLocks/>
            <a:stCxn id="395" idx="3"/>
            <a:endCxn id="403" idx="1"/>
          </p:cNvCxnSpPr>
          <p:nvPr/>
        </p:nvCxnSpPr>
        <p:spPr>
          <a:xfrm flipV="1">
            <a:off x="18484071" y="9638309"/>
            <a:ext cx="319690" cy="66084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: Elbow 443">
            <a:extLst>
              <a:ext uri="{FF2B5EF4-FFF2-40B4-BE49-F238E27FC236}">
                <a16:creationId xmlns:a16="http://schemas.microsoft.com/office/drawing/2014/main" id="{86D25070-D52C-BAEE-A0F3-E63A0F8F398D}"/>
              </a:ext>
            </a:extLst>
          </p:cNvPr>
          <p:cNvCxnSpPr>
            <a:cxnSpLocks/>
            <a:stCxn id="74" idx="3"/>
            <a:endCxn id="447" idx="1"/>
          </p:cNvCxnSpPr>
          <p:nvPr/>
        </p:nvCxnSpPr>
        <p:spPr>
          <a:xfrm>
            <a:off x="14126476" y="3029720"/>
            <a:ext cx="525361" cy="43536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Rectangle 446">
            <a:extLst>
              <a:ext uri="{FF2B5EF4-FFF2-40B4-BE49-F238E27FC236}">
                <a16:creationId xmlns:a16="http://schemas.microsoft.com/office/drawing/2014/main" id="{1B455218-18B2-3ECA-FC7C-42B36E8715E3}"/>
              </a:ext>
            </a:extLst>
          </p:cNvPr>
          <p:cNvSpPr/>
          <p:nvPr/>
        </p:nvSpPr>
        <p:spPr>
          <a:xfrm>
            <a:off x="14651837" y="7148025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NER with LLMS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21951B-E1D1-1BE0-9FC9-B9FDE47EF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060065"/>
              </p:ext>
            </p:extLst>
          </p:nvPr>
        </p:nvGraphicFramePr>
        <p:xfrm>
          <a:off x="6188915" y="2001368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5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AC6EE305-E2AF-5EFC-D862-9D0BEF9243D2}"/>
              </a:ext>
            </a:extLst>
          </p:cNvPr>
          <p:cNvSpPr txBox="1"/>
          <p:nvPr/>
        </p:nvSpPr>
        <p:spPr>
          <a:xfrm>
            <a:off x="6253246" y="3554349"/>
            <a:ext cx="2616460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 Epilepsy statistics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3F5CB41-D035-F756-28B0-14BD1714306B}"/>
              </a:ext>
            </a:extLst>
          </p:cNvPr>
          <p:cNvSpPr/>
          <p:nvPr/>
        </p:nvSpPr>
        <p:spPr>
          <a:xfrm>
            <a:off x="6243139" y="3355680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F58717F-8906-751E-265F-2DB42606D25E}"/>
              </a:ext>
            </a:extLst>
          </p:cNvPr>
          <p:cNvSpPr/>
          <p:nvPr/>
        </p:nvSpPr>
        <p:spPr>
          <a:xfrm>
            <a:off x="7033601" y="470688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DFAB7C-B4AD-5C9C-A74D-3F74554F5CFC}"/>
              </a:ext>
            </a:extLst>
          </p:cNvPr>
          <p:cNvSpPr/>
          <p:nvPr/>
        </p:nvSpPr>
        <p:spPr>
          <a:xfrm>
            <a:off x="7269345" y="470688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B50F503-9C00-4E07-B73F-428EC94F4835}"/>
              </a:ext>
            </a:extLst>
          </p:cNvPr>
          <p:cNvSpPr/>
          <p:nvPr/>
        </p:nvSpPr>
        <p:spPr>
          <a:xfrm>
            <a:off x="6253427" y="4041307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80692C1-7855-C5D6-ECDB-C902F773AACE}"/>
              </a:ext>
            </a:extLst>
          </p:cNvPr>
          <p:cNvSpPr/>
          <p:nvPr/>
        </p:nvSpPr>
        <p:spPr>
          <a:xfrm>
            <a:off x="6493139" y="4041307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E386A9E-B021-D69A-A8F8-10CD533A6E7A}"/>
              </a:ext>
            </a:extLst>
          </p:cNvPr>
          <p:cNvSpPr/>
          <p:nvPr/>
        </p:nvSpPr>
        <p:spPr>
          <a:xfrm>
            <a:off x="6728883" y="4041307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11A69D-81AF-7707-11B2-E744667FD979}"/>
              </a:ext>
            </a:extLst>
          </p:cNvPr>
          <p:cNvSpPr/>
          <p:nvPr/>
        </p:nvSpPr>
        <p:spPr>
          <a:xfrm>
            <a:off x="6964627" y="4041307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2A20944-5C19-0235-8B80-E9BEB0FBDB6C}"/>
              </a:ext>
            </a:extLst>
          </p:cNvPr>
          <p:cNvCxnSpPr>
            <a:cxnSpLocks/>
            <a:stCxn id="47" idx="3"/>
            <a:endCxn id="463" idx="1"/>
          </p:cNvCxnSpPr>
          <p:nvPr/>
        </p:nvCxnSpPr>
        <p:spPr>
          <a:xfrm flipV="1">
            <a:off x="5283917" y="4406582"/>
            <a:ext cx="969329" cy="3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3" name="Table 462">
            <a:extLst>
              <a:ext uri="{FF2B5EF4-FFF2-40B4-BE49-F238E27FC236}">
                <a16:creationId xmlns:a16="http://schemas.microsoft.com/office/drawing/2014/main" id="{AB1D50F4-0D2E-2544-B3E1-52734211B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932083"/>
              </p:ext>
            </p:extLst>
          </p:nvPr>
        </p:nvGraphicFramePr>
        <p:xfrm>
          <a:off x="6253246" y="4147502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2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467" name="TextBox 466">
            <a:extLst>
              <a:ext uri="{FF2B5EF4-FFF2-40B4-BE49-F238E27FC236}">
                <a16:creationId xmlns:a16="http://schemas.microsoft.com/office/drawing/2014/main" id="{4EAA066C-310C-9F0A-34A0-06F573FE88F3}"/>
              </a:ext>
            </a:extLst>
          </p:cNvPr>
          <p:cNvSpPr txBox="1"/>
          <p:nvPr/>
        </p:nvSpPr>
        <p:spPr>
          <a:xfrm>
            <a:off x="20510453" y="8638062"/>
            <a:ext cx="2656281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frequency, clinical notes, importance of seizure frequency</a:t>
            </a: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E8F7E28A-A2A5-CC66-904B-FDF01BFC7AE5}"/>
              </a:ext>
            </a:extLst>
          </p:cNvPr>
          <p:cNvSpPr/>
          <p:nvPr/>
        </p:nvSpPr>
        <p:spPr>
          <a:xfrm>
            <a:off x="21290808" y="9942995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C408562C-57C4-6BC6-42D7-16F8E1C53A5E}"/>
              </a:ext>
            </a:extLst>
          </p:cNvPr>
          <p:cNvSpPr/>
          <p:nvPr/>
        </p:nvSpPr>
        <p:spPr>
          <a:xfrm>
            <a:off x="21526552" y="9942995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451D47CC-3220-2E92-A762-7EC763EF77DD}"/>
              </a:ext>
            </a:extLst>
          </p:cNvPr>
          <p:cNvSpPr/>
          <p:nvPr/>
        </p:nvSpPr>
        <p:spPr>
          <a:xfrm>
            <a:off x="20510634" y="9277420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736DCE76-D724-460F-F9CC-8DB739C9210A}"/>
              </a:ext>
            </a:extLst>
          </p:cNvPr>
          <p:cNvSpPr/>
          <p:nvPr/>
        </p:nvSpPr>
        <p:spPr>
          <a:xfrm>
            <a:off x="20750346" y="9277420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F076D0E9-CEA4-B493-F9CD-98DEBBBF4542}"/>
              </a:ext>
            </a:extLst>
          </p:cNvPr>
          <p:cNvSpPr/>
          <p:nvPr/>
        </p:nvSpPr>
        <p:spPr>
          <a:xfrm>
            <a:off x="20986090" y="9277420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DDFE143-ED77-673E-5DCA-5A85B0E4AEAB}"/>
              </a:ext>
            </a:extLst>
          </p:cNvPr>
          <p:cNvSpPr/>
          <p:nvPr/>
        </p:nvSpPr>
        <p:spPr>
          <a:xfrm>
            <a:off x="21221834" y="9277420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75" name="Table 474">
            <a:extLst>
              <a:ext uri="{FF2B5EF4-FFF2-40B4-BE49-F238E27FC236}">
                <a16:creationId xmlns:a16="http://schemas.microsoft.com/office/drawing/2014/main" id="{4BEC5FA4-9FB6-C821-3D81-EB1843C01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47782"/>
              </p:ext>
            </p:extLst>
          </p:nvPr>
        </p:nvGraphicFramePr>
        <p:xfrm>
          <a:off x="20510453" y="9383615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5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E6E0C09D-6FCA-3D5D-D65C-52B08CA91889}"/>
              </a:ext>
            </a:extLst>
          </p:cNvPr>
          <p:cNvCxnSpPr>
            <a:cxnSpLocks/>
            <a:stCxn id="403" idx="3"/>
            <a:endCxn id="475" idx="1"/>
          </p:cNvCxnSpPr>
          <p:nvPr/>
        </p:nvCxnSpPr>
        <p:spPr>
          <a:xfrm>
            <a:off x="20136393" y="9638309"/>
            <a:ext cx="374060" cy="43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15F5E301-B4E8-BF05-8604-B67A15EF9046}"/>
              </a:ext>
            </a:extLst>
          </p:cNvPr>
          <p:cNvSpPr txBox="1"/>
          <p:nvPr/>
        </p:nvSpPr>
        <p:spPr>
          <a:xfrm>
            <a:off x="20586247" y="10854359"/>
            <a:ext cx="2568404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medicine prescriptions from clinical notes, extract interventions</a:t>
            </a: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C1168721-0131-E819-F9E2-83712704AC23}"/>
              </a:ext>
            </a:extLst>
          </p:cNvPr>
          <p:cNvSpPr/>
          <p:nvPr/>
        </p:nvSpPr>
        <p:spPr>
          <a:xfrm>
            <a:off x="21373746" y="1215929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D7AE990D-A829-B8D6-76B8-FD17CB1EA2C8}"/>
              </a:ext>
            </a:extLst>
          </p:cNvPr>
          <p:cNvSpPr/>
          <p:nvPr/>
        </p:nvSpPr>
        <p:spPr>
          <a:xfrm>
            <a:off x="20586428" y="11493717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2F22B78F-9978-A7CA-7998-B1606652F23F}"/>
              </a:ext>
            </a:extLst>
          </p:cNvPr>
          <p:cNvSpPr/>
          <p:nvPr/>
        </p:nvSpPr>
        <p:spPr>
          <a:xfrm>
            <a:off x="20826140" y="11493717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7A28B716-E3DF-6641-1756-BA7EF6132A9A}"/>
              </a:ext>
            </a:extLst>
          </p:cNvPr>
          <p:cNvSpPr/>
          <p:nvPr/>
        </p:nvSpPr>
        <p:spPr>
          <a:xfrm>
            <a:off x="21061884" y="11493717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255AA17-CB78-B53D-861C-82C4A904756C}"/>
              </a:ext>
            </a:extLst>
          </p:cNvPr>
          <p:cNvSpPr/>
          <p:nvPr/>
        </p:nvSpPr>
        <p:spPr>
          <a:xfrm>
            <a:off x="21297628" y="11493717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87" name="Table 486">
            <a:extLst>
              <a:ext uri="{FF2B5EF4-FFF2-40B4-BE49-F238E27FC236}">
                <a16:creationId xmlns:a16="http://schemas.microsoft.com/office/drawing/2014/main" id="{4A226D5F-5A93-A49D-66D8-DFA53A7B1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651245"/>
              </p:ext>
            </p:extLst>
          </p:nvPr>
        </p:nvGraphicFramePr>
        <p:xfrm>
          <a:off x="20586247" y="11599912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4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530E4696-B924-B682-0219-62B867E9FE18}"/>
              </a:ext>
            </a:extLst>
          </p:cNvPr>
          <p:cNvCxnSpPr>
            <a:cxnSpLocks/>
            <a:stCxn id="399" idx="3"/>
            <a:endCxn id="487" idx="1"/>
          </p:cNvCxnSpPr>
          <p:nvPr/>
        </p:nvCxnSpPr>
        <p:spPr>
          <a:xfrm flipV="1">
            <a:off x="20211590" y="11858992"/>
            <a:ext cx="374657" cy="1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Oval 488">
            <a:extLst>
              <a:ext uri="{FF2B5EF4-FFF2-40B4-BE49-F238E27FC236}">
                <a16:creationId xmlns:a16="http://schemas.microsoft.com/office/drawing/2014/main" id="{39E8E7B4-A971-4312-4D39-CFE177E945C0}"/>
              </a:ext>
            </a:extLst>
          </p:cNvPr>
          <p:cNvSpPr/>
          <p:nvPr/>
        </p:nvSpPr>
        <p:spPr>
          <a:xfrm>
            <a:off x="20524929" y="8456000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0" name="Oval 489">
            <a:extLst>
              <a:ext uri="{FF2B5EF4-FFF2-40B4-BE49-F238E27FC236}">
                <a16:creationId xmlns:a16="http://schemas.microsoft.com/office/drawing/2014/main" id="{4962F0CD-8955-3AE9-F748-7BC887EF6BC9}"/>
              </a:ext>
            </a:extLst>
          </p:cNvPr>
          <p:cNvSpPr/>
          <p:nvPr/>
        </p:nvSpPr>
        <p:spPr>
          <a:xfrm>
            <a:off x="20625552" y="10598387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BABE7D8D-0860-552C-A4D2-BC18807CDA9D}"/>
              </a:ext>
            </a:extLst>
          </p:cNvPr>
          <p:cNvSpPr txBox="1"/>
          <p:nvPr/>
        </p:nvSpPr>
        <p:spPr>
          <a:xfrm>
            <a:off x="6253246" y="5086736"/>
            <a:ext cx="2643979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definition of natural language processing</a:t>
            </a: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DA7CC0D4-1CA6-CC88-CA30-71E5D406F1A5}"/>
              </a:ext>
            </a:extLst>
          </p:cNvPr>
          <p:cNvSpPr/>
          <p:nvPr/>
        </p:nvSpPr>
        <p:spPr>
          <a:xfrm>
            <a:off x="7055985" y="623926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84714FD8-EDB5-8358-E142-631F78B4D8D6}"/>
              </a:ext>
            </a:extLst>
          </p:cNvPr>
          <p:cNvSpPr/>
          <p:nvPr/>
        </p:nvSpPr>
        <p:spPr>
          <a:xfrm>
            <a:off x="6253427" y="5573694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759062CD-6556-93BF-33C7-41BA9B4222C1}"/>
              </a:ext>
            </a:extLst>
          </p:cNvPr>
          <p:cNvSpPr/>
          <p:nvPr/>
        </p:nvSpPr>
        <p:spPr>
          <a:xfrm>
            <a:off x="6493139" y="5573694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22449181-5289-5F7E-C116-E52BA10F576B}"/>
              </a:ext>
            </a:extLst>
          </p:cNvPr>
          <p:cNvSpPr/>
          <p:nvPr/>
        </p:nvSpPr>
        <p:spPr>
          <a:xfrm>
            <a:off x="6728883" y="5573694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D27E2F0A-FC0A-A081-B48C-54BF33A32F1F}"/>
              </a:ext>
            </a:extLst>
          </p:cNvPr>
          <p:cNvSpPr/>
          <p:nvPr/>
        </p:nvSpPr>
        <p:spPr>
          <a:xfrm>
            <a:off x="6964627" y="557369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01" name="Table 500">
            <a:extLst>
              <a:ext uri="{FF2B5EF4-FFF2-40B4-BE49-F238E27FC236}">
                <a16:creationId xmlns:a16="http://schemas.microsoft.com/office/drawing/2014/main" id="{EF051EE9-AC3A-E8BA-7173-85919B2A2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959280"/>
              </p:ext>
            </p:extLst>
          </p:nvPr>
        </p:nvGraphicFramePr>
        <p:xfrm>
          <a:off x="6253246" y="5679889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3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503" name="Oval 502">
            <a:extLst>
              <a:ext uri="{FF2B5EF4-FFF2-40B4-BE49-F238E27FC236}">
                <a16:creationId xmlns:a16="http://schemas.microsoft.com/office/drawing/2014/main" id="{81DE4AE7-C9E7-3ACC-F839-FD5867BC7CD2}"/>
              </a:ext>
            </a:extLst>
          </p:cNvPr>
          <p:cNvSpPr/>
          <p:nvPr/>
        </p:nvSpPr>
        <p:spPr>
          <a:xfrm>
            <a:off x="6276581" y="4886021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6F2CFBDF-4924-F510-7822-0860168BCAEA}"/>
              </a:ext>
            </a:extLst>
          </p:cNvPr>
          <p:cNvSpPr txBox="1"/>
          <p:nvPr/>
        </p:nvSpPr>
        <p:spPr>
          <a:xfrm>
            <a:off x="8205736" y="6870328"/>
            <a:ext cx="2643979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NLP in healthcare, Applications of NLP in healthcare</a:t>
            </a: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872E8AED-D563-ECC4-3CC7-629B7255D3CC}"/>
              </a:ext>
            </a:extLst>
          </p:cNvPr>
          <p:cNvSpPr/>
          <p:nvPr/>
        </p:nvSpPr>
        <p:spPr>
          <a:xfrm>
            <a:off x="8205917" y="7357286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314CDED2-59B5-6635-B3C7-09938B2AA9C6}"/>
              </a:ext>
            </a:extLst>
          </p:cNvPr>
          <p:cNvSpPr/>
          <p:nvPr/>
        </p:nvSpPr>
        <p:spPr>
          <a:xfrm>
            <a:off x="8445629" y="7357286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F3EF03C9-60A2-9211-5A18-44B471A2A45B}"/>
              </a:ext>
            </a:extLst>
          </p:cNvPr>
          <p:cNvSpPr/>
          <p:nvPr/>
        </p:nvSpPr>
        <p:spPr>
          <a:xfrm>
            <a:off x="8681373" y="7357286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F39C4FCF-F28A-72CF-CB90-711509B554DB}"/>
              </a:ext>
            </a:extLst>
          </p:cNvPr>
          <p:cNvSpPr/>
          <p:nvPr/>
        </p:nvSpPr>
        <p:spPr>
          <a:xfrm>
            <a:off x="8917117" y="7357286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10" name="Table 509">
            <a:extLst>
              <a:ext uri="{FF2B5EF4-FFF2-40B4-BE49-F238E27FC236}">
                <a16:creationId xmlns:a16="http://schemas.microsoft.com/office/drawing/2014/main" id="{623A06F6-88D7-54D0-90BC-DB1CA6EBC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948071"/>
              </p:ext>
            </p:extLst>
          </p:nvPr>
        </p:nvGraphicFramePr>
        <p:xfrm>
          <a:off x="8205736" y="7463481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8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511" name="Oval 510">
            <a:extLst>
              <a:ext uri="{FF2B5EF4-FFF2-40B4-BE49-F238E27FC236}">
                <a16:creationId xmlns:a16="http://schemas.microsoft.com/office/drawing/2014/main" id="{BACB6507-87EA-DF53-613B-631C09D27B18}"/>
              </a:ext>
            </a:extLst>
          </p:cNvPr>
          <p:cNvSpPr/>
          <p:nvPr/>
        </p:nvSpPr>
        <p:spPr>
          <a:xfrm>
            <a:off x="8229071" y="6669613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11FC38-34BE-2B88-36A0-28570107595B}"/>
              </a:ext>
            </a:extLst>
          </p:cNvPr>
          <p:cNvSpPr txBox="1"/>
          <p:nvPr/>
        </p:nvSpPr>
        <p:spPr>
          <a:xfrm>
            <a:off x="8198374" y="8775303"/>
            <a:ext cx="2643979" cy="261610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NLP in epilepsy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C3749C0-D3A3-F73D-8771-9BB0FD87780C}"/>
              </a:ext>
            </a:extLst>
          </p:cNvPr>
          <p:cNvSpPr/>
          <p:nvPr/>
        </p:nvSpPr>
        <p:spPr>
          <a:xfrm>
            <a:off x="9197963" y="9752576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AF2F57A-DBE8-1566-97DB-258FB5AAFF27}"/>
              </a:ext>
            </a:extLst>
          </p:cNvPr>
          <p:cNvSpPr/>
          <p:nvPr/>
        </p:nvSpPr>
        <p:spPr>
          <a:xfrm>
            <a:off x="8198555" y="9087001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624EA48-4003-09CA-9296-B5651484743F}"/>
              </a:ext>
            </a:extLst>
          </p:cNvPr>
          <p:cNvSpPr/>
          <p:nvPr/>
        </p:nvSpPr>
        <p:spPr>
          <a:xfrm>
            <a:off x="8438267" y="9087001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80EB2DB-AF93-C285-334C-EC21A4005993}"/>
              </a:ext>
            </a:extLst>
          </p:cNvPr>
          <p:cNvSpPr/>
          <p:nvPr/>
        </p:nvSpPr>
        <p:spPr>
          <a:xfrm>
            <a:off x="8674011" y="9087001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606898D-ED30-3FE9-659B-C527A7911634}"/>
              </a:ext>
            </a:extLst>
          </p:cNvPr>
          <p:cNvSpPr/>
          <p:nvPr/>
        </p:nvSpPr>
        <p:spPr>
          <a:xfrm>
            <a:off x="8909755" y="9087001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713C7198-DF10-191C-D5FC-19C2D7EC4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80418"/>
              </p:ext>
            </p:extLst>
          </p:nvPr>
        </p:nvGraphicFramePr>
        <p:xfrm>
          <a:off x="8198374" y="9193196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5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76" name="Oval 75">
            <a:extLst>
              <a:ext uri="{FF2B5EF4-FFF2-40B4-BE49-F238E27FC236}">
                <a16:creationId xmlns:a16="http://schemas.microsoft.com/office/drawing/2014/main" id="{020EFFA1-AAF2-0C4D-504E-885253E01DB8}"/>
              </a:ext>
            </a:extLst>
          </p:cNvPr>
          <p:cNvSpPr/>
          <p:nvPr/>
        </p:nvSpPr>
        <p:spPr>
          <a:xfrm>
            <a:off x="8221709" y="8574588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AC994EB-D46A-519A-6C52-3FC3E718CEA5}"/>
              </a:ext>
            </a:extLst>
          </p:cNvPr>
          <p:cNvSpPr/>
          <p:nvPr/>
        </p:nvSpPr>
        <p:spPr>
          <a:xfrm>
            <a:off x="8989406" y="8020532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241F43B-0198-23A1-F077-914BCEE465AE}"/>
              </a:ext>
            </a:extLst>
          </p:cNvPr>
          <p:cNvSpPr/>
          <p:nvPr/>
        </p:nvSpPr>
        <p:spPr>
          <a:xfrm>
            <a:off x="9229118" y="8020532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5FE69E7-8003-F4A0-23D0-A32EC6EA9ECC}"/>
              </a:ext>
            </a:extLst>
          </p:cNvPr>
          <p:cNvSpPr/>
          <p:nvPr/>
        </p:nvSpPr>
        <p:spPr>
          <a:xfrm>
            <a:off x="9464862" y="802053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A05CBF8-3F2D-C520-56A5-6FD72FCCBEFF}"/>
              </a:ext>
            </a:extLst>
          </p:cNvPr>
          <p:cNvSpPr/>
          <p:nvPr/>
        </p:nvSpPr>
        <p:spPr>
          <a:xfrm>
            <a:off x="9700606" y="802053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530D25F-1739-4B70-5174-8F2BC60F5E88}"/>
              </a:ext>
            </a:extLst>
          </p:cNvPr>
          <p:cNvSpPr/>
          <p:nvPr/>
        </p:nvSpPr>
        <p:spPr>
          <a:xfrm>
            <a:off x="8959614" y="9753419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13CE56-40A2-89CC-7A92-104F176DB00C}"/>
              </a:ext>
            </a:extLst>
          </p:cNvPr>
          <p:cNvSpPr txBox="1"/>
          <p:nvPr/>
        </p:nvSpPr>
        <p:spPr>
          <a:xfrm>
            <a:off x="9481829" y="10269061"/>
            <a:ext cx="2656281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What are clinical notes, origins of clinical notes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8800DED-69E2-4D68-8B97-B4B798A1CBAD}"/>
              </a:ext>
            </a:extLst>
          </p:cNvPr>
          <p:cNvSpPr/>
          <p:nvPr/>
        </p:nvSpPr>
        <p:spPr>
          <a:xfrm>
            <a:off x="10273717" y="1142374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9DE08E-EF2A-AB6F-A692-45BD6EF8714A}"/>
              </a:ext>
            </a:extLst>
          </p:cNvPr>
          <p:cNvSpPr/>
          <p:nvPr/>
        </p:nvSpPr>
        <p:spPr>
          <a:xfrm>
            <a:off x="9480049" y="1076451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431058F-DEB2-35A5-D655-09DD8D9A6D48}"/>
              </a:ext>
            </a:extLst>
          </p:cNvPr>
          <p:cNvSpPr/>
          <p:nvPr/>
        </p:nvSpPr>
        <p:spPr>
          <a:xfrm>
            <a:off x="9719761" y="10764519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A26F820-DCB5-7A3D-4936-C0C1137F78B9}"/>
              </a:ext>
            </a:extLst>
          </p:cNvPr>
          <p:cNvSpPr/>
          <p:nvPr/>
        </p:nvSpPr>
        <p:spPr>
          <a:xfrm>
            <a:off x="9955505" y="10764519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0E5DD31-6391-53E4-C736-47BBAB048215}"/>
              </a:ext>
            </a:extLst>
          </p:cNvPr>
          <p:cNvSpPr/>
          <p:nvPr/>
        </p:nvSpPr>
        <p:spPr>
          <a:xfrm>
            <a:off x="10191249" y="1076451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F89D3ACC-3C49-F716-CD16-6E11620AB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89468"/>
              </p:ext>
            </p:extLst>
          </p:nvPr>
        </p:nvGraphicFramePr>
        <p:xfrm>
          <a:off x="9479868" y="10864364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2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93" name="Oval 92">
            <a:extLst>
              <a:ext uri="{FF2B5EF4-FFF2-40B4-BE49-F238E27FC236}">
                <a16:creationId xmlns:a16="http://schemas.microsoft.com/office/drawing/2014/main" id="{A170C093-A751-83A6-DAF3-FE889AAE9241}"/>
              </a:ext>
            </a:extLst>
          </p:cNvPr>
          <p:cNvSpPr/>
          <p:nvPr/>
        </p:nvSpPr>
        <p:spPr>
          <a:xfrm>
            <a:off x="9503203" y="10074306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30FB7AB-AC47-6D3D-F015-81DE13F8A114}"/>
              </a:ext>
            </a:extLst>
          </p:cNvPr>
          <p:cNvSpPr txBox="1"/>
          <p:nvPr/>
        </p:nvSpPr>
        <p:spPr>
          <a:xfrm>
            <a:off x="9514952" y="12585541"/>
            <a:ext cx="2656281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Generate Synthetic clinical notes, automated clinical coding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DA17231-7C16-DB85-4E9B-0C784C7974B0}"/>
              </a:ext>
            </a:extLst>
          </p:cNvPr>
          <p:cNvSpPr/>
          <p:nvPr/>
        </p:nvSpPr>
        <p:spPr>
          <a:xfrm>
            <a:off x="10314460" y="1374022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5E178C7-3FDE-1EFE-28DF-1F80A0B10EF3}"/>
              </a:ext>
            </a:extLst>
          </p:cNvPr>
          <p:cNvSpPr/>
          <p:nvPr/>
        </p:nvSpPr>
        <p:spPr>
          <a:xfrm>
            <a:off x="9513172" y="1308099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327D40B-D409-68C5-73E1-D0D849DF8DAE}"/>
              </a:ext>
            </a:extLst>
          </p:cNvPr>
          <p:cNvSpPr/>
          <p:nvPr/>
        </p:nvSpPr>
        <p:spPr>
          <a:xfrm>
            <a:off x="9752884" y="13080999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BBC974C-D8DB-A913-261A-0E88D5EFDF08}"/>
              </a:ext>
            </a:extLst>
          </p:cNvPr>
          <p:cNvSpPr/>
          <p:nvPr/>
        </p:nvSpPr>
        <p:spPr>
          <a:xfrm>
            <a:off x="9988628" y="13080999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CF64AAA-A411-927D-467E-5F231B1D49EB}"/>
              </a:ext>
            </a:extLst>
          </p:cNvPr>
          <p:cNvSpPr/>
          <p:nvPr/>
        </p:nvSpPr>
        <p:spPr>
          <a:xfrm>
            <a:off x="10224372" y="1308099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9" name="Table 108">
            <a:extLst>
              <a:ext uri="{FF2B5EF4-FFF2-40B4-BE49-F238E27FC236}">
                <a16:creationId xmlns:a16="http://schemas.microsoft.com/office/drawing/2014/main" id="{C54F3501-BD9B-E6A6-8BD4-D9B275525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952553"/>
              </p:ext>
            </p:extLst>
          </p:nvPr>
        </p:nvGraphicFramePr>
        <p:xfrm>
          <a:off x="9512991" y="13180844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4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110" name="Oval 109">
            <a:extLst>
              <a:ext uri="{FF2B5EF4-FFF2-40B4-BE49-F238E27FC236}">
                <a16:creationId xmlns:a16="http://schemas.microsoft.com/office/drawing/2014/main" id="{D789E50C-8DC0-EC31-70DC-88494DDA8B6F}"/>
              </a:ext>
            </a:extLst>
          </p:cNvPr>
          <p:cNvSpPr/>
          <p:nvPr/>
        </p:nvSpPr>
        <p:spPr>
          <a:xfrm>
            <a:off x="9536326" y="12390786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78AA63C-9B7F-5E13-2A54-FE850D826F24}"/>
              </a:ext>
            </a:extLst>
          </p:cNvPr>
          <p:cNvSpPr txBox="1"/>
          <p:nvPr/>
        </p:nvSpPr>
        <p:spPr>
          <a:xfrm>
            <a:off x="16844304" y="1546598"/>
            <a:ext cx="2656281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Attention is all you need, origin of transformers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02C6E62-8246-2098-8038-B20D182F5A64}"/>
              </a:ext>
            </a:extLst>
          </p:cNvPr>
          <p:cNvSpPr/>
          <p:nvPr/>
        </p:nvSpPr>
        <p:spPr>
          <a:xfrm>
            <a:off x="17643812" y="2701281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72E8FCD-766D-5805-1EC8-CAC318BD25E3}"/>
              </a:ext>
            </a:extLst>
          </p:cNvPr>
          <p:cNvSpPr/>
          <p:nvPr/>
        </p:nvSpPr>
        <p:spPr>
          <a:xfrm>
            <a:off x="16842524" y="2042056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2F889D5-E7CF-C628-0455-7AEDA8F3D56E}"/>
              </a:ext>
            </a:extLst>
          </p:cNvPr>
          <p:cNvSpPr/>
          <p:nvPr/>
        </p:nvSpPr>
        <p:spPr>
          <a:xfrm>
            <a:off x="17082236" y="2042056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079C19B-2F90-D7D4-E8E5-467E4B5932A0}"/>
              </a:ext>
            </a:extLst>
          </p:cNvPr>
          <p:cNvSpPr/>
          <p:nvPr/>
        </p:nvSpPr>
        <p:spPr>
          <a:xfrm>
            <a:off x="17317980" y="2042056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2D2F5BF-EFF2-A62C-CDE5-9475455AB11D}"/>
              </a:ext>
            </a:extLst>
          </p:cNvPr>
          <p:cNvSpPr/>
          <p:nvPr/>
        </p:nvSpPr>
        <p:spPr>
          <a:xfrm>
            <a:off x="17553724" y="2042056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8DA786D9-BC6A-C7E0-BD12-1B9ED5CE0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043435"/>
              </p:ext>
            </p:extLst>
          </p:nvPr>
        </p:nvGraphicFramePr>
        <p:xfrm>
          <a:off x="16842343" y="2141901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11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126" name="Oval 125">
            <a:extLst>
              <a:ext uri="{FF2B5EF4-FFF2-40B4-BE49-F238E27FC236}">
                <a16:creationId xmlns:a16="http://schemas.microsoft.com/office/drawing/2014/main" id="{761DD526-B48E-27E4-EC40-5E36671E6210}"/>
              </a:ext>
            </a:extLst>
          </p:cNvPr>
          <p:cNvSpPr/>
          <p:nvPr/>
        </p:nvSpPr>
        <p:spPr>
          <a:xfrm>
            <a:off x="16865678" y="1351843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16EE370-AB7F-568F-DD0A-09E82499AEF6}"/>
              </a:ext>
            </a:extLst>
          </p:cNvPr>
          <p:cNvSpPr txBox="1"/>
          <p:nvPr/>
        </p:nvSpPr>
        <p:spPr>
          <a:xfrm>
            <a:off x="16856480" y="3114663"/>
            <a:ext cx="2656281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Foundation models origin, GPU computing in machine learning, foundation models in healthcare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6759615-0A64-2DF3-6E89-75EE801073A9}"/>
              </a:ext>
            </a:extLst>
          </p:cNvPr>
          <p:cNvSpPr/>
          <p:nvPr/>
        </p:nvSpPr>
        <p:spPr>
          <a:xfrm>
            <a:off x="17889075" y="441531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7F52539-868D-5FEF-7E39-0329C91985D4}"/>
              </a:ext>
            </a:extLst>
          </p:cNvPr>
          <p:cNvSpPr/>
          <p:nvPr/>
        </p:nvSpPr>
        <p:spPr>
          <a:xfrm>
            <a:off x="16854700" y="3758711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58FBBCF-8102-49FA-CE4C-5CF197927C1B}"/>
              </a:ext>
            </a:extLst>
          </p:cNvPr>
          <p:cNvSpPr/>
          <p:nvPr/>
        </p:nvSpPr>
        <p:spPr>
          <a:xfrm>
            <a:off x="17094412" y="3758711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5162E0A-9E8A-3D49-0CD3-D4456CDDBB76}"/>
              </a:ext>
            </a:extLst>
          </p:cNvPr>
          <p:cNvSpPr/>
          <p:nvPr/>
        </p:nvSpPr>
        <p:spPr>
          <a:xfrm>
            <a:off x="17330156" y="3758711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41A419B0-A625-4E03-9F46-5E35121246B2}"/>
              </a:ext>
            </a:extLst>
          </p:cNvPr>
          <p:cNvSpPr/>
          <p:nvPr/>
        </p:nvSpPr>
        <p:spPr>
          <a:xfrm>
            <a:off x="17565900" y="3758711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72" name="Table 171">
            <a:extLst>
              <a:ext uri="{FF2B5EF4-FFF2-40B4-BE49-F238E27FC236}">
                <a16:creationId xmlns:a16="http://schemas.microsoft.com/office/drawing/2014/main" id="{6CC815F3-A5F1-5AE8-72BA-CE1FC2C88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698985"/>
              </p:ext>
            </p:extLst>
          </p:nvPr>
        </p:nvGraphicFramePr>
        <p:xfrm>
          <a:off x="16854519" y="3858556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4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173" name="Oval 172">
            <a:extLst>
              <a:ext uri="{FF2B5EF4-FFF2-40B4-BE49-F238E27FC236}">
                <a16:creationId xmlns:a16="http://schemas.microsoft.com/office/drawing/2014/main" id="{A1CACD63-960A-F984-4F83-942F7920C54D}"/>
              </a:ext>
            </a:extLst>
          </p:cNvPr>
          <p:cNvSpPr/>
          <p:nvPr/>
        </p:nvSpPr>
        <p:spPr>
          <a:xfrm>
            <a:off x="16877854" y="2935148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F8182B71-FBED-9003-4D17-C8B9B5A64958}"/>
              </a:ext>
            </a:extLst>
          </p:cNvPr>
          <p:cNvSpPr/>
          <p:nvPr/>
        </p:nvSpPr>
        <p:spPr>
          <a:xfrm>
            <a:off x="17639844" y="441326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3595A617-E6FF-0964-C287-8A502D26B2DE}"/>
              </a:ext>
            </a:extLst>
          </p:cNvPr>
          <p:cNvSpPr txBox="1"/>
          <p:nvPr/>
        </p:nvSpPr>
        <p:spPr>
          <a:xfrm>
            <a:off x="16764429" y="5316784"/>
            <a:ext cx="2656281" cy="261610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 language models in healthcare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6E8F35C3-C66C-2853-36F1-D0AE70AF1F66}"/>
              </a:ext>
            </a:extLst>
          </p:cNvPr>
          <p:cNvSpPr/>
          <p:nvPr/>
        </p:nvSpPr>
        <p:spPr>
          <a:xfrm>
            <a:off x="17784324" y="6297395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D5C1123-95DF-0C05-D5CD-D594A823ED1C}"/>
              </a:ext>
            </a:extLst>
          </p:cNvPr>
          <p:cNvSpPr/>
          <p:nvPr/>
        </p:nvSpPr>
        <p:spPr>
          <a:xfrm>
            <a:off x="16762649" y="5640792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6EA1474-E60B-394A-695D-D99058E1D57A}"/>
              </a:ext>
            </a:extLst>
          </p:cNvPr>
          <p:cNvSpPr/>
          <p:nvPr/>
        </p:nvSpPr>
        <p:spPr>
          <a:xfrm>
            <a:off x="17002361" y="5640792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D01AA987-0B86-A1A9-3635-3C213D15B9BA}"/>
              </a:ext>
            </a:extLst>
          </p:cNvPr>
          <p:cNvSpPr/>
          <p:nvPr/>
        </p:nvSpPr>
        <p:spPr>
          <a:xfrm>
            <a:off x="17238105" y="564079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88E01BF1-4EED-63B4-33C0-156A097607E5}"/>
              </a:ext>
            </a:extLst>
          </p:cNvPr>
          <p:cNvSpPr/>
          <p:nvPr/>
        </p:nvSpPr>
        <p:spPr>
          <a:xfrm>
            <a:off x="17473849" y="564079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90" name="Table 189">
            <a:extLst>
              <a:ext uri="{FF2B5EF4-FFF2-40B4-BE49-F238E27FC236}">
                <a16:creationId xmlns:a16="http://schemas.microsoft.com/office/drawing/2014/main" id="{E742160C-2334-4C5B-39E3-B14B41254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329600"/>
              </p:ext>
            </p:extLst>
          </p:nvPr>
        </p:nvGraphicFramePr>
        <p:xfrm>
          <a:off x="16762468" y="5740637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3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191" name="Oval 190">
            <a:extLst>
              <a:ext uri="{FF2B5EF4-FFF2-40B4-BE49-F238E27FC236}">
                <a16:creationId xmlns:a16="http://schemas.microsoft.com/office/drawing/2014/main" id="{AA0653B0-620E-5255-A7CE-EB39ADF4FA0B}"/>
              </a:ext>
            </a:extLst>
          </p:cNvPr>
          <p:cNvSpPr/>
          <p:nvPr/>
        </p:nvSpPr>
        <p:spPr>
          <a:xfrm>
            <a:off x="16785803" y="5091549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C187E715-10D0-551F-E812-FB3200B659EE}"/>
              </a:ext>
            </a:extLst>
          </p:cNvPr>
          <p:cNvSpPr/>
          <p:nvPr/>
        </p:nvSpPr>
        <p:spPr>
          <a:xfrm>
            <a:off x="17547793" y="6295350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159B619-901A-60B0-7271-9896A7FAFABA}"/>
              </a:ext>
            </a:extLst>
          </p:cNvPr>
          <p:cNvSpPr/>
          <p:nvPr/>
        </p:nvSpPr>
        <p:spPr>
          <a:xfrm>
            <a:off x="4005044" y="13639655"/>
            <a:ext cx="1610934" cy="647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+ Information Extraction</a:t>
            </a:r>
          </a:p>
        </p:txBody>
      </p: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2455CEF6-B6E1-38AF-D780-070D2A9DCF3A}"/>
              </a:ext>
            </a:extLst>
          </p:cNvPr>
          <p:cNvCxnSpPr>
            <a:cxnSpLocks/>
            <a:stCxn id="193" idx="3"/>
            <a:endCxn id="74" idx="1"/>
          </p:cNvCxnSpPr>
          <p:nvPr/>
        </p:nvCxnSpPr>
        <p:spPr>
          <a:xfrm flipV="1">
            <a:off x="5615978" y="3029720"/>
            <a:ext cx="7177866" cy="10933858"/>
          </a:xfrm>
          <a:prstGeom prst="bentConnector3">
            <a:avLst>
              <a:gd name="adj1" fmla="val 9731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:a16="http://schemas.microsoft.com/office/drawing/2014/main" id="{2AD507E5-8A79-6920-3E3B-832E6F1E90F1}"/>
              </a:ext>
            </a:extLst>
          </p:cNvPr>
          <p:cNvSpPr txBox="1"/>
          <p:nvPr/>
        </p:nvSpPr>
        <p:spPr>
          <a:xfrm>
            <a:off x="16860745" y="8124985"/>
            <a:ext cx="2656281" cy="261610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 language models in epilepsy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D3EFD66E-3A7A-3108-2247-A7A04A4A28B3}"/>
              </a:ext>
            </a:extLst>
          </p:cNvPr>
          <p:cNvSpPr/>
          <p:nvPr/>
        </p:nvSpPr>
        <p:spPr>
          <a:xfrm>
            <a:off x="18118765" y="9119566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E74538F0-80CD-E869-49B4-1C2D3FF70FE9}"/>
              </a:ext>
            </a:extLst>
          </p:cNvPr>
          <p:cNvSpPr/>
          <p:nvPr/>
        </p:nvSpPr>
        <p:spPr>
          <a:xfrm>
            <a:off x="16858965" y="8448993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0CE173BF-AEB4-3A48-B88E-B678DD107B97}"/>
              </a:ext>
            </a:extLst>
          </p:cNvPr>
          <p:cNvSpPr/>
          <p:nvPr/>
        </p:nvSpPr>
        <p:spPr>
          <a:xfrm>
            <a:off x="17098677" y="8448993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E1F75175-E9EA-28FB-DA53-FEBAB36DB479}"/>
              </a:ext>
            </a:extLst>
          </p:cNvPr>
          <p:cNvSpPr/>
          <p:nvPr/>
        </p:nvSpPr>
        <p:spPr>
          <a:xfrm>
            <a:off x="17334421" y="8448993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26CDA497-EE72-9A0B-0BDB-6A2C67F95227}"/>
              </a:ext>
            </a:extLst>
          </p:cNvPr>
          <p:cNvSpPr/>
          <p:nvPr/>
        </p:nvSpPr>
        <p:spPr>
          <a:xfrm>
            <a:off x="17570165" y="8448993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91" name="Table 290">
            <a:extLst>
              <a:ext uri="{FF2B5EF4-FFF2-40B4-BE49-F238E27FC236}">
                <a16:creationId xmlns:a16="http://schemas.microsoft.com/office/drawing/2014/main" id="{C55EFB20-606E-888D-4C78-B23DE2147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61107"/>
              </p:ext>
            </p:extLst>
          </p:nvPr>
        </p:nvGraphicFramePr>
        <p:xfrm>
          <a:off x="16858784" y="8567499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7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292" name="Oval 291">
            <a:extLst>
              <a:ext uri="{FF2B5EF4-FFF2-40B4-BE49-F238E27FC236}">
                <a16:creationId xmlns:a16="http://schemas.microsoft.com/office/drawing/2014/main" id="{05811EDB-D95D-D3F6-6221-29269A73D3E4}"/>
              </a:ext>
            </a:extLst>
          </p:cNvPr>
          <p:cNvSpPr/>
          <p:nvPr/>
        </p:nvSpPr>
        <p:spPr>
          <a:xfrm>
            <a:off x="16882119" y="7899750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7BFEA602-821E-51B4-0708-2DA4E14E36A5}"/>
              </a:ext>
            </a:extLst>
          </p:cNvPr>
          <p:cNvSpPr/>
          <p:nvPr/>
        </p:nvSpPr>
        <p:spPr>
          <a:xfrm>
            <a:off x="17644109" y="9123871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5365DD6-B218-A207-995D-E8BEB4CF876B}"/>
              </a:ext>
            </a:extLst>
          </p:cNvPr>
          <p:cNvSpPr/>
          <p:nvPr/>
        </p:nvSpPr>
        <p:spPr>
          <a:xfrm>
            <a:off x="12812266" y="12356028"/>
            <a:ext cx="1610934" cy="647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78F0A643-52C4-B5E6-9E09-675A171AE2AF}"/>
              </a:ext>
            </a:extLst>
          </p:cNvPr>
          <p:cNvSpPr/>
          <p:nvPr/>
        </p:nvSpPr>
        <p:spPr>
          <a:xfrm>
            <a:off x="17887432" y="9117281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1" name="Connector: Elbow 330">
            <a:extLst>
              <a:ext uri="{FF2B5EF4-FFF2-40B4-BE49-F238E27FC236}">
                <a16:creationId xmlns:a16="http://schemas.microsoft.com/office/drawing/2014/main" id="{7F4A51AC-15EB-BDC5-A21F-23E5FF33700E}"/>
              </a:ext>
            </a:extLst>
          </p:cNvPr>
          <p:cNvCxnSpPr>
            <a:cxnSpLocks/>
            <a:stCxn id="193" idx="3"/>
            <a:endCxn id="327" idx="1"/>
          </p:cNvCxnSpPr>
          <p:nvPr/>
        </p:nvCxnSpPr>
        <p:spPr>
          <a:xfrm flipV="1">
            <a:off x="5615978" y="12679951"/>
            <a:ext cx="7196288" cy="1283627"/>
          </a:xfrm>
          <a:prstGeom prst="bentConnector3">
            <a:avLst>
              <a:gd name="adj1" fmla="val 971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B69A8D99-ED60-73D0-2AD8-84AF4D3CA890}"/>
              </a:ext>
            </a:extLst>
          </p:cNvPr>
          <p:cNvSpPr txBox="1"/>
          <p:nvPr/>
        </p:nvSpPr>
        <p:spPr>
          <a:xfrm>
            <a:off x="15293893" y="11603219"/>
            <a:ext cx="2656281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Clinical NER applications, information extraction in NLP, biomedical information extraction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0C15A687-D745-9E3B-8519-557382D0ACDE}"/>
              </a:ext>
            </a:extLst>
          </p:cNvPr>
          <p:cNvSpPr/>
          <p:nvPr/>
        </p:nvSpPr>
        <p:spPr>
          <a:xfrm>
            <a:off x="16533554" y="12979040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682C5713-493B-CBE7-A523-472EBB670592}"/>
              </a:ext>
            </a:extLst>
          </p:cNvPr>
          <p:cNvSpPr/>
          <p:nvPr/>
        </p:nvSpPr>
        <p:spPr>
          <a:xfrm>
            <a:off x="15285184" y="12307197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FA265420-BEE8-B7D6-C86C-102F0F9EF111}"/>
              </a:ext>
            </a:extLst>
          </p:cNvPr>
          <p:cNvSpPr/>
          <p:nvPr/>
        </p:nvSpPr>
        <p:spPr>
          <a:xfrm>
            <a:off x="15524896" y="12307197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8700F519-0374-162A-40A2-BAEE860761FA}"/>
              </a:ext>
            </a:extLst>
          </p:cNvPr>
          <p:cNvSpPr/>
          <p:nvPr/>
        </p:nvSpPr>
        <p:spPr>
          <a:xfrm>
            <a:off x="15760640" y="12307197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0A64F915-70FA-407D-E763-3CCFE36EEE13}"/>
              </a:ext>
            </a:extLst>
          </p:cNvPr>
          <p:cNvSpPr/>
          <p:nvPr/>
        </p:nvSpPr>
        <p:spPr>
          <a:xfrm>
            <a:off x="15996384" y="12307197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56" name="Table 355">
            <a:extLst>
              <a:ext uri="{FF2B5EF4-FFF2-40B4-BE49-F238E27FC236}">
                <a16:creationId xmlns:a16="http://schemas.microsoft.com/office/drawing/2014/main" id="{6D550A98-8D8C-A67F-1EBD-4E5670F77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789019"/>
              </p:ext>
            </p:extLst>
          </p:nvPr>
        </p:nvGraphicFramePr>
        <p:xfrm>
          <a:off x="15285003" y="12425703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</a:t>
                      </a:r>
                    </a:p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6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357" name="Oval 356">
            <a:extLst>
              <a:ext uri="{FF2B5EF4-FFF2-40B4-BE49-F238E27FC236}">
                <a16:creationId xmlns:a16="http://schemas.microsoft.com/office/drawing/2014/main" id="{0C241175-2038-0BAF-3C0F-08BD99323621}"/>
              </a:ext>
            </a:extLst>
          </p:cNvPr>
          <p:cNvSpPr/>
          <p:nvPr/>
        </p:nvSpPr>
        <p:spPr>
          <a:xfrm>
            <a:off x="15273845" y="11357254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E71AF89F-6F98-DECA-FAAA-51BC5A60947E}"/>
              </a:ext>
            </a:extLst>
          </p:cNvPr>
          <p:cNvSpPr/>
          <p:nvPr/>
        </p:nvSpPr>
        <p:spPr>
          <a:xfrm>
            <a:off x="16070328" y="12976995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1FF57CB4-2088-41DB-445D-08835A26CF05}"/>
              </a:ext>
            </a:extLst>
          </p:cNvPr>
          <p:cNvSpPr/>
          <p:nvPr/>
        </p:nvSpPr>
        <p:spPr>
          <a:xfrm>
            <a:off x="16302221" y="12976755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53F7B28C-321B-6653-935E-C1D7C31FAB7D}"/>
              </a:ext>
            </a:extLst>
          </p:cNvPr>
          <p:cNvSpPr txBox="1"/>
          <p:nvPr/>
        </p:nvSpPr>
        <p:spPr>
          <a:xfrm>
            <a:off x="20453150" y="4867350"/>
            <a:ext cx="2656281" cy="769441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clinical NER with LLMs, information extraction with LLMs, biomedical information extract ion with LLMs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15ACC26F-E004-BB8A-6EEC-77BFFDFA1B8A}"/>
              </a:ext>
            </a:extLst>
          </p:cNvPr>
          <p:cNvSpPr/>
          <p:nvPr/>
        </p:nvSpPr>
        <p:spPr>
          <a:xfrm>
            <a:off x="21472272" y="6371507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28A58EE6-4106-FA87-47F6-AC8CA48B47FF}"/>
              </a:ext>
            </a:extLst>
          </p:cNvPr>
          <p:cNvSpPr/>
          <p:nvPr/>
        </p:nvSpPr>
        <p:spPr>
          <a:xfrm>
            <a:off x="20484339" y="5694583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9FE1E0C3-640F-35A5-8859-4E788E753730}"/>
              </a:ext>
            </a:extLst>
          </p:cNvPr>
          <p:cNvSpPr/>
          <p:nvPr/>
        </p:nvSpPr>
        <p:spPr>
          <a:xfrm>
            <a:off x="20724051" y="5694583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77A27A65-0582-5E29-4ABD-61E54A4AED37}"/>
              </a:ext>
            </a:extLst>
          </p:cNvPr>
          <p:cNvSpPr/>
          <p:nvPr/>
        </p:nvSpPr>
        <p:spPr>
          <a:xfrm>
            <a:off x="20959795" y="5694583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66C7F108-C3FC-4311-18E2-4255920A9235}"/>
              </a:ext>
            </a:extLst>
          </p:cNvPr>
          <p:cNvSpPr/>
          <p:nvPr/>
        </p:nvSpPr>
        <p:spPr>
          <a:xfrm>
            <a:off x="21195539" y="5694583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3E9D9CC9-D1E7-E736-009A-79E8484944BE}"/>
              </a:ext>
            </a:extLst>
          </p:cNvPr>
          <p:cNvSpPr/>
          <p:nvPr/>
        </p:nvSpPr>
        <p:spPr>
          <a:xfrm>
            <a:off x="20506062" y="4669170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A5AD733E-0C02-03CD-7202-72F42350695A}"/>
              </a:ext>
            </a:extLst>
          </p:cNvPr>
          <p:cNvSpPr/>
          <p:nvPr/>
        </p:nvSpPr>
        <p:spPr>
          <a:xfrm>
            <a:off x="21243800" y="6373985"/>
            <a:ext cx="197021" cy="566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98" name="Table 397">
            <a:extLst>
              <a:ext uri="{FF2B5EF4-FFF2-40B4-BE49-F238E27FC236}">
                <a16:creationId xmlns:a16="http://schemas.microsoft.com/office/drawing/2014/main" id="{FC8663E5-E709-0319-29E8-3CD6DE2C2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806835"/>
              </p:ext>
            </p:extLst>
          </p:nvPr>
        </p:nvGraphicFramePr>
        <p:xfrm>
          <a:off x="20453151" y="5805846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</a:t>
                      </a:r>
                    </a:p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5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cxnSp>
        <p:nvCxnSpPr>
          <p:cNvPr id="407" name="Straight Arrow Connector 406">
            <a:extLst>
              <a:ext uri="{FF2B5EF4-FFF2-40B4-BE49-F238E27FC236}">
                <a16:creationId xmlns:a16="http://schemas.microsoft.com/office/drawing/2014/main" id="{6F2DA596-B921-055D-CED3-08CFD2C76158}"/>
              </a:ext>
            </a:extLst>
          </p:cNvPr>
          <p:cNvCxnSpPr>
            <a:cxnSpLocks/>
            <a:stCxn id="327" idx="3"/>
            <a:endCxn id="356" idx="1"/>
          </p:cNvCxnSpPr>
          <p:nvPr/>
        </p:nvCxnSpPr>
        <p:spPr>
          <a:xfrm>
            <a:off x="14423200" y="12679951"/>
            <a:ext cx="861803" cy="4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63ABD7EC-CFE3-66B4-7449-9CB776776973}"/>
              </a:ext>
            </a:extLst>
          </p:cNvPr>
          <p:cNvCxnSpPr>
            <a:cxnSpLocks/>
            <a:stCxn id="447" idx="3"/>
            <a:endCxn id="398" idx="1"/>
          </p:cNvCxnSpPr>
          <p:nvPr/>
        </p:nvCxnSpPr>
        <p:spPr>
          <a:xfrm flipV="1">
            <a:off x="15984469" y="6064926"/>
            <a:ext cx="4468682" cy="1318410"/>
          </a:xfrm>
          <a:prstGeom prst="bentConnector3">
            <a:avLst>
              <a:gd name="adj1" fmla="val 8836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8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E3DF4-3B17-6802-6545-09B66FB22D1D}"/>
              </a:ext>
            </a:extLst>
          </p:cNvPr>
          <p:cNvSpPr txBox="1"/>
          <p:nvPr/>
        </p:nvSpPr>
        <p:spPr>
          <a:xfrm>
            <a:off x="7332664" y="3113882"/>
            <a:ext cx="4246675" cy="603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89875-5BA4-8017-3181-185D81CE7A3A}"/>
              </a:ext>
            </a:extLst>
          </p:cNvPr>
          <p:cNvSpPr/>
          <p:nvPr/>
        </p:nvSpPr>
        <p:spPr>
          <a:xfrm>
            <a:off x="8297983" y="6333769"/>
            <a:ext cx="2124074" cy="519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EDF813-A2F5-4C73-22FF-B26FAE47219F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7857332" y="7294322"/>
            <a:ext cx="126587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025AA3B-9727-C757-1CFC-265472F8F592}"/>
              </a:ext>
            </a:extLst>
          </p:cNvPr>
          <p:cNvSpPr/>
          <p:nvPr/>
        </p:nvSpPr>
        <p:spPr>
          <a:xfrm>
            <a:off x="10845920" y="6349979"/>
            <a:ext cx="2124074" cy="519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43F834-50FF-4CE6-BBF1-13B203E7D2BF}"/>
              </a:ext>
            </a:extLst>
          </p:cNvPr>
          <p:cNvSpPr/>
          <p:nvPr/>
        </p:nvSpPr>
        <p:spPr>
          <a:xfrm>
            <a:off x="7438231" y="7082392"/>
            <a:ext cx="419100" cy="4238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E0883B-0C5D-A898-7953-0E498EC42149}"/>
              </a:ext>
            </a:extLst>
          </p:cNvPr>
          <p:cNvSpPr/>
          <p:nvPr/>
        </p:nvSpPr>
        <p:spPr>
          <a:xfrm>
            <a:off x="20523994" y="7082392"/>
            <a:ext cx="419100" cy="42386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BEDF28-D90F-EC79-755E-8DC3AA492E25}"/>
              </a:ext>
            </a:extLst>
          </p:cNvPr>
          <p:cNvSpPr/>
          <p:nvPr/>
        </p:nvSpPr>
        <p:spPr>
          <a:xfrm>
            <a:off x="12098524" y="7809404"/>
            <a:ext cx="2124074" cy="519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67F1EF-65AE-2840-D4B3-7B116BEF9E72}"/>
              </a:ext>
            </a:extLst>
          </p:cNvPr>
          <p:cNvSpPr/>
          <p:nvPr/>
        </p:nvSpPr>
        <p:spPr>
          <a:xfrm>
            <a:off x="14621617" y="7809404"/>
            <a:ext cx="2124074" cy="519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44A2E6-3D86-B86F-13F7-238F57DFA6E6}"/>
              </a:ext>
            </a:extLst>
          </p:cNvPr>
          <p:cNvSpPr/>
          <p:nvPr/>
        </p:nvSpPr>
        <p:spPr>
          <a:xfrm>
            <a:off x="17290443" y="7809404"/>
            <a:ext cx="2124074" cy="519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F28B27-7312-1F38-54A5-A6A6866B1568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9360020" y="6852880"/>
            <a:ext cx="0" cy="4414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9262A3-4336-38BD-D8C9-5FDA1977DD04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1907957" y="6869089"/>
            <a:ext cx="0" cy="434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063489-77F9-9626-F6D0-75B62616B8F0}"/>
              </a:ext>
            </a:extLst>
          </p:cNvPr>
          <p:cNvCxnSpPr>
            <a:cxnSpLocks/>
          </p:cNvCxnSpPr>
          <p:nvPr/>
        </p:nvCxnSpPr>
        <p:spPr>
          <a:xfrm>
            <a:off x="15683654" y="7294322"/>
            <a:ext cx="0" cy="2897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CCCF429-6814-9083-9351-B6C6C86B1058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 flipH="1">
            <a:off x="12098525" y="8068959"/>
            <a:ext cx="7315993" cy="12700"/>
          </a:xfrm>
          <a:prstGeom prst="bentConnector5">
            <a:avLst>
              <a:gd name="adj1" fmla="val -3125"/>
              <a:gd name="adj2" fmla="val -4010803"/>
              <a:gd name="adj3" fmla="val 10312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57CECFB-9D05-C6E6-43F0-0E2A35201733}"/>
              </a:ext>
            </a:extLst>
          </p:cNvPr>
          <p:cNvCxnSpPr>
            <a:cxnSpLocks/>
          </p:cNvCxnSpPr>
          <p:nvPr/>
        </p:nvCxnSpPr>
        <p:spPr>
          <a:xfrm>
            <a:off x="8788520" y="4586287"/>
            <a:ext cx="0" cy="17474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4403867-E3EE-2084-EB0C-1E5C498A718B}"/>
              </a:ext>
            </a:extLst>
          </p:cNvPr>
          <p:cNvCxnSpPr>
            <a:cxnSpLocks/>
          </p:cNvCxnSpPr>
          <p:nvPr/>
        </p:nvCxnSpPr>
        <p:spPr>
          <a:xfrm>
            <a:off x="8788520" y="4938712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198C5D8-1EA1-E29B-0A50-FD529AB8F5CE}"/>
              </a:ext>
            </a:extLst>
          </p:cNvPr>
          <p:cNvSpPr txBox="1"/>
          <p:nvPr/>
        </p:nvSpPr>
        <p:spPr>
          <a:xfrm>
            <a:off x="9047957" y="4679734"/>
            <a:ext cx="2180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entity – Prescriptions</a:t>
            </a:r>
          </a:p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Seizure Frequency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809B8F8-1406-9372-3C2E-435E3FE7AFCD}"/>
              </a:ext>
            </a:extLst>
          </p:cNvPr>
          <p:cNvCxnSpPr>
            <a:cxnSpLocks/>
          </p:cNvCxnSpPr>
          <p:nvPr/>
        </p:nvCxnSpPr>
        <p:spPr>
          <a:xfrm>
            <a:off x="8788520" y="5481880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518C56F-CBCD-8DD3-20BC-7659ED166087}"/>
              </a:ext>
            </a:extLst>
          </p:cNvPr>
          <p:cNvSpPr txBox="1"/>
          <p:nvPr/>
        </p:nvSpPr>
        <p:spPr>
          <a:xfrm>
            <a:off x="9047957" y="5233293"/>
            <a:ext cx="1758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txt + JSON files </a:t>
            </a:r>
          </a:p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supervised ML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9B731DB-5DCA-13FF-1A73-A197C0D5167F}"/>
              </a:ext>
            </a:extLst>
          </p:cNvPr>
          <p:cNvSpPr/>
          <p:nvPr/>
        </p:nvSpPr>
        <p:spPr>
          <a:xfrm>
            <a:off x="18751670" y="6318686"/>
            <a:ext cx="2124074" cy="519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Post-processing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021B3D6-010A-6324-FCA0-D62EA7A9A99D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9813707" y="6837796"/>
            <a:ext cx="0" cy="434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7844070-9C02-C64B-F9D4-4A147308B34D}"/>
              </a:ext>
            </a:extLst>
          </p:cNvPr>
          <p:cNvCxnSpPr>
            <a:cxnSpLocks/>
          </p:cNvCxnSpPr>
          <p:nvPr/>
        </p:nvCxnSpPr>
        <p:spPr>
          <a:xfrm>
            <a:off x="19061232" y="4586287"/>
            <a:ext cx="0" cy="17474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C59C4C-8B42-D27D-33AF-4419C22C0058}"/>
              </a:ext>
            </a:extLst>
          </p:cNvPr>
          <p:cNvCxnSpPr>
            <a:cxnSpLocks/>
          </p:cNvCxnSpPr>
          <p:nvPr/>
        </p:nvCxnSpPr>
        <p:spPr>
          <a:xfrm>
            <a:off x="19069795" y="5256041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F79BAC3-69FF-E590-1DFB-656523FB0B15}"/>
              </a:ext>
            </a:extLst>
          </p:cNvPr>
          <p:cNvSpPr txBox="1"/>
          <p:nvPr/>
        </p:nvSpPr>
        <p:spPr>
          <a:xfrm>
            <a:off x="19308449" y="5121756"/>
            <a:ext cx="1577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start-end index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0F50CD-2A47-5F1D-F242-41D53F113DF7}"/>
              </a:ext>
            </a:extLst>
          </p:cNvPr>
          <p:cNvSpPr/>
          <p:nvPr/>
        </p:nvSpPr>
        <p:spPr>
          <a:xfrm>
            <a:off x="14621617" y="9078748"/>
            <a:ext cx="2124074" cy="519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04F1002-24C0-364D-4A42-CA100C2DEAFD}"/>
              </a:ext>
            </a:extLst>
          </p:cNvPr>
          <p:cNvCxnSpPr>
            <a:cxnSpLocks/>
            <a:stCxn id="13" idx="2"/>
            <a:endCxn id="49" idx="0"/>
          </p:cNvCxnSpPr>
          <p:nvPr/>
        </p:nvCxnSpPr>
        <p:spPr>
          <a:xfrm>
            <a:off x="15683654" y="8328514"/>
            <a:ext cx="0" cy="7502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4F1E61-5687-080D-B257-717A245E9C35}"/>
              </a:ext>
            </a:extLst>
          </p:cNvPr>
          <p:cNvCxnSpPr>
            <a:cxnSpLocks/>
          </p:cNvCxnSpPr>
          <p:nvPr/>
        </p:nvCxnSpPr>
        <p:spPr>
          <a:xfrm>
            <a:off x="14797495" y="9597859"/>
            <a:ext cx="6926" cy="1404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3884F81-05A6-3768-CC03-1D3983C7AECF}"/>
              </a:ext>
            </a:extLst>
          </p:cNvPr>
          <p:cNvCxnSpPr>
            <a:cxnSpLocks/>
          </p:cNvCxnSpPr>
          <p:nvPr/>
        </p:nvCxnSpPr>
        <p:spPr>
          <a:xfrm>
            <a:off x="14797495" y="10132531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85ACEF2-422C-3CB5-F9C5-20DB285E905F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4222599" y="8068959"/>
            <a:ext cx="3990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A684F23-F4B2-6D18-8EDA-D6B9C468B6D7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16745691" y="8068959"/>
            <a:ext cx="5447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698E880-BEBE-7AF0-1EFD-624C5C927CD4}"/>
              </a:ext>
            </a:extLst>
          </p:cNvPr>
          <p:cNvSpPr txBox="1"/>
          <p:nvPr/>
        </p:nvSpPr>
        <p:spPr>
          <a:xfrm>
            <a:off x="15095812" y="9968252"/>
            <a:ext cx="1639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tuning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4D2623-CE41-65B7-0638-5CC88009079D}"/>
              </a:ext>
            </a:extLst>
          </p:cNvPr>
          <p:cNvSpPr txBox="1"/>
          <p:nvPr/>
        </p:nvSpPr>
        <p:spPr>
          <a:xfrm>
            <a:off x="15106203" y="10492533"/>
            <a:ext cx="1115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K tuning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959E898-0CDA-B490-5E74-4F677C95B4FE}"/>
              </a:ext>
            </a:extLst>
          </p:cNvPr>
          <p:cNvCxnSpPr>
            <a:cxnSpLocks/>
          </p:cNvCxnSpPr>
          <p:nvPr/>
        </p:nvCxnSpPr>
        <p:spPr>
          <a:xfrm>
            <a:off x="14804421" y="10669398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C3C739A-F0F4-675B-36D1-B8012AB6A232}"/>
              </a:ext>
            </a:extLst>
          </p:cNvPr>
          <p:cNvCxnSpPr>
            <a:cxnSpLocks/>
          </p:cNvCxnSpPr>
          <p:nvPr/>
        </p:nvCxnSpPr>
        <p:spPr>
          <a:xfrm>
            <a:off x="17582259" y="8328514"/>
            <a:ext cx="0" cy="17474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0A834CA-5DD2-8C96-8DC3-73154A348F0C}"/>
              </a:ext>
            </a:extLst>
          </p:cNvPr>
          <p:cNvCxnSpPr>
            <a:cxnSpLocks/>
          </p:cNvCxnSpPr>
          <p:nvPr/>
        </p:nvCxnSpPr>
        <p:spPr>
          <a:xfrm>
            <a:off x="17598187" y="8704022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EBC36F94-EBA4-91A8-34D9-4CDFEC07E61B}"/>
              </a:ext>
            </a:extLst>
          </p:cNvPr>
          <p:cNvSpPr txBox="1"/>
          <p:nvPr/>
        </p:nvSpPr>
        <p:spPr>
          <a:xfrm>
            <a:off x="17836841" y="8548955"/>
            <a:ext cx="1620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– Response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7CDABE9-2DF3-A07B-2368-BA4B82476657}"/>
              </a:ext>
            </a:extLst>
          </p:cNvPr>
          <p:cNvCxnSpPr>
            <a:cxnSpLocks/>
          </p:cNvCxnSpPr>
          <p:nvPr/>
        </p:nvCxnSpPr>
        <p:spPr>
          <a:xfrm>
            <a:off x="17592854" y="9240369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E1C485E-8D07-5928-2522-B7A1234CDF01}"/>
              </a:ext>
            </a:extLst>
          </p:cNvPr>
          <p:cNvSpPr txBox="1"/>
          <p:nvPr/>
        </p:nvSpPr>
        <p:spPr>
          <a:xfrm>
            <a:off x="17874077" y="9086481"/>
            <a:ext cx="1768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– Response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DE51869-9D88-3C61-2CBC-942364AA887C}"/>
              </a:ext>
            </a:extLst>
          </p:cNvPr>
          <p:cNvCxnSpPr>
            <a:cxnSpLocks/>
          </p:cNvCxnSpPr>
          <p:nvPr/>
        </p:nvCxnSpPr>
        <p:spPr>
          <a:xfrm>
            <a:off x="17592854" y="9808121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E4FFE338-064E-1E4F-5B4A-206CB9D3CBFE}"/>
              </a:ext>
            </a:extLst>
          </p:cNvPr>
          <p:cNvSpPr txBox="1"/>
          <p:nvPr/>
        </p:nvSpPr>
        <p:spPr>
          <a:xfrm>
            <a:off x="17874077" y="9654233"/>
            <a:ext cx="21002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 of hallucination ? 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023B4F7-0767-40E9-0797-D8DD1A5A42A2}"/>
              </a:ext>
            </a:extLst>
          </p:cNvPr>
          <p:cNvCxnSpPr>
            <a:cxnSpLocks/>
          </p:cNvCxnSpPr>
          <p:nvPr/>
        </p:nvCxnSpPr>
        <p:spPr>
          <a:xfrm>
            <a:off x="11448062" y="4612888"/>
            <a:ext cx="0" cy="17474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DC2EC3F-94B8-3C00-D491-5B91CCC58409}"/>
              </a:ext>
            </a:extLst>
          </p:cNvPr>
          <p:cNvCxnSpPr>
            <a:cxnSpLocks/>
          </p:cNvCxnSpPr>
          <p:nvPr/>
        </p:nvCxnSpPr>
        <p:spPr>
          <a:xfrm>
            <a:off x="11437673" y="4957638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9FE4CCAF-421F-CFCF-A410-08F5E4DC45BE}"/>
              </a:ext>
            </a:extLst>
          </p:cNvPr>
          <p:cNvSpPr txBox="1"/>
          <p:nvPr/>
        </p:nvSpPr>
        <p:spPr>
          <a:xfrm>
            <a:off x="11697109" y="4763888"/>
            <a:ext cx="30233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clinical notes and </a:t>
            </a:r>
          </a:p>
          <a:p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 to</a:t>
            </a:r>
          </a:p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string responses enclosed in delimiters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C3F6567-7FF8-20B3-F252-F06A1328D8E7}"/>
              </a:ext>
            </a:extLst>
          </p:cNvPr>
          <p:cNvCxnSpPr>
            <a:cxnSpLocks/>
          </p:cNvCxnSpPr>
          <p:nvPr/>
        </p:nvCxnSpPr>
        <p:spPr>
          <a:xfrm flipH="1">
            <a:off x="12363459" y="8341215"/>
            <a:ext cx="21361" cy="1791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36C78BD-091B-7CD4-52F1-C76F55F8A737}"/>
              </a:ext>
            </a:extLst>
          </p:cNvPr>
          <p:cNvCxnSpPr>
            <a:cxnSpLocks/>
          </p:cNvCxnSpPr>
          <p:nvPr/>
        </p:nvCxnSpPr>
        <p:spPr>
          <a:xfrm>
            <a:off x="12395087" y="8714413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BF5D641-186C-4859-00BA-B01236E57457}"/>
              </a:ext>
            </a:extLst>
          </p:cNvPr>
          <p:cNvSpPr txBox="1"/>
          <p:nvPr/>
        </p:nvSpPr>
        <p:spPr>
          <a:xfrm>
            <a:off x="12693404" y="8550134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Gemma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0875545-1F8A-FAB1-F67E-99DF63C26560}"/>
              </a:ext>
            </a:extLst>
          </p:cNvPr>
          <p:cNvCxnSpPr>
            <a:cxnSpLocks/>
          </p:cNvCxnSpPr>
          <p:nvPr/>
        </p:nvCxnSpPr>
        <p:spPr>
          <a:xfrm>
            <a:off x="12385244" y="9166304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E65D275-7365-F73B-CB2C-1DBFF5A83C2C}"/>
              </a:ext>
            </a:extLst>
          </p:cNvPr>
          <p:cNvSpPr txBox="1"/>
          <p:nvPr/>
        </p:nvSpPr>
        <p:spPr>
          <a:xfrm>
            <a:off x="12683562" y="9002025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Mistral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C7FC02D-262C-3F9D-15BA-C6D5B3BDE555}"/>
              </a:ext>
            </a:extLst>
          </p:cNvPr>
          <p:cNvCxnSpPr>
            <a:cxnSpLocks/>
          </p:cNvCxnSpPr>
          <p:nvPr/>
        </p:nvCxnSpPr>
        <p:spPr>
          <a:xfrm>
            <a:off x="12390586" y="9608249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5E89FB72-FF37-902B-0236-47BD05A536FE}"/>
              </a:ext>
            </a:extLst>
          </p:cNvPr>
          <p:cNvSpPr txBox="1"/>
          <p:nvPr/>
        </p:nvSpPr>
        <p:spPr>
          <a:xfrm>
            <a:off x="12688904" y="9443970"/>
            <a:ext cx="688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 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19F8863-E49E-EA1B-EAEC-B0DA1D22FCE7}"/>
              </a:ext>
            </a:extLst>
          </p:cNvPr>
          <p:cNvCxnSpPr>
            <a:cxnSpLocks/>
          </p:cNvCxnSpPr>
          <p:nvPr/>
        </p:nvCxnSpPr>
        <p:spPr>
          <a:xfrm>
            <a:off x="12395087" y="9994285"/>
            <a:ext cx="259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624083E-2785-495F-9231-DBABCFCCA0FA}"/>
              </a:ext>
            </a:extLst>
          </p:cNvPr>
          <p:cNvSpPr txBox="1"/>
          <p:nvPr/>
        </p:nvSpPr>
        <p:spPr>
          <a:xfrm>
            <a:off x="12693405" y="9830006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Hermes </a:t>
            </a:r>
          </a:p>
        </p:txBody>
      </p:sp>
    </p:spTree>
    <p:extLst>
      <p:ext uri="{BB962C8B-B14F-4D97-AF65-F5344CB8AC3E}">
        <p14:creationId xmlns:p14="http://schemas.microsoft.com/office/powerpoint/2010/main" val="506092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31976</TotalTime>
  <Words>1041</Words>
  <Application>Microsoft Office PowerPoint</Application>
  <PresentationFormat>Custom</PresentationFormat>
  <Paragraphs>266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Akson Sam Varghese</dc:creator>
  <cp:lastModifiedBy>Akson Sam Varghese</cp:lastModifiedBy>
  <cp:revision>46</cp:revision>
  <dcterms:created xsi:type="dcterms:W3CDTF">2024-03-11T10:21:13Z</dcterms:created>
  <dcterms:modified xsi:type="dcterms:W3CDTF">2024-08-14T06:12:34Z</dcterms:modified>
</cp:coreProperties>
</file>