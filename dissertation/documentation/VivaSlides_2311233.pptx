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61" r:id="rId2"/>
    <p:sldId id="264" r:id="rId3"/>
    <p:sldId id="287" r:id="rId4"/>
    <p:sldId id="266" r:id="rId5"/>
    <p:sldId id="260" r:id="rId6"/>
    <p:sldId id="293" r:id="rId7"/>
    <p:sldId id="262" r:id="rId8"/>
    <p:sldId id="272" r:id="rId9"/>
    <p:sldId id="273" r:id="rId10"/>
    <p:sldId id="274" r:id="rId11"/>
    <p:sldId id="271" r:id="rId12"/>
    <p:sldId id="297" r:id="rId13"/>
    <p:sldId id="275" r:id="rId14"/>
    <p:sldId id="276" r:id="rId15"/>
    <p:sldId id="270" r:id="rId16"/>
    <p:sldId id="298" r:id="rId17"/>
    <p:sldId id="267" r:id="rId18"/>
    <p:sldId id="290" r:id="rId19"/>
    <p:sldId id="286" r:id="rId20"/>
    <p:sldId id="292" r:id="rId21"/>
    <p:sldId id="301" r:id="rId22"/>
    <p:sldId id="300" r:id="rId23"/>
    <p:sldId id="265" r:id="rId24"/>
    <p:sldId id="279" r:id="rId25"/>
  </p:sldIdLst>
  <p:sldSz cx="28800425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8D78FD6F-E6AE-446E-842C-BFBEC3880812}">
          <p14:sldIdLst>
            <p14:sldId id="261"/>
            <p14:sldId id="264"/>
            <p14:sldId id="287"/>
          </p14:sldIdLst>
        </p14:section>
        <p14:section name="Literature Review" id="{A41BC000-C625-4DAC-84D7-7F566090268D}">
          <p14:sldIdLst>
            <p14:sldId id="266"/>
            <p14:sldId id="260"/>
            <p14:sldId id="293"/>
          </p14:sldIdLst>
        </p14:section>
        <p14:section name="Research Development" id="{838A62B3-DF3A-4659-85C8-CA0826BA1A12}">
          <p14:sldIdLst>
            <p14:sldId id="262"/>
            <p14:sldId id="272"/>
            <p14:sldId id="273"/>
            <p14:sldId id="274"/>
            <p14:sldId id="271"/>
            <p14:sldId id="297"/>
            <p14:sldId id="275"/>
            <p14:sldId id="276"/>
            <p14:sldId id="270"/>
            <p14:sldId id="298"/>
            <p14:sldId id="267"/>
            <p14:sldId id="290"/>
            <p14:sldId id="286"/>
            <p14:sldId id="292"/>
            <p14:sldId id="301"/>
          </p14:sldIdLst>
        </p14:section>
        <p14:section name="Future Work" id="{3E8E7270-78A0-42E6-8EB7-AF252F9295BC}">
          <p14:sldIdLst>
            <p14:sldId id="300"/>
          </p14:sldIdLst>
        </p14:section>
        <p14:section name="Appendix" id="{01C9B547-2266-4D12-9F3C-54D11180262C}">
          <p14:sldIdLst>
            <p14:sldId id="265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3FB"/>
    <a:srgbClr val="FF66FF"/>
    <a:srgbClr val="00FF00"/>
    <a:srgbClr val="FFFF00"/>
    <a:srgbClr val="FF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52" d="100"/>
          <a:sy n="52" d="100"/>
        </p:scale>
        <p:origin x="144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CD332F-D30A-465D-864A-D1FF1BF2AEF9}" type="doc">
      <dgm:prSet loTypeId="urn:microsoft.com/office/officeart/2005/8/layout/venn1" loCatId="relationship" qsTypeId="urn:microsoft.com/office/officeart/2005/8/quickstyle/simple1" qsCatId="simple" csTypeId="urn:microsoft.com/office/officeart/2005/8/colors/accent1_2" csCatId="accent1" phldr="1"/>
      <dgm:spPr/>
    </dgm:pt>
    <dgm:pt modelId="{8A2F46F7-6E28-40A5-9B34-F8CC05653D0D}">
      <dgm:prSet phldrT="[Text]" custT="1"/>
      <dgm:spPr/>
      <dgm:t>
        <a:bodyPr/>
        <a:lstStyle/>
        <a:p>
          <a:r>
            <a:rPr lang="en-IN" sz="5400" dirty="0">
              <a:latin typeface="Times New Roman" panose="02020603050405020304" pitchFamily="18" charset="0"/>
              <a:cs typeface="Times New Roman" panose="02020603050405020304" pitchFamily="18" charset="0"/>
            </a:rPr>
            <a:t>Knowledge  Graph</a:t>
          </a:r>
        </a:p>
      </dgm:t>
    </dgm:pt>
    <dgm:pt modelId="{17227C5A-C3EB-4D86-BC65-161E4A3D6BF2}" type="parTrans" cxnId="{63DAEBB5-C768-4DAA-B5BC-A0FC5EF577D4}">
      <dgm:prSet/>
      <dgm:spPr/>
      <dgm:t>
        <a:bodyPr/>
        <a:lstStyle/>
        <a:p>
          <a:endParaRPr lang="en-IN"/>
        </a:p>
      </dgm:t>
    </dgm:pt>
    <dgm:pt modelId="{F5707748-49FC-4EC0-852C-9A82D298407B}" type="sibTrans" cxnId="{63DAEBB5-C768-4DAA-B5BC-A0FC5EF577D4}">
      <dgm:prSet/>
      <dgm:spPr/>
      <dgm:t>
        <a:bodyPr/>
        <a:lstStyle/>
        <a:p>
          <a:endParaRPr lang="en-IN"/>
        </a:p>
      </dgm:t>
    </dgm:pt>
    <dgm:pt modelId="{BCEA0FA7-CBA5-4ACE-8C60-F386A693475C}">
      <dgm:prSet phldrT="[Text]" custT="1"/>
      <dgm:spPr/>
      <dgm:t>
        <a:bodyPr/>
        <a:lstStyle/>
        <a:p>
          <a:r>
            <a:rPr lang="en-IN" sz="5400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</a:t>
          </a:r>
        </a:p>
      </dgm:t>
    </dgm:pt>
    <dgm:pt modelId="{ED335A13-F5EE-42BD-B150-9FB6FABF5067}" type="parTrans" cxnId="{6B3BCD6E-0F8B-407A-A79C-77AA2AA27BA8}">
      <dgm:prSet/>
      <dgm:spPr/>
      <dgm:t>
        <a:bodyPr/>
        <a:lstStyle/>
        <a:p>
          <a:endParaRPr lang="en-IN"/>
        </a:p>
      </dgm:t>
    </dgm:pt>
    <dgm:pt modelId="{BD73EF3B-C1EE-412F-837C-2C616F80EFB5}" type="sibTrans" cxnId="{6B3BCD6E-0F8B-407A-A79C-77AA2AA27BA8}">
      <dgm:prSet/>
      <dgm:spPr/>
      <dgm:t>
        <a:bodyPr/>
        <a:lstStyle/>
        <a:p>
          <a:endParaRPr lang="en-IN"/>
        </a:p>
      </dgm:t>
    </dgm:pt>
    <dgm:pt modelId="{4F34AB70-0954-4889-9C18-2E94C212B658}">
      <dgm:prSet phldrT="[Text]" custT="1"/>
      <dgm:spPr/>
      <dgm:t>
        <a:bodyPr/>
        <a:lstStyle/>
        <a:p>
          <a:r>
            <a:rPr lang="en-IN" sz="5400" dirty="0">
              <a:latin typeface="Times New Roman" panose="02020603050405020304" pitchFamily="18" charset="0"/>
              <a:cs typeface="Times New Roman" panose="02020603050405020304" pitchFamily="18" charset="0"/>
            </a:rPr>
            <a:t>Prompt</a:t>
          </a:r>
        </a:p>
        <a:p>
          <a:r>
            <a:rPr lang="en-IN" sz="5400" dirty="0">
              <a:latin typeface="Times New Roman" panose="02020603050405020304" pitchFamily="18" charset="0"/>
              <a:cs typeface="Times New Roman" panose="02020603050405020304" pitchFamily="18" charset="0"/>
            </a:rPr>
            <a:t>Tuning</a:t>
          </a:r>
        </a:p>
      </dgm:t>
    </dgm:pt>
    <dgm:pt modelId="{4D82B880-F665-4E9F-8100-2B35CF6F2E64}" type="parTrans" cxnId="{9B65468E-56A8-4272-BF90-1D7717EDEBBB}">
      <dgm:prSet/>
      <dgm:spPr/>
      <dgm:t>
        <a:bodyPr/>
        <a:lstStyle/>
        <a:p>
          <a:endParaRPr lang="en-IN"/>
        </a:p>
      </dgm:t>
    </dgm:pt>
    <dgm:pt modelId="{7EEBC750-5B7E-4317-9E0D-05246E560855}" type="sibTrans" cxnId="{9B65468E-56A8-4272-BF90-1D7717EDEBBB}">
      <dgm:prSet/>
      <dgm:spPr/>
      <dgm:t>
        <a:bodyPr/>
        <a:lstStyle/>
        <a:p>
          <a:endParaRPr lang="en-IN"/>
        </a:p>
      </dgm:t>
    </dgm:pt>
    <dgm:pt modelId="{7FBC57B4-5DBC-4EB0-B78F-0E99A570CCF5}">
      <dgm:prSet phldrT="[Text]" custT="1"/>
      <dgm:spPr/>
      <dgm:t>
        <a:bodyPr/>
        <a:lstStyle/>
        <a:p>
          <a:r>
            <a:rPr lang="en-IN" sz="5400" dirty="0">
              <a:latin typeface="Times New Roman" panose="02020603050405020304" pitchFamily="18" charset="0"/>
              <a:cs typeface="Times New Roman" panose="02020603050405020304" pitchFamily="18" charset="0"/>
            </a:rPr>
            <a:t>Deep </a:t>
          </a:r>
        </a:p>
        <a:p>
          <a:r>
            <a:rPr lang="en-IN" sz="54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</a:t>
          </a:r>
        </a:p>
      </dgm:t>
    </dgm:pt>
    <dgm:pt modelId="{7058FE31-7B21-40FC-8E8E-7905392DE002}" type="parTrans" cxnId="{4BB5774D-D180-4F54-802A-71D0F2C6C351}">
      <dgm:prSet/>
      <dgm:spPr/>
      <dgm:t>
        <a:bodyPr/>
        <a:lstStyle/>
        <a:p>
          <a:endParaRPr lang="en-IN"/>
        </a:p>
      </dgm:t>
    </dgm:pt>
    <dgm:pt modelId="{4A729977-D442-4A98-9C9C-F35CCC9D1328}" type="sibTrans" cxnId="{4BB5774D-D180-4F54-802A-71D0F2C6C351}">
      <dgm:prSet/>
      <dgm:spPr/>
      <dgm:t>
        <a:bodyPr/>
        <a:lstStyle/>
        <a:p>
          <a:endParaRPr lang="en-IN"/>
        </a:p>
      </dgm:t>
    </dgm:pt>
    <dgm:pt modelId="{72910FB3-E453-4DD9-B6C8-95F10DA69252}">
      <dgm:prSet phldrT="[Text]" custT="1"/>
      <dgm:spPr/>
      <dgm:t>
        <a:bodyPr/>
        <a:lstStyle/>
        <a:p>
          <a:r>
            <a:rPr lang="en-IN" sz="5400" dirty="0">
              <a:latin typeface="Times New Roman" panose="02020603050405020304" pitchFamily="18" charset="0"/>
              <a:cs typeface="Times New Roman" panose="02020603050405020304" pitchFamily="18" charset="0"/>
            </a:rPr>
            <a:t>Rule </a:t>
          </a:r>
        </a:p>
        <a:p>
          <a:r>
            <a:rPr lang="en-IN" sz="5400" dirty="0">
              <a:latin typeface="Times New Roman" panose="02020603050405020304" pitchFamily="18" charset="0"/>
              <a:cs typeface="Times New Roman" panose="02020603050405020304" pitchFamily="18" charset="0"/>
            </a:rPr>
            <a:t>Based</a:t>
          </a:r>
        </a:p>
      </dgm:t>
    </dgm:pt>
    <dgm:pt modelId="{26E97331-C187-4E4F-9369-3ED0F27A3190}" type="parTrans" cxnId="{7EDD8C20-D6AC-471A-B85F-1D2830DE5633}">
      <dgm:prSet/>
      <dgm:spPr/>
      <dgm:t>
        <a:bodyPr/>
        <a:lstStyle/>
        <a:p>
          <a:endParaRPr lang="en-IN"/>
        </a:p>
      </dgm:t>
    </dgm:pt>
    <dgm:pt modelId="{955A1DB7-ECC9-4FE6-9692-1C80BECF9231}" type="sibTrans" cxnId="{7EDD8C20-D6AC-471A-B85F-1D2830DE5633}">
      <dgm:prSet/>
      <dgm:spPr/>
      <dgm:t>
        <a:bodyPr/>
        <a:lstStyle/>
        <a:p>
          <a:endParaRPr lang="en-IN"/>
        </a:p>
      </dgm:t>
    </dgm:pt>
    <dgm:pt modelId="{35A379D0-7737-431F-8E15-CE3D64763259}">
      <dgm:prSet phldrT="[Text]" custT="1"/>
      <dgm:spPr/>
      <dgm:t>
        <a:bodyPr/>
        <a:lstStyle/>
        <a:p>
          <a:r>
            <a:rPr lang="en-IN" sz="5400" dirty="0">
              <a:latin typeface="Times New Roman" panose="02020603050405020304" pitchFamily="18" charset="0"/>
              <a:cs typeface="Times New Roman" panose="02020603050405020304" pitchFamily="18" charset="0"/>
            </a:rPr>
            <a:t>Statistics</a:t>
          </a:r>
          <a:endParaRPr lang="en-IN" sz="65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33F3DE1-6F67-4A0D-9569-4EFFFFC3096D}" type="parTrans" cxnId="{3A92A268-EC5E-4849-A2D2-D6C5F94D899F}">
      <dgm:prSet/>
      <dgm:spPr/>
      <dgm:t>
        <a:bodyPr/>
        <a:lstStyle/>
        <a:p>
          <a:endParaRPr lang="en-IN"/>
        </a:p>
      </dgm:t>
    </dgm:pt>
    <dgm:pt modelId="{98763F58-27EE-49F4-82DE-A00F8E774F73}" type="sibTrans" cxnId="{3A92A268-EC5E-4849-A2D2-D6C5F94D899F}">
      <dgm:prSet/>
      <dgm:spPr/>
      <dgm:t>
        <a:bodyPr/>
        <a:lstStyle/>
        <a:p>
          <a:endParaRPr lang="en-IN"/>
        </a:p>
      </dgm:t>
    </dgm:pt>
    <dgm:pt modelId="{0A5CE2F8-345B-4FC6-8A09-7903FE78A0A3}" type="pres">
      <dgm:prSet presAssocID="{D6CD332F-D30A-465D-864A-D1FF1BF2AEF9}" presName="compositeShape" presStyleCnt="0">
        <dgm:presLayoutVars>
          <dgm:chMax val="7"/>
          <dgm:dir/>
          <dgm:resizeHandles val="exact"/>
        </dgm:presLayoutVars>
      </dgm:prSet>
      <dgm:spPr/>
    </dgm:pt>
    <dgm:pt modelId="{85967C0F-D1D5-4C96-9973-848A078C634F}" type="pres">
      <dgm:prSet presAssocID="{8A2F46F7-6E28-40A5-9B34-F8CC05653D0D}" presName="circ1" presStyleLbl="vennNode1" presStyleIdx="0" presStyleCnt="6" custLinFactNeighborX="13208" custLinFactNeighborY="-30810"/>
      <dgm:spPr>
        <a:solidFill>
          <a:schemeClr val="accent2">
            <a:lumMod val="60000"/>
            <a:lumOff val="40000"/>
            <a:alpha val="50000"/>
          </a:schemeClr>
        </a:solidFill>
      </dgm:spPr>
    </dgm:pt>
    <dgm:pt modelId="{33328F77-FF14-498F-A4ED-CE19535D3B06}" type="pres">
      <dgm:prSet presAssocID="{8A2F46F7-6E28-40A5-9B34-F8CC05653D0D}" presName="circ1Tx" presStyleLbl="revTx" presStyleIdx="0" presStyleCnt="0" custScaleX="127141" custScaleY="42566" custLinFactNeighborX="7443" custLinFactNeighborY="-2660">
        <dgm:presLayoutVars>
          <dgm:chMax val="0"/>
          <dgm:chPref val="0"/>
          <dgm:bulletEnabled val="1"/>
        </dgm:presLayoutVars>
      </dgm:prSet>
      <dgm:spPr/>
    </dgm:pt>
    <dgm:pt modelId="{56626C5B-9CA3-4787-A6F8-70A81F4D8741}" type="pres">
      <dgm:prSet presAssocID="{BCEA0FA7-CBA5-4ACE-8C60-F386A693475C}" presName="circ2" presStyleLbl="vennNode1" presStyleIdx="1" presStyleCnt="6" custLinFactNeighborX="38024" custLinFactNeighborY="-13342"/>
      <dgm:spPr>
        <a:solidFill>
          <a:schemeClr val="accent6">
            <a:lumMod val="60000"/>
            <a:lumOff val="40000"/>
            <a:alpha val="50000"/>
          </a:schemeClr>
        </a:solidFill>
      </dgm:spPr>
    </dgm:pt>
    <dgm:pt modelId="{9FF22768-1DC7-4D2B-B99C-726B105F3CDD}" type="pres">
      <dgm:prSet presAssocID="{BCEA0FA7-CBA5-4ACE-8C60-F386A693475C}" presName="circ2Tx" presStyleLbl="revTx" presStyleIdx="0" presStyleCnt="0" custLinFactNeighborX="12232" custLinFactNeighborY="14248">
        <dgm:presLayoutVars>
          <dgm:chMax val="0"/>
          <dgm:chPref val="0"/>
          <dgm:bulletEnabled val="1"/>
        </dgm:presLayoutVars>
      </dgm:prSet>
      <dgm:spPr/>
    </dgm:pt>
    <dgm:pt modelId="{35548587-EE96-4359-B5D4-49F266A4682E}" type="pres">
      <dgm:prSet presAssocID="{72910FB3-E453-4DD9-B6C8-95F10DA69252}" presName="circ3" presStyleLbl="vennNode1" presStyleIdx="2" presStyleCnt="6" custLinFactNeighborX="44715" custLinFactNeighborY="20485"/>
      <dgm:spPr>
        <a:solidFill>
          <a:schemeClr val="accent5">
            <a:lumMod val="60000"/>
            <a:lumOff val="40000"/>
            <a:alpha val="50000"/>
          </a:schemeClr>
        </a:solidFill>
        <a:ln>
          <a:noFill/>
        </a:ln>
      </dgm:spPr>
    </dgm:pt>
    <dgm:pt modelId="{55DFC3B4-B8D1-49B8-9E85-4C4CE1EBECF4}" type="pres">
      <dgm:prSet presAssocID="{72910FB3-E453-4DD9-B6C8-95F10DA69252}" presName="circ3Tx" presStyleLbl="revTx" presStyleIdx="0" presStyleCnt="0" custLinFactNeighborX="11299" custLinFactNeighborY="-23468">
        <dgm:presLayoutVars>
          <dgm:chMax val="0"/>
          <dgm:chPref val="0"/>
          <dgm:bulletEnabled val="1"/>
        </dgm:presLayoutVars>
      </dgm:prSet>
      <dgm:spPr/>
    </dgm:pt>
    <dgm:pt modelId="{302450FA-3B89-483C-B238-2AE84158AD74}" type="pres">
      <dgm:prSet presAssocID="{7FBC57B4-5DBC-4EB0-B78F-0E99A570CCF5}" presName="circ4" presStyleLbl="vennNode1" presStyleIdx="3" presStyleCnt="6" custLinFactNeighborX="21015" custLinFactNeighborY="40928"/>
      <dgm:spPr>
        <a:solidFill>
          <a:schemeClr val="bg2">
            <a:lumMod val="25000"/>
            <a:alpha val="50000"/>
          </a:schemeClr>
        </a:solidFill>
      </dgm:spPr>
    </dgm:pt>
    <dgm:pt modelId="{EC81BC47-60C5-476E-B267-F9FBED9DE72B}" type="pres">
      <dgm:prSet presAssocID="{7FBC57B4-5DBC-4EB0-B78F-0E99A570CCF5}" presName="circ4Tx" presStyleLbl="revTx" presStyleIdx="0" presStyleCnt="0" custLinFactX="-6520" custLinFactY="-35696" custLinFactNeighborX="-100000" custLinFactNeighborY="-100000">
        <dgm:presLayoutVars>
          <dgm:chMax val="0"/>
          <dgm:chPref val="0"/>
          <dgm:bulletEnabled val="1"/>
        </dgm:presLayoutVars>
      </dgm:prSet>
      <dgm:spPr/>
    </dgm:pt>
    <dgm:pt modelId="{518720CF-781C-4102-8113-BB3DA45D2EB2}" type="pres">
      <dgm:prSet presAssocID="{35A379D0-7737-431F-8E15-CE3D64763259}" presName="circ5" presStyleLbl="vennNode1" presStyleIdx="4" presStyleCnt="6" custLinFactNeighborX="-6309" custLinFactNeighborY="24563"/>
      <dgm:spPr>
        <a:solidFill>
          <a:srgbClr val="FF66FF">
            <a:alpha val="49804"/>
          </a:srgbClr>
        </a:solidFill>
      </dgm:spPr>
    </dgm:pt>
    <dgm:pt modelId="{03C25080-B5CD-4262-A73D-E687F5E14E69}" type="pres">
      <dgm:prSet presAssocID="{35A379D0-7737-431F-8E15-CE3D64763259}" presName="circ5Tx" presStyleLbl="revTx" presStyleIdx="0" presStyleCnt="0" custScaleX="54122" custScaleY="26044" custLinFactX="43756" custLinFactY="11335" custLinFactNeighborX="100000" custLinFactNeighborY="100000">
        <dgm:presLayoutVars>
          <dgm:chMax val="0"/>
          <dgm:chPref val="0"/>
          <dgm:bulletEnabled val="1"/>
        </dgm:presLayoutVars>
      </dgm:prSet>
      <dgm:spPr/>
    </dgm:pt>
    <dgm:pt modelId="{97DCB370-E1B0-4FC6-9547-736096339C0D}" type="pres">
      <dgm:prSet presAssocID="{4F34AB70-0954-4889-9C18-2E94C212B658}" presName="circ6" presStyleLbl="vennNode1" presStyleIdx="5" presStyleCnt="6" custLinFactNeighborX="-6309" custLinFactNeighborY="-10053"/>
      <dgm:spPr/>
    </dgm:pt>
    <dgm:pt modelId="{89DAD3EC-BEF9-4A57-A302-ED5E47AB2D58}" type="pres">
      <dgm:prSet presAssocID="{4F34AB70-0954-4889-9C18-2E94C212B658}" presName="circ6Tx" presStyleLbl="revTx" presStyleIdx="0" presStyleCnt="0" custLinFactNeighborX="14699" custLinFactNeighborY="12170">
        <dgm:presLayoutVars>
          <dgm:chMax val="0"/>
          <dgm:chPref val="0"/>
          <dgm:bulletEnabled val="1"/>
        </dgm:presLayoutVars>
      </dgm:prSet>
      <dgm:spPr/>
    </dgm:pt>
  </dgm:ptLst>
  <dgm:cxnLst>
    <dgm:cxn modelId="{7EDD8C20-D6AC-471A-B85F-1D2830DE5633}" srcId="{D6CD332F-D30A-465D-864A-D1FF1BF2AEF9}" destId="{72910FB3-E453-4DD9-B6C8-95F10DA69252}" srcOrd="2" destOrd="0" parTransId="{26E97331-C187-4E4F-9369-3ED0F27A3190}" sibTransId="{955A1DB7-ECC9-4FE6-9692-1C80BECF9231}"/>
    <dgm:cxn modelId="{EED2F43F-BBD0-406B-8919-613307CB1381}" type="presOf" srcId="{35A379D0-7737-431F-8E15-CE3D64763259}" destId="{03C25080-B5CD-4262-A73D-E687F5E14E69}" srcOrd="0" destOrd="0" presId="urn:microsoft.com/office/officeart/2005/8/layout/venn1"/>
    <dgm:cxn modelId="{72CC8362-D987-49D1-8419-AAEC3425AB01}" type="presOf" srcId="{72910FB3-E453-4DD9-B6C8-95F10DA69252}" destId="{55DFC3B4-B8D1-49B8-9E85-4C4CE1EBECF4}" srcOrd="0" destOrd="0" presId="urn:microsoft.com/office/officeart/2005/8/layout/venn1"/>
    <dgm:cxn modelId="{3A92A268-EC5E-4849-A2D2-D6C5F94D899F}" srcId="{D6CD332F-D30A-465D-864A-D1FF1BF2AEF9}" destId="{35A379D0-7737-431F-8E15-CE3D64763259}" srcOrd="4" destOrd="0" parTransId="{E33F3DE1-6F67-4A0D-9569-4EFFFFC3096D}" sibTransId="{98763F58-27EE-49F4-82DE-A00F8E774F73}"/>
    <dgm:cxn modelId="{4BB5774D-D180-4F54-802A-71D0F2C6C351}" srcId="{D6CD332F-D30A-465D-864A-D1FF1BF2AEF9}" destId="{7FBC57B4-5DBC-4EB0-B78F-0E99A570CCF5}" srcOrd="3" destOrd="0" parTransId="{7058FE31-7B21-40FC-8E8E-7905392DE002}" sibTransId="{4A729977-D442-4A98-9C9C-F35CCC9D1328}"/>
    <dgm:cxn modelId="{6B3BCD6E-0F8B-407A-A79C-77AA2AA27BA8}" srcId="{D6CD332F-D30A-465D-864A-D1FF1BF2AEF9}" destId="{BCEA0FA7-CBA5-4ACE-8C60-F386A693475C}" srcOrd="1" destOrd="0" parTransId="{ED335A13-F5EE-42BD-B150-9FB6FABF5067}" sibTransId="{BD73EF3B-C1EE-412F-837C-2C616F80EFB5}"/>
    <dgm:cxn modelId="{E793AA53-123F-4896-883A-C21C189C5E88}" type="presOf" srcId="{4F34AB70-0954-4889-9C18-2E94C212B658}" destId="{89DAD3EC-BEF9-4A57-A302-ED5E47AB2D58}" srcOrd="0" destOrd="0" presId="urn:microsoft.com/office/officeart/2005/8/layout/venn1"/>
    <dgm:cxn modelId="{9F292684-DCBA-4749-9F3D-148841F2D7A1}" type="presOf" srcId="{BCEA0FA7-CBA5-4ACE-8C60-F386A693475C}" destId="{9FF22768-1DC7-4D2B-B99C-726B105F3CDD}" srcOrd="0" destOrd="0" presId="urn:microsoft.com/office/officeart/2005/8/layout/venn1"/>
    <dgm:cxn modelId="{9B65468E-56A8-4272-BF90-1D7717EDEBBB}" srcId="{D6CD332F-D30A-465D-864A-D1FF1BF2AEF9}" destId="{4F34AB70-0954-4889-9C18-2E94C212B658}" srcOrd="5" destOrd="0" parTransId="{4D82B880-F665-4E9F-8100-2B35CF6F2E64}" sibTransId="{7EEBC750-5B7E-4317-9E0D-05246E560855}"/>
    <dgm:cxn modelId="{30D3A7B3-95AE-4235-A937-ABCFA4778FB3}" type="presOf" srcId="{7FBC57B4-5DBC-4EB0-B78F-0E99A570CCF5}" destId="{EC81BC47-60C5-476E-B267-F9FBED9DE72B}" srcOrd="0" destOrd="0" presId="urn:microsoft.com/office/officeart/2005/8/layout/venn1"/>
    <dgm:cxn modelId="{63DAEBB5-C768-4DAA-B5BC-A0FC5EF577D4}" srcId="{D6CD332F-D30A-465D-864A-D1FF1BF2AEF9}" destId="{8A2F46F7-6E28-40A5-9B34-F8CC05653D0D}" srcOrd="0" destOrd="0" parTransId="{17227C5A-C3EB-4D86-BC65-161E4A3D6BF2}" sibTransId="{F5707748-49FC-4EC0-852C-9A82D298407B}"/>
    <dgm:cxn modelId="{7420D6BE-0359-4F79-9355-496A7BFB6A54}" type="presOf" srcId="{D6CD332F-D30A-465D-864A-D1FF1BF2AEF9}" destId="{0A5CE2F8-345B-4FC6-8A09-7903FE78A0A3}" srcOrd="0" destOrd="0" presId="urn:microsoft.com/office/officeart/2005/8/layout/venn1"/>
    <dgm:cxn modelId="{5AEF6ADE-86D6-4F9A-8513-077A879B77F2}" type="presOf" srcId="{8A2F46F7-6E28-40A5-9B34-F8CC05653D0D}" destId="{33328F77-FF14-498F-A4ED-CE19535D3B06}" srcOrd="0" destOrd="0" presId="urn:microsoft.com/office/officeart/2005/8/layout/venn1"/>
    <dgm:cxn modelId="{B7294591-65E2-47A7-A3E6-E9BFBEFD4740}" type="presParOf" srcId="{0A5CE2F8-345B-4FC6-8A09-7903FE78A0A3}" destId="{85967C0F-D1D5-4C96-9973-848A078C634F}" srcOrd="0" destOrd="0" presId="urn:microsoft.com/office/officeart/2005/8/layout/venn1"/>
    <dgm:cxn modelId="{E293C38A-5889-4470-9E8A-BDB51BD37B94}" type="presParOf" srcId="{0A5CE2F8-345B-4FC6-8A09-7903FE78A0A3}" destId="{33328F77-FF14-498F-A4ED-CE19535D3B06}" srcOrd="1" destOrd="0" presId="urn:microsoft.com/office/officeart/2005/8/layout/venn1"/>
    <dgm:cxn modelId="{13E1A0E3-7F1A-4238-B7DB-F2B51E5EE8B8}" type="presParOf" srcId="{0A5CE2F8-345B-4FC6-8A09-7903FE78A0A3}" destId="{56626C5B-9CA3-4787-A6F8-70A81F4D8741}" srcOrd="2" destOrd="0" presId="urn:microsoft.com/office/officeart/2005/8/layout/venn1"/>
    <dgm:cxn modelId="{5BD8D575-3575-4448-9FD5-FEF889DDD0AE}" type="presParOf" srcId="{0A5CE2F8-345B-4FC6-8A09-7903FE78A0A3}" destId="{9FF22768-1DC7-4D2B-B99C-726B105F3CDD}" srcOrd="3" destOrd="0" presId="urn:microsoft.com/office/officeart/2005/8/layout/venn1"/>
    <dgm:cxn modelId="{9B81024B-122D-4C91-8F9D-6ADCE189394E}" type="presParOf" srcId="{0A5CE2F8-345B-4FC6-8A09-7903FE78A0A3}" destId="{35548587-EE96-4359-B5D4-49F266A4682E}" srcOrd="4" destOrd="0" presId="urn:microsoft.com/office/officeart/2005/8/layout/venn1"/>
    <dgm:cxn modelId="{93E9054C-ABB8-4A9A-8E8B-96EB59140EAF}" type="presParOf" srcId="{0A5CE2F8-345B-4FC6-8A09-7903FE78A0A3}" destId="{55DFC3B4-B8D1-49B8-9E85-4C4CE1EBECF4}" srcOrd="5" destOrd="0" presId="urn:microsoft.com/office/officeart/2005/8/layout/venn1"/>
    <dgm:cxn modelId="{D5EF04E2-0510-484D-AB50-9F7917D263CD}" type="presParOf" srcId="{0A5CE2F8-345B-4FC6-8A09-7903FE78A0A3}" destId="{302450FA-3B89-483C-B238-2AE84158AD74}" srcOrd="6" destOrd="0" presId="urn:microsoft.com/office/officeart/2005/8/layout/venn1"/>
    <dgm:cxn modelId="{2D03FBDD-B1F9-472A-B03E-4FA35DCAF396}" type="presParOf" srcId="{0A5CE2F8-345B-4FC6-8A09-7903FE78A0A3}" destId="{EC81BC47-60C5-476E-B267-F9FBED9DE72B}" srcOrd="7" destOrd="0" presId="urn:microsoft.com/office/officeart/2005/8/layout/venn1"/>
    <dgm:cxn modelId="{9C22BDEE-5B34-4F1F-81BA-53407BD05AC8}" type="presParOf" srcId="{0A5CE2F8-345B-4FC6-8A09-7903FE78A0A3}" destId="{518720CF-781C-4102-8113-BB3DA45D2EB2}" srcOrd="8" destOrd="0" presId="urn:microsoft.com/office/officeart/2005/8/layout/venn1"/>
    <dgm:cxn modelId="{44E97F5A-00B9-443F-A0E9-A99517129691}" type="presParOf" srcId="{0A5CE2F8-345B-4FC6-8A09-7903FE78A0A3}" destId="{03C25080-B5CD-4262-A73D-E687F5E14E69}" srcOrd="9" destOrd="0" presId="urn:microsoft.com/office/officeart/2005/8/layout/venn1"/>
    <dgm:cxn modelId="{9C42CB5D-4385-4D08-80CF-6523DD4C1B2E}" type="presParOf" srcId="{0A5CE2F8-345B-4FC6-8A09-7903FE78A0A3}" destId="{97DCB370-E1B0-4FC6-9547-736096339C0D}" srcOrd="10" destOrd="0" presId="urn:microsoft.com/office/officeart/2005/8/layout/venn1"/>
    <dgm:cxn modelId="{6CD2FAD1-C193-48ED-85AB-21EABACDB5AF}" type="presParOf" srcId="{0A5CE2F8-345B-4FC6-8A09-7903FE78A0A3}" destId="{89DAD3EC-BEF9-4A57-A302-ED5E47AB2D58}" srcOrd="11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967C0F-D1D5-4C96-9973-848A078C634F}">
      <dsp:nvSpPr>
        <dsp:cNvPr id="0" name=""/>
        <dsp:cNvSpPr/>
      </dsp:nvSpPr>
      <dsp:spPr>
        <a:xfrm>
          <a:off x="7826591" y="1353692"/>
          <a:ext cx="3974886" cy="3974886"/>
        </a:xfrm>
        <a:prstGeom prst="ellipse">
          <a:avLst/>
        </a:prstGeom>
        <a:solidFill>
          <a:schemeClr val="accent2">
            <a:lumMod val="60000"/>
            <a:lumOff val="40000"/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33328F77-FF14-498F-A4ED-CE19535D3B06}">
      <dsp:nvSpPr>
        <dsp:cNvPr id="0" name=""/>
        <dsp:cNvSpPr/>
      </dsp:nvSpPr>
      <dsp:spPr>
        <a:xfrm>
          <a:off x="6500276" y="316635"/>
          <a:ext cx="6317138" cy="1152106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Knowledge  Graph</a:t>
          </a:r>
        </a:p>
      </dsp:txBody>
      <dsp:txXfrm>
        <a:off x="6500276" y="316635"/>
        <a:ext cx="6317138" cy="1152106"/>
      </dsp:txXfrm>
    </dsp:sp>
    <dsp:sp modelId="{56626C5B-9CA3-4787-A6F8-70A81F4D8741}">
      <dsp:nvSpPr>
        <dsp:cNvPr id="0" name=""/>
        <dsp:cNvSpPr/>
      </dsp:nvSpPr>
      <dsp:spPr>
        <a:xfrm>
          <a:off x="10103181" y="2792994"/>
          <a:ext cx="3974886" cy="3974886"/>
        </a:xfrm>
        <a:prstGeom prst="ellipse">
          <a:avLst/>
        </a:prstGeom>
        <a:solidFill>
          <a:schemeClr val="accent6">
            <a:lumMod val="60000"/>
            <a:lumOff val="40000"/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9FF22768-1DC7-4D2B-B99C-726B105F3CDD}">
      <dsp:nvSpPr>
        <dsp:cNvPr id="0" name=""/>
        <dsp:cNvSpPr/>
      </dsp:nvSpPr>
      <dsp:spPr>
        <a:xfrm>
          <a:off x="13437415" y="2611484"/>
          <a:ext cx="4708584" cy="2964409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Machine Learning</a:t>
          </a:r>
        </a:p>
      </dsp:txBody>
      <dsp:txXfrm>
        <a:off x="13437415" y="2611484"/>
        <a:ext cx="4708584" cy="2964409"/>
      </dsp:txXfrm>
    </dsp:sp>
    <dsp:sp modelId="{35548587-EE96-4359-B5D4-49F266A4682E}">
      <dsp:nvSpPr>
        <dsp:cNvPr id="0" name=""/>
        <dsp:cNvSpPr/>
      </dsp:nvSpPr>
      <dsp:spPr>
        <a:xfrm>
          <a:off x="10369141" y="5627518"/>
          <a:ext cx="3974886" cy="3974886"/>
        </a:xfrm>
        <a:prstGeom prst="ellipse">
          <a:avLst/>
        </a:prstGeom>
        <a:solidFill>
          <a:schemeClr val="accent5">
            <a:lumMod val="60000"/>
            <a:lumOff val="40000"/>
            <a:alpha val="5000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55DFC3B4-B8D1-49B8-9E85-4C4CE1EBECF4}">
      <dsp:nvSpPr>
        <dsp:cNvPr id="0" name=""/>
        <dsp:cNvSpPr/>
      </dsp:nvSpPr>
      <dsp:spPr>
        <a:xfrm>
          <a:off x="13393484" y="5832597"/>
          <a:ext cx="4708584" cy="33124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Rule </a:t>
          </a:r>
        </a:p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Based</a:t>
          </a:r>
        </a:p>
      </dsp:txBody>
      <dsp:txXfrm>
        <a:off x="13393484" y="5832597"/>
        <a:ext cx="4708584" cy="3312405"/>
      </dsp:txXfrm>
    </dsp:sp>
    <dsp:sp modelId="{302450FA-3B89-483C-B238-2AE84158AD74}">
      <dsp:nvSpPr>
        <dsp:cNvPr id="0" name=""/>
        <dsp:cNvSpPr/>
      </dsp:nvSpPr>
      <dsp:spPr>
        <a:xfrm>
          <a:off x="8136911" y="7186362"/>
          <a:ext cx="3974886" cy="3974886"/>
        </a:xfrm>
        <a:prstGeom prst="ellipse">
          <a:avLst/>
        </a:prstGeom>
        <a:solidFill>
          <a:schemeClr val="bg2">
            <a:lumMod val="25000"/>
            <a:alpha val="5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EC81BC47-60C5-476E-B267-F9FBED9DE72B}">
      <dsp:nvSpPr>
        <dsp:cNvPr id="0" name=""/>
        <dsp:cNvSpPr/>
      </dsp:nvSpPr>
      <dsp:spPr>
        <a:xfrm>
          <a:off x="1512165" y="6120675"/>
          <a:ext cx="4968608" cy="270663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Deep </a:t>
          </a:r>
        </a:p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Learning</a:t>
          </a:r>
        </a:p>
      </dsp:txBody>
      <dsp:txXfrm>
        <a:off x="1512165" y="6120675"/>
        <a:ext cx="4968608" cy="2706634"/>
      </dsp:txXfrm>
    </dsp:sp>
    <dsp:sp modelId="{518720CF-781C-4102-8113-BB3DA45D2EB2}">
      <dsp:nvSpPr>
        <dsp:cNvPr id="0" name=""/>
        <dsp:cNvSpPr/>
      </dsp:nvSpPr>
      <dsp:spPr>
        <a:xfrm>
          <a:off x="5760630" y="5789613"/>
          <a:ext cx="3974886" cy="3974886"/>
        </a:xfrm>
        <a:prstGeom prst="ellipse">
          <a:avLst/>
        </a:prstGeom>
        <a:solidFill>
          <a:srgbClr val="FF66FF">
            <a:alpha val="49804"/>
          </a:srgb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03C25080-B5CD-4262-A73D-E687F5E14E69}">
      <dsp:nvSpPr>
        <dsp:cNvPr id="0" name=""/>
        <dsp:cNvSpPr/>
      </dsp:nvSpPr>
      <dsp:spPr>
        <a:xfrm>
          <a:off x="8856993" y="11522680"/>
          <a:ext cx="2548380" cy="862682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Statistics</a:t>
          </a:r>
          <a:endParaRPr lang="en-IN" sz="65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856993" y="11522680"/>
        <a:ext cx="2548380" cy="862682"/>
      </dsp:txXfrm>
    </dsp:sp>
    <dsp:sp modelId="{97DCB370-E1B0-4FC6-9547-736096339C0D}">
      <dsp:nvSpPr>
        <dsp:cNvPr id="0" name=""/>
        <dsp:cNvSpPr/>
      </dsp:nvSpPr>
      <dsp:spPr>
        <a:xfrm>
          <a:off x="5760630" y="2923728"/>
          <a:ext cx="3974886" cy="3974886"/>
        </a:xfrm>
        <a:prstGeom prst="ellipse">
          <a:avLst/>
        </a:prstGeom>
        <a:solidFill>
          <a:schemeClr val="accent1">
            <a:alpha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</dsp:sp>
    <dsp:sp modelId="{89DAD3EC-BEF9-4A57-A302-ED5E47AB2D58}">
      <dsp:nvSpPr>
        <dsp:cNvPr id="0" name=""/>
        <dsp:cNvSpPr/>
      </dsp:nvSpPr>
      <dsp:spPr>
        <a:xfrm>
          <a:off x="1700132" y="2592235"/>
          <a:ext cx="4708584" cy="331240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Prompt</a:t>
          </a:r>
        </a:p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Tuning</a:t>
          </a:r>
        </a:p>
      </dsp:txBody>
      <dsp:txXfrm>
        <a:off x="1700132" y="2592235"/>
        <a:ext cx="4708584" cy="33124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53" y="2356703"/>
            <a:ext cx="21600319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53" y="7563446"/>
            <a:ext cx="21600319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093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71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5029" y="3590055"/>
            <a:ext cx="24840367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65029" y="9636811"/>
            <a:ext cx="24840367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75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75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103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0029" y="3833390"/>
            <a:ext cx="1224018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580215" y="3833390"/>
            <a:ext cx="12240181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181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0" y="766679"/>
            <a:ext cx="24840367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3781" y="3530053"/>
            <a:ext cx="12183929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83781" y="5260078"/>
            <a:ext cx="12183929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580215" y="3530053"/>
            <a:ext cx="1224393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580215" y="5260078"/>
            <a:ext cx="1224393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757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714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335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243932" y="2073365"/>
            <a:ext cx="14580215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10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782" y="960014"/>
            <a:ext cx="9288886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243932" y="2073365"/>
            <a:ext cx="14580215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782" y="4320064"/>
            <a:ext cx="9288886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7597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949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610304" y="766678"/>
            <a:ext cx="6210092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0029" y="766678"/>
            <a:ext cx="18270270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4985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80029" y="766679"/>
            <a:ext cx="24840367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0029" y="3833390"/>
            <a:ext cx="24840367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80029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217887-9C7F-48AC-8318-2E417CD4A944}" type="datetimeFigureOut">
              <a:rPr lang="en-IN" smtClean="0"/>
              <a:t>24-09-2024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40141" y="13346865"/>
            <a:ext cx="9720143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40300" y="13346865"/>
            <a:ext cx="648009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546CA-4B83-4A50-8CC3-982FA2A74B6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133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Xnsam/HD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zenodo.org/records/8381080" TargetMode="Externa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mmuratarat.github.io/2020-01-25/multilabel_classification_metrics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0"/>
                <a:lumOff val="100000"/>
              </a:schemeClr>
            </a:gs>
            <a:gs pos="37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57B529-D1C2-C38F-80FB-70D981498B17}"/>
              </a:ext>
            </a:extLst>
          </p:cNvPr>
          <p:cNvSpPr txBox="1"/>
          <p:nvPr/>
        </p:nvSpPr>
        <p:spPr>
          <a:xfrm>
            <a:off x="13104068" y="4679826"/>
            <a:ext cx="149712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 of fine-tuned open-source large language models</a:t>
            </a:r>
          </a:p>
          <a:p>
            <a:pPr algn="ctr"/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gold standard synthetic epilepsy clinical notes with focus on Seizure Frequency and Prescriptions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E925E5-2F00-54AC-A0D2-AAA3E79A2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9012" y="1295450"/>
            <a:ext cx="7056784" cy="99436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7691480-620C-B5B0-830D-A33289EE2800}"/>
              </a:ext>
            </a:extLst>
          </p:cNvPr>
          <p:cNvSpPr txBox="1"/>
          <p:nvPr/>
        </p:nvSpPr>
        <p:spPr>
          <a:xfrm>
            <a:off x="18576676" y="10656490"/>
            <a:ext cx="10041259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Akson Sam Varghese</a:t>
            </a:r>
          </a:p>
          <a:p>
            <a:pPr algn="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2311233</a:t>
            </a:r>
          </a:p>
          <a:p>
            <a:pPr algn="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Sc.  Health Data Science</a:t>
            </a:r>
          </a:p>
          <a:p>
            <a:pPr algn="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Singleton Park Campus, Swansea University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73F021-24B2-341C-1B8C-2D051B338A84}"/>
              </a:ext>
            </a:extLst>
          </p:cNvPr>
          <p:cNvSpPr txBox="1"/>
          <p:nvPr/>
        </p:nvSpPr>
        <p:spPr>
          <a:xfrm>
            <a:off x="182490" y="12030068"/>
            <a:ext cx="633521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https://github.com/Xnsam/HDS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5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EE754A2-0399-3F4B-F8DD-417823CE947A}"/>
              </a:ext>
            </a:extLst>
          </p:cNvPr>
          <p:cNvSpPr txBox="1"/>
          <p:nvPr/>
        </p:nvSpPr>
        <p:spPr>
          <a:xfrm>
            <a:off x="282056" y="376247"/>
            <a:ext cx="11453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73FE9E-45BD-13E5-8D72-C8E13307D8F6}"/>
              </a:ext>
            </a:extLst>
          </p:cNvPr>
          <p:cNvSpPr txBox="1"/>
          <p:nvPr/>
        </p:nvSpPr>
        <p:spPr>
          <a:xfrm>
            <a:off x="277492" y="1426399"/>
            <a:ext cx="2024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perform clinical NER on clinical notes to extract Seizure Frequency (SF) and Prescriptions.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915D433-2591-0B7C-3C5D-7A48F72938F2}"/>
              </a:ext>
            </a:extLst>
          </p:cNvPr>
          <p:cNvSpPr txBox="1"/>
          <p:nvPr/>
        </p:nvSpPr>
        <p:spPr>
          <a:xfrm>
            <a:off x="3671020" y="4175770"/>
            <a:ext cx="511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Seizure Frequency ?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F82FC8-0705-FF8D-2A1A-7EE7257A259B}"/>
              </a:ext>
            </a:extLst>
          </p:cNvPr>
          <p:cNvSpPr txBox="1"/>
          <p:nvPr/>
        </p:nvSpPr>
        <p:spPr>
          <a:xfrm>
            <a:off x="19224748" y="4175769"/>
            <a:ext cx="51125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Prescription ?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22DB00B-2E77-D268-D432-81DAB883566B}"/>
              </a:ext>
            </a:extLst>
          </p:cNvPr>
          <p:cNvSpPr txBox="1"/>
          <p:nvPr/>
        </p:nvSpPr>
        <p:spPr>
          <a:xfrm>
            <a:off x="12888044" y="5903962"/>
            <a:ext cx="1656184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9900" b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829942-2CAE-9EB3-C4AA-5BB26FB755A2}"/>
              </a:ext>
            </a:extLst>
          </p:cNvPr>
          <p:cNvSpPr txBox="1"/>
          <p:nvPr/>
        </p:nvSpPr>
        <p:spPr>
          <a:xfrm>
            <a:off x="1440670" y="8677651"/>
            <a:ext cx="11055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AB7E74-5F2C-C675-9542-33C2E2F6794B}"/>
              </a:ext>
            </a:extLst>
          </p:cNvPr>
          <p:cNvSpPr txBox="1"/>
          <p:nvPr/>
        </p:nvSpPr>
        <p:spPr>
          <a:xfrm>
            <a:off x="16056396" y="5399906"/>
            <a:ext cx="1105552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just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exists in extracting prescriptions from notes for digitization, auditing and automation</a:t>
            </a:r>
          </a:p>
          <a:p>
            <a:pPr marL="742950" indent="-742950" algn="just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Crack the existing benchmark with new data extraction approach</a:t>
            </a:r>
          </a:p>
          <a:p>
            <a:pPr marL="742950" indent="-742950" algn="just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Nuanced to extract dosage of drugs, to increase or decrease dosage, intake frequency – direct indicators of epilepsy status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3370F8-5A69-7B84-8346-502A74BB413B}"/>
              </a:ext>
            </a:extLst>
          </p:cNvPr>
          <p:cNvSpPr txBox="1"/>
          <p:nvPr/>
        </p:nvSpPr>
        <p:spPr>
          <a:xfrm>
            <a:off x="1048818" y="5480298"/>
            <a:ext cx="110555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 algn="just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 Frequency could be used to understand Assess Seizure Freedom and effectiveness of drugs in controlling the seizures</a:t>
            </a:r>
          </a:p>
          <a:p>
            <a:pPr marL="742950" indent="-742950" algn="just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documentation and audit trail of seizure frequency robs opportunity to research</a:t>
            </a:r>
          </a:p>
          <a:p>
            <a:pPr marL="742950" indent="-742950" algn="just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a rate of seizure to improve clinician-patient engagement and care, study comorbidities e.g. depression induced due to drugs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BC956D-568E-D6F8-D5AE-FD185BECCF43}"/>
              </a:ext>
            </a:extLst>
          </p:cNvPr>
          <p:cNvSpPr txBox="1"/>
          <p:nvPr/>
        </p:nvSpPr>
        <p:spPr>
          <a:xfrm>
            <a:off x="1048818" y="12090523"/>
            <a:ext cx="1677786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 et al., 2015; 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Fonferko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-Shadrach et al., 2019; Li et al 2021; Xie et al., 2022; Lehman, E et al., 2023; </a:t>
            </a:r>
          </a:p>
        </p:txBody>
      </p:sp>
    </p:spTree>
    <p:extLst>
      <p:ext uri="{BB962C8B-B14F-4D97-AF65-F5344CB8AC3E}">
        <p14:creationId xmlns:p14="http://schemas.microsoft.com/office/powerpoint/2010/main" val="4260483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A9B4F5-53C8-EBB6-2E09-B017B89D21C1}"/>
              </a:ext>
            </a:extLst>
          </p:cNvPr>
          <p:cNvSpPr txBox="1"/>
          <p:nvPr/>
        </p:nvSpPr>
        <p:spPr>
          <a:xfrm>
            <a:off x="365706" y="178603"/>
            <a:ext cx="84898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ADFBB0-92E2-7F5B-EDCF-C93B9B531DF7}"/>
              </a:ext>
            </a:extLst>
          </p:cNvPr>
          <p:cNvSpPr txBox="1"/>
          <p:nvPr/>
        </p:nvSpPr>
        <p:spPr>
          <a:xfrm>
            <a:off x="365706" y="2231554"/>
            <a:ext cx="14397134" cy="10002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Dear Dr,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Diagnosis: symptomatic, structural right temporal lobe epilepsy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Subarachnoid haemorrhage (right MCA) 2017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antiepileptic medication:  </a:t>
            </a:r>
            <a:r>
              <a:rPr lang="en-IN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lamotrigine 75 mg twice a day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(to increase as stated below)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 type and frequency:  </a:t>
            </a:r>
            <a:r>
              <a:rPr lang="en-IN" sz="2800" dirty="0">
                <a:highlight>
                  <a:srgbClr val="00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focal seizures with loss of awareness (Unusual smell) approximately 2 to 3 per month.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Investigations: CT head 2017 collier in situ plus low density right temporal lobe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reviewed this 57 year old man in clinic today. He continues to have what he calls “absences” which are focal seizures. During them, he has a smell which is difficult to describe. He will lose awareness for a couple of minutes. When he has the warning of an unusual smell he will sit down. He injured his right elbow in a seizure last year.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he is continuing to have seizures, I suggest that </a:t>
            </a:r>
            <a:r>
              <a:rPr lang="en-IN" sz="28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he increases the lamotrigine slowly by 25 mg every fortnight, to an initial dose of 100 mg twice a day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he has no side-effects with this, then he can again continue to increases the lamotrigine by no more than 25 mg every fortnight.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will see him again in around six months time, should there be a problem before then he can contact my secretary on the number above.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459EE-1C17-4C03-4448-023E4C056DE0}"/>
              </a:ext>
            </a:extLst>
          </p:cNvPr>
          <p:cNvSpPr txBox="1"/>
          <p:nvPr/>
        </p:nvSpPr>
        <p:spPr>
          <a:xfrm>
            <a:off x="2704776" y="1205078"/>
            <a:ext cx="5427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Given Clinical Text Dataset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31B276-89B4-BEB6-1597-077B4E2A432A}"/>
              </a:ext>
            </a:extLst>
          </p:cNvPr>
          <p:cNvSpPr txBox="1"/>
          <p:nvPr/>
        </p:nvSpPr>
        <p:spPr>
          <a:xfrm>
            <a:off x="20880932" y="1205078"/>
            <a:ext cx="27366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JSON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E246E86-78EB-A13B-3F12-A5BFAC07654C}"/>
              </a:ext>
            </a:extLst>
          </p:cNvPr>
          <p:cNvSpPr txBox="1"/>
          <p:nvPr/>
        </p:nvSpPr>
        <p:spPr>
          <a:xfrm>
            <a:off x="19728805" y="2016110"/>
            <a:ext cx="6696743" cy="9694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"entity": "Prescription",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"152",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"181",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"text": "lamotrigine-75-mg-twice-a-day",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"attributes":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DrugName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"lamotrigine",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DrugDose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"75",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DoseUnit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"mg",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"Frequency": "2"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"entity":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SeizureFrequency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"239",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end_index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"276",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"text": "focal-seizures-with-loss-of-awareness",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"attributes": {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LowerNumberOfSeizures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"2",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UpperNumberOfSeizures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"3",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TimePeriod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"Month",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"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NumberOfTimePeriods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": "1"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}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6606D9-5B42-DDF4-E5D3-5E33CF36410D}"/>
              </a:ext>
            </a:extLst>
          </p:cNvPr>
          <p:cNvSpPr/>
          <p:nvPr/>
        </p:nvSpPr>
        <p:spPr>
          <a:xfrm>
            <a:off x="934716" y="12643157"/>
            <a:ext cx="936104" cy="32012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B46A93A-38FB-8AB2-5ACB-994389634A67}"/>
              </a:ext>
            </a:extLst>
          </p:cNvPr>
          <p:cNvSpPr/>
          <p:nvPr/>
        </p:nvSpPr>
        <p:spPr>
          <a:xfrm>
            <a:off x="938365" y="13441572"/>
            <a:ext cx="936104" cy="320126"/>
          </a:xfrm>
          <a:prstGeom prst="rec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A50FA18-FC2C-8557-D884-2E9EAB533B3C}"/>
              </a:ext>
            </a:extLst>
          </p:cNvPr>
          <p:cNvSpPr txBox="1"/>
          <p:nvPr/>
        </p:nvSpPr>
        <p:spPr>
          <a:xfrm>
            <a:off x="2014836" y="12581542"/>
            <a:ext cx="20713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42EECF-DF25-1C7C-09E9-9BE6511199CB}"/>
              </a:ext>
            </a:extLst>
          </p:cNvPr>
          <p:cNvSpPr txBox="1"/>
          <p:nvPr/>
        </p:nvSpPr>
        <p:spPr>
          <a:xfrm>
            <a:off x="2014836" y="13238478"/>
            <a:ext cx="13131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BAD42E0-5CC6-6A47-D907-AB28EBBB3D14}"/>
              </a:ext>
            </a:extLst>
          </p:cNvPr>
          <p:cNvCxnSpPr/>
          <p:nvPr/>
        </p:nvCxnSpPr>
        <p:spPr>
          <a:xfrm>
            <a:off x="15194888" y="6863591"/>
            <a:ext cx="3309780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249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F58302A-C500-6786-F22C-CB7E1C73DB45}"/>
              </a:ext>
            </a:extLst>
          </p:cNvPr>
          <p:cNvSpPr txBox="1"/>
          <p:nvPr/>
        </p:nvSpPr>
        <p:spPr>
          <a:xfrm>
            <a:off x="239742" y="200764"/>
            <a:ext cx="12360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– </a:t>
            </a:r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Query Formulation</a:t>
            </a:r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09FDC-2351-E6B7-1B03-214F663DC13B}"/>
              </a:ext>
            </a:extLst>
          </p:cNvPr>
          <p:cNvSpPr txBox="1"/>
          <p:nvPr/>
        </p:nvSpPr>
        <p:spPr>
          <a:xfrm>
            <a:off x="873374" y="1295450"/>
            <a:ext cx="2396799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Tx/>
              <a:buChar char="-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combination</a:t>
            </a:r>
          </a:p>
          <a:p>
            <a:pPr marL="1028700" lvl="1" indent="-571500" algn="just">
              <a:buFontTx/>
              <a:buChar char="-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combination was formed by using the topics mentioned in the literature search flow chart,</a:t>
            </a:r>
          </a:p>
          <a:p>
            <a:pPr marL="1028700" lvl="1" indent="-571500" algn="just">
              <a:buFontTx/>
              <a:buChar char="-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Terms parent and child combination along with synonyms  </a:t>
            </a:r>
          </a:p>
          <a:p>
            <a:pPr marL="1028700" lvl="1" indent="-571500" algn="just">
              <a:buFontTx/>
              <a:buChar char="-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Structure: Parent term ( AND / OR ) Child Term ( AND / OR 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ADE866-FF3F-44B8-C1E2-9B6A70D31D17}"/>
              </a:ext>
            </a:extLst>
          </p:cNvPr>
          <p:cNvSpPr/>
          <p:nvPr/>
        </p:nvSpPr>
        <p:spPr>
          <a:xfrm>
            <a:off x="4823148" y="5908998"/>
            <a:ext cx="3096344" cy="1069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BBE5F3-30CB-1636-ED5A-6CB85F437366}"/>
              </a:ext>
            </a:extLst>
          </p:cNvPr>
          <p:cNvSpPr/>
          <p:nvPr/>
        </p:nvSpPr>
        <p:spPr>
          <a:xfrm>
            <a:off x="9503668" y="5906481"/>
            <a:ext cx="2016224" cy="1069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Epilepsy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937F7C-7B40-D21C-B965-18B43A5C56AE}"/>
              </a:ext>
            </a:extLst>
          </p:cNvPr>
          <p:cNvSpPr/>
          <p:nvPr/>
        </p:nvSpPr>
        <p:spPr>
          <a:xfrm>
            <a:off x="1438772" y="5908998"/>
            <a:ext cx="1800200" cy="106945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D94192D-C0A5-E4B9-17B9-4B56D2B98484}"/>
              </a:ext>
            </a:extLst>
          </p:cNvPr>
          <p:cNvSpPr/>
          <p:nvPr/>
        </p:nvSpPr>
        <p:spPr>
          <a:xfrm>
            <a:off x="13212080" y="5903962"/>
            <a:ext cx="2016224" cy="1069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NER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904189-4CEE-7811-85B3-319938B50E8D}"/>
              </a:ext>
            </a:extLst>
          </p:cNvPr>
          <p:cNvSpPr/>
          <p:nvPr/>
        </p:nvSpPr>
        <p:spPr>
          <a:xfrm>
            <a:off x="16848484" y="5906481"/>
            <a:ext cx="2016224" cy="106945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FA399D-D6AC-0A08-0574-4FD939840B37}"/>
              </a:ext>
            </a:extLst>
          </p:cNvPr>
          <p:cNvSpPr txBox="1"/>
          <p:nvPr/>
        </p:nvSpPr>
        <p:spPr>
          <a:xfrm>
            <a:off x="3418992" y="6118044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1F490A7-399D-6EBF-A723-F1EFA24EEE83}"/>
              </a:ext>
            </a:extLst>
          </p:cNvPr>
          <p:cNvSpPr txBox="1"/>
          <p:nvPr/>
        </p:nvSpPr>
        <p:spPr>
          <a:xfrm>
            <a:off x="8135516" y="6115526"/>
            <a:ext cx="13681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76A5A8-8558-44DE-50D8-BB472BCDA38C}"/>
              </a:ext>
            </a:extLst>
          </p:cNvPr>
          <p:cNvSpPr txBox="1"/>
          <p:nvPr/>
        </p:nvSpPr>
        <p:spPr>
          <a:xfrm>
            <a:off x="11663908" y="6090125"/>
            <a:ext cx="12241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A7180D-9D8A-A76A-B1F9-FDABEB497C35}"/>
              </a:ext>
            </a:extLst>
          </p:cNvPr>
          <p:cNvSpPr txBox="1"/>
          <p:nvPr/>
        </p:nvSpPr>
        <p:spPr>
          <a:xfrm>
            <a:off x="15480332" y="6115525"/>
            <a:ext cx="9361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112DA2D-B89D-572A-FAA9-0B6C03086C6A}"/>
              </a:ext>
            </a:extLst>
          </p:cNvPr>
          <p:cNvSpPr txBox="1"/>
          <p:nvPr/>
        </p:nvSpPr>
        <p:spPr>
          <a:xfrm>
            <a:off x="1222748" y="8378363"/>
            <a:ext cx="19146113" cy="304698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Examples: </a:t>
            </a: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NER with LLMs</a:t>
            </a: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 extraction with LLMs</a:t>
            </a: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Biomedical information extraction with LLMs</a:t>
            </a: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and clinical NER epilepsy applications</a:t>
            </a: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NER with LLMs in epilepsy</a:t>
            </a:r>
          </a:p>
        </p:txBody>
      </p:sp>
    </p:spTree>
    <p:extLst>
      <p:ext uri="{BB962C8B-B14F-4D97-AF65-F5344CB8AC3E}">
        <p14:creationId xmlns:p14="http://schemas.microsoft.com/office/powerpoint/2010/main" val="30737381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8885B9-D669-8FA3-903E-DCF83CB65FF5}"/>
              </a:ext>
            </a:extLst>
          </p:cNvPr>
          <p:cNvSpPr/>
          <p:nvPr/>
        </p:nvSpPr>
        <p:spPr>
          <a:xfrm>
            <a:off x="2158852" y="5898291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Tree</a:t>
            </a: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906A5C36-075D-75BC-0650-DD400BA8D69D}"/>
              </a:ext>
            </a:extLst>
          </p:cNvPr>
          <p:cNvCxnSpPr>
            <a:cxnSpLocks/>
            <a:stCxn id="3" idx="3"/>
            <a:endCxn id="12" idx="1"/>
          </p:cNvCxnSpPr>
          <p:nvPr/>
        </p:nvCxnSpPr>
        <p:spPr>
          <a:xfrm flipV="1">
            <a:off x="3491484" y="2716110"/>
            <a:ext cx="625388" cy="34174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12255E66-7D4E-ACFB-9BEE-E9874751E0C7}"/>
              </a:ext>
            </a:extLst>
          </p:cNvPr>
          <p:cNvSpPr/>
          <p:nvPr/>
        </p:nvSpPr>
        <p:spPr>
          <a:xfrm>
            <a:off x="4116872" y="2480799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Epilepsy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6357E50-FC8E-A796-D8CA-D9D40482464D}"/>
              </a:ext>
            </a:extLst>
          </p:cNvPr>
          <p:cNvSpPr/>
          <p:nvPr/>
        </p:nvSpPr>
        <p:spPr>
          <a:xfrm>
            <a:off x="4125823" y="8090345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B0872185-F5D7-EC83-5815-424F5D4ABC50}"/>
              </a:ext>
            </a:extLst>
          </p:cNvPr>
          <p:cNvCxnSpPr>
            <a:cxnSpLocks/>
            <a:stCxn id="3" idx="3"/>
            <a:endCxn id="16" idx="1"/>
          </p:cNvCxnSpPr>
          <p:nvPr/>
        </p:nvCxnSpPr>
        <p:spPr>
          <a:xfrm>
            <a:off x="3491484" y="6133602"/>
            <a:ext cx="634339" cy="2192054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1539E2E9-72FD-EEDA-13A9-BE735603ED1D}"/>
              </a:ext>
            </a:extLst>
          </p:cNvPr>
          <p:cNvCxnSpPr>
            <a:cxnSpLocks/>
            <a:stCxn id="12" idx="3"/>
            <a:endCxn id="41" idx="1"/>
          </p:cNvCxnSpPr>
          <p:nvPr/>
        </p:nvCxnSpPr>
        <p:spPr>
          <a:xfrm flipV="1">
            <a:off x="5449504" y="1970617"/>
            <a:ext cx="540258" cy="74549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EB1C2D4E-C52C-4B5F-5B17-5A8F5FEFAEE5}"/>
              </a:ext>
            </a:extLst>
          </p:cNvPr>
          <p:cNvSpPr/>
          <p:nvPr/>
        </p:nvSpPr>
        <p:spPr>
          <a:xfrm>
            <a:off x="5989762" y="1735306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id="{A2C3F1D0-F5B0-90BA-B8C8-3329B4B8F61B}"/>
              </a:ext>
            </a:extLst>
          </p:cNvPr>
          <p:cNvCxnSpPr>
            <a:cxnSpLocks/>
            <a:stCxn id="12" idx="3"/>
            <a:endCxn id="47" idx="1"/>
          </p:cNvCxnSpPr>
          <p:nvPr/>
        </p:nvCxnSpPr>
        <p:spPr>
          <a:xfrm>
            <a:off x="5449504" y="2716110"/>
            <a:ext cx="565150" cy="137540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505978DD-3280-CE48-1848-1E80485C4997}"/>
              </a:ext>
            </a:extLst>
          </p:cNvPr>
          <p:cNvSpPr/>
          <p:nvPr/>
        </p:nvSpPr>
        <p:spPr>
          <a:xfrm>
            <a:off x="6014654" y="3856206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Statistics</a:t>
            </a:r>
          </a:p>
        </p:txBody>
      </p: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B042AF1B-4125-FBDB-419E-C4BAABF71DDC}"/>
              </a:ext>
            </a:extLst>
          </p:cNvPr>
          <p:cNvCxnSpPr>
            <a:cxnSpLocks/>
            <a:stCxn id="16" idx="3"/>
            <a:endCxn id="52" idx="1"/>
          </p:cNvCxnSpPr>
          <p:nvPr/>
        </p:nvCxnSpPr>
        <p:spPr>
          <a:xfrm flipV="1">
            <a:off x="5458455" y="5628159"/>
            <a:ext cx="609958" cy="269749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95BA109C-EC18-8134-85CB-0358DED5A69F}"/>
              </a:ext>
            </a:extLst>
          </p:cNvPr>
          <p:cNvSpPr/>
          <p:nvPr/>
        </p:nvSpPr>
        <p:spPr>
          <a:xfrm>
            <a:off x="6068413" y="5392848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Definitions</a:t>
            </a:r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AB0865DA-4D73-1550-D36E-8904A93517E4}"/>
              </a:ext>
            </a:extLst>
          </p:cNvPr>
          <p:cNvCxnSpPr>
            <a:cxnSpLocks/>
            <a:stCxn id="16" idx="3"/>
            <a:endCxn id="68" idx="1"/>
          </p:cNvCxnSpPr>
          <p:nvPr/>
        </p:nvCxnSpPr>
        <p:spPr>
          <a:xfrm>
            <a:off x="5458455" y="8325656"/>
            <a:ext cx="609958" cy="81207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2263452A-FE4B-80DC-1C99-096D296B273C}"/>
              </a:ext>
            </a:extLst>
          </p:cNvPr>
          <p:cNvSpPr/>
          <p:nvPr/>
        </p:nvSpPr>
        <p:spPr>
          <a:xfrm>
            <a:off x="6068413" y="8902424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+ 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8C1DFABF-FBE4-C528-8EDF-9254685A8BA8}"/>
              </a:ext>
            </a:extLst>
          </p:cNvPr>
          <p:cNvSpPr/>
          <p:nvPr/>
        </p:nvSpPr>
        <p:spPr>
          <a:xfrm>
            <a:off x="14857213" y="2475767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</a:t>
            </a:r>
          </a:p>
        </p:txBody>
      </p: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16D8C187-E804-076B-E87E-DE993E6BC3B2}"/>
              </a:ext>
            </a:extLst>
          </p:cNvPr>
          <p:cNvCxnSpPr>
            <a:cxnSpLocks/>
            <a:stCxn id="16" idx="3"/>
            <a:endCxn id="193" idx="1"/>
          </p:cNvCxnSpPr>
          <p:nvPr/>
        </p:nvCxnSpPr>
        <p:spPr>
          <a:xfrm>
            <a:off x="5458455" y="8325656"/>
            <a:ext cx="609958" cy="531928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89998C0A-D1F5-5279-FB3B-BE80DD166226}"/>
              </a:ext>
            </a:extLst>
          </p:cNvPr>
          <p:cNvCxnSpPr>
            <a:cxnSpLocks/>
            <a:stCxn id="41" idx="3"/>
          </p:cNvCxnSpPr>
          <p:nvPr/>
        </p:nvCxnSpPr>
        <p:spPr>
          <a:xfrm>
            <a:off x="7322394" y="1970617"/>
            <a:ext cx="90466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17F95C11-8FF0-9FBA-BE2C-AEC38A206C10}"/>
              </a:ext>
            </a:extLst>
          </p:cNvPr>
          <p:cNvCxnSpPr>
            <a:cxnSpLocks/>
            <a:stCxn id="52" idx="3"/>
            <a:endCxn id="501" idx="1"/>
          </p:cNvCxnSpPr>
          <p:nvPr/>
        </p:nvCxnSpPr>
        <p:spPr>
          <a:xfrm flipV="1">
            <a:off x="7401045" y="5620327"/>
            <a:ext cx="915570" cy="7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TextBox 132">
            <a:extLst>
              <a:ext uri="{FF2B5EF4-FFF2-40B4-BE49-F238E27FC236}">
                <a16:creationId xmlns:a16="http://schemas.microsoft.com/office/drawing/2014/main" id="{9E4734C2-E11F-0883-9A48-00615CDE2A3B}"/>
              </a:ext>
            </a:extLst>
          </p:cNvPr>
          <p:cNvSpPr txBox="1"/>
          <p:nvPr/>
        </p:nvSpPr>
        <p:spPr>
          <a:xfrm>
            <a:off x="8243238" y="905162"/>
            <a:ext cx="2792327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epilepsy, Definitions of epilepsy,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in epilepsy, Classification of epilepsy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75063B7-693B-732C-592B-B30659A05EC5}"/>
              </a:ext>
            </a:extLst>
          </p:cNvPr>
          <p:cNvSpPr txBox="1"/>
          <p:nvPr/>
        </p:nvSpPr>
        <p:spPr>
          <a:xfrm>
            <a:off x="25957764" y="369333"/>
            <a:ext cx="2233094" cy="1107996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tool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INSPEC                 -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                  -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PubMed              - 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scholar    -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10CD35D-C03B-2FCD-C8C0-37D194B29825}"/>
              </a:ext>
            </a:extLst>
          </p:cNvPr>
          <p:cNvSpPr/>
          <p:nvPr/>
        </p:nvSpPr>
        <p:spPr>
          <a:xfrm>
            <a:off x="27481648" y="573266"/>
            <a:ext cx="418953" cy="13335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9" name="Rectangle 138">
            <a:extLst>
              <a:ext uri="{FF2B5EF4-FFF2-40B4-BE49-F238E27FC236}">
                <a16:creationId xmlns:a16="http://schemas.microsoft.com/office/drawing/2014/main" id="{AD1F3707-2962-FE79-5999-1273F9FA7EA6}"/>
              </a:ext>
            </a:extLst>
          </p:cNvPr>
          <p:cNvSpPr/>
          <p:nvPr/>
        </p:nvSpPr>
        <p:spPr>
          <a:xfrm>
            <a:off x="27481649" y="752465"/>
            <a:ext cx="418953" cy="13335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1F589F95-1AA2-0E64-3142-97B7C3890248}"/>
              </a:ext>
            </a:extLst>
          </p:cNvPr>
          <p:cNvSpPr/>
          <p:nvPr/>
        </p:nvSpPr>
        <p:spPr>
          <a:xfrm>
            <a:off x="27481650" y="925210"/>
            <a:ext cx="418953" cy="13335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6EEBE131-EE38-623E-5D77-94890478C161}"/>
              </a:ext>
            </a:extLst>
          </p:cNvPr>
          <p:cNvSpPr/>
          <p:nvPr/>
        </p:nvSpPr>
        <p:spPr>
          <a:xfrm>
            <a:off x="27481651" y="1085967"/>
            <a:ext cx="418953" cy="133350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5A1C24BA-7B18-73B8-C2AB-C5C678AC3E54}"/>
              </a:ext>
            </a:extLst>
          </p:cNvPr>
          <p:cNvSpPr/>
          <p:nvPr/>
        </p:nvSpPr>
        <p:spPr>
          <a:xfrm>
            <a:off x="8261205" y="1562129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3" name="Rectangle 142">
            <a:extLst>
              <a:ext uri="{FF2B5EF4-FFF2-40B4-BE49-F238E27FC236}">
                <a16:creationId xmlns:a16="http://schemas.microsoft.com/office/drawing/2014/main" id="{ED7FE018-5B71-3785-0F5F-29D1E2EF057C}"/>
              </a:ext>
            </a:extLst>
          </p:cNvPr>
          <p:cNvSpPr/>
          <p:nvPr/>
        </p:nvSpPr>
        <p:spPr>
          <a:xfrm>
            <a:off x="8500917" y="1562129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85387C5F-2B02-3F5C-057E-9B1479059435}"/>
              </a:ext>
            </a:extLst>
          </p:cNvPr>
          <p:cNvSpPr/>
          <p:nvPr/>
        </p:nvSpPr>
        <p:spPr>
          <a:xfrm>
            <a:off x="8736661" y="1562129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6CC93546-B254-0734-A0B4-6B90D1A80283}"/>
              </a:ext>
            </a:extLst>
          </p:cNvPr>
          <p:cNvSpPr/>
          <p:nvPr/>
        </p:nvSpPr>
        <p:spPr>
          <a:xfrm>
            <a:off x="8972405" y="1562129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6" name="Rectangle 145">
            <a:extLst>
              <a:ext uri="{FF2B5EF4-FFF2-40B4-BE49-F238E27FC236}">
                <a16:creationId xmlns:a16="http://schemas.microsoft.com/office/drawing/2014/main" id="{E4A4452F-612A-D761-9AEE-FB320B242688}"/>
              </a:ext>
            </a:extLst>
          </p:cNvPr>
          <p:cNvSpPr/>
          <p:nvPr/>
        </p:nvSpPr>
        <p:spPr>
          <a:xfrm>
            <a:off x="9095798" y="223086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7" name="Rectangle 146">
            <a:extLst>
              <a:ext uri="{FF2B5EF4-FFF2-40B4-BE49-F238E27FC236}">
                <a16:creationId xmlns:a16="http://schemas.microsoft.com/office/drawing/2014/main" id="{FC8B8971-9D6D-56F4-FFF6-781A00ED7237}"/>
              </a:ext>
            </a:extLst>
          </p:cNvPr>
          <p:cNvSpPr/>
          <p:nvPr/>
        </p:nvSpPr>
        <p:spPr>
          <a:xfrm>
            <a:off x="9331542" y="223086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772165AB-234B-97E5-31F3-E7A75E65F677}"/>
              </a:ext>
            </a:extLst>
          </p:cNvPr>
          <p:cNvSpPr txBox="1"/>
          <p:nvPr/>
        </p:nvSpPr>
        <p:spPr>
          <a:xfrm>
            <a:off x="23525714" y="369333"/>
            <a:ext cx="2233094" cy="1107996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Type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Relevance  - 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          - </a:t>
            </a: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EAB24D5-DB1B-40CC-F9F2-F7DC88EFFB21}"/>
              </a:ext>
            </a:extLst>
          </p:cNvPr>
          <p:cNvSpPr/>
          <p:nvPr/>
        </p:nvSpPr>
        <p:spPr>
          <a:xfrm>
            <a:off x="24415750" y="605915"/>
            <a:ext cx="139700" cy="14338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383CC99-641E-C390-8AA1-4F34A2321AA3}"/>
              </a:ext>
            </a:extLst>
          </p:cNvPr>
          <p:cNvSpPr/>
          <p:nvPr/>
        </p:nvSpPr>
        <p:spPr>
          <a:xfrm>
            <a:off x="24415750" y="801422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CCBFC5DE-3DDD-CF26-03A8-E1D3E7F3E0DC}"/>
              </a:ext>
            </a:extLst>
          </p:cNvPr>
          <p:cNvSpPr/>
          <p:nvPr/>
        </p:nvSpPr>
        <p:spPr>
          <a:xfrm>
            <a:off x="8227061" y="688022"/>
            <a:ext cx="139700" cy="143385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B6B9F52C-CE1C-9FAD-678C-A651AE98185D}"/>
              </a:ext>
            </a:extLst>
          </p:cNvPr>
          <p:cNvSpPr/>
          <p:nvPr/>
        </p:nvSpPr>
        <p:spPr>
          <a:xfrm>
            <a:off x="8523044" y="7171440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119E23FC-56A6-9A8B-A053-6C5D9B575EBC}"/>
              </a:ext>
            </a:extLst>
          </p:cNvPr>
          <p:cNvSpPr/>
          <p:nvPr/>
        </p:nvSpPr>
        <p:spPr>
          <a:xfrm>
            <a:off x="8481657" y="8906087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+ 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Epilepsy </a:t>
            </a:r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F939DFF9-7EF2-7C0D-F66D-5FDEFB752426}"/>
              </a:ext>
            </a:extLst>
          </p:cNvPr>
          <p:cNvSpPr/>
          <p:nvPr/>
        </p:nvSpPr>
        <p:spPr>
          <a:xfrm>
            <a:off x="8498124" y="11770479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Notes</a:t>
            </a: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E4ABECAC-26E1-C1E6-3E04-43DBFB1E5CF2}"/>
              </a:ext>
            </a:extLst>
          </p:cNvPr>
          <p:cNvSpPr/>
          <p:nvPr/>
        </p:nvSpPr>
        <p:spPr>
          <a:xfrm>
            <a:off x="9885977" y="12894053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Synthetic clinical Notes</a:t>
            </a:r>
          </a:p>
        </p:txBody>
      </p:sp>
      <p:cxnSp>
        <p:nvCxnSpPr>
          <p:cNvPr id="176" name="Connector: Elbow 175">
            <a:extLst>
              <a:ext uri="{FF2B5EF4-FFF2-40B4-BE49-F238E27FC236}">
                <a16:creationId xmlns:a16="http://schemas.microsoft.com/office/drawing/2014/main" id="{1207CCA6-F3F3-9150-E1E5-A47D2D2F8F36}"/>
              </a:ext>
            </a:extLst>
          </p:cNvPr>
          <p:cNvCxnSpPr>
            <a:cxnSpLocks/>
            <a:stCxn id="68" idx="3"/>
            <a:endCxn id="169" idx="1"/>
          </p:cNvCxnSpPr>
          <p:nvPr/>
        </p:nvCxnSpPr>
        <p:spPr>
          <a:xfrm flipV="1">
            <a:off x="7401045" y="7406751"/>
            <a:ext cx="1121999" cy="1730984"/>
          </a:xfrm>
          <a:prstGeom prst="bentConnector3">
            <a:avLst>
              <a:gd name="adj1" fmla="val 4830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FA4514A7-0FFF-D43A-64C1-88E70A749E79}"/>
              </a:ext>
            </a:extLst>
          </p:cNvPr>
          <p:cNvCxnSpPr>
            <a:cxnSpLocks/>
            <a:stCxn id="68" idx="3"/>
            <a:endCxn id="171" idx="1"/>
          </p:cNvCxnSpPr>
          <p:nvPr/>
        </p:nvCxnSpPr>
        <p:spPr>
          <a:xfrm>
            <a:off x="7401045" y="9137735"/>
            <a:ext cx="1097079" cy="286805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: Elbow 181">
            <a:extLst>
              <a:ext uri="{FF2B5EF4-FFF2-40B4-BE49-F238E27FC236}">
                <a16:creationId xmlns:a16="http://schemas.microsoft.com/office/drawing/2014/main" id="{3A7D1D9F-5D8F-DEF2-7070-57FF0A1F7F6C}"/>
              </a:ext>
            </a:extLst>
          </p:cNvPr>
          <p:cNvCxnSpPr>
            <a:cxnSpLocks/>
            <a:stCxn id="171" idx="2"/>
            <a:endCxn id="175" idx="1"/>
          </p:cNvCxnSpPr>
          <p:nvPr/>
        </p:nvCxnSpPr>
        <p:spPr>
          <a:xfrm rot="16200000" flipH="1">
            <a:off x="9081076" y="12324463"/>
            <a:ext cx="888264" cy="721537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0AC7A530-1B0C-699A-385A-9189EED1C11A}"/>
              </a:ext>
            </a:extLst>
          </p:cNvPr>
          <p:cNvCxnSpPr>
            <a:cxnSpLocks/>
            <a:stCxn id="169" idx="3"/>
            <a:endCxn id="510" idx="1"/>
          </p:cNvCxnSpPr>
          <p:nvPr/>
        </p:nvCxnSpPr>
        <p:spPr>
          <a:xfrm flipV="1">
            <a:off x="9855676" y="7403919"/>
            <a:ext cx="413429" cy="2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Straight Arrow Connector 221">
            <a:extLst>
              <a:ext uri="{FF2B5EF4-FFF2-40B4-BE49-F238E27FC236}">
                <a16:creationId xmlns:a16="http://schemas.microsoft.com/office/drawing/2014/main" id="{B60CEE22-096E-6737-0C54-AD0CC61C8E65}"/>
              </a:ext>
            </a:extLst>
          </p:cNvPr>
          <p:cNvCxnSpPr>
            <a:cxnSpLocks/>
            <a:stCxn id="170" idx="3"/>
            <a:endCxn id="73" idx="1"/>
          </p:cNvCxnSpPr>
          <p:nvPr/>
        </p:nvCxnSpPr>
        <p:spPr>
          <a:xfrm flipV="1">
            <a:off x="9814289" y="9133634"/>
            <a:ext cx="447454" cy="77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: Elbow 222">
            <a:extLst>
              <a:ext uri="{FF2B5EF4-FFF2-40B4-BE49-F238E27FC236}">
                <a16:creationId xmlns:a16="http://schemas.microsoft.com/office/drawing/2014/main" id="{8BDE3BE1-49C5-2597-04D1-05274C5FC96A}"/>
              </a:ext>
            </a:extLst>
          </p:cNvPr>
          <p:cNvCxnSpPr>
            <a:cxnSpLocks/>
            <a:stCxn id="68" idx="3"/>
            <a:endCxn id="170" idx="1"/>
          </p:cNvCxnSpPr>
          <p:nvPr/>
        </p:nvCxnSpPr>
        <p:spPr>
          <a:xfrm>
            <a:off x="7401045" y="9137735"/>
            <a:ext cx="1080612" cy="3663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: Elbow 234">
            <a:extLst>
              <a:ext uri="{FF2B5EF4-FFF2-40B4-BE49-F238E27FC236}">
                <a16:creationId xmlns:a16="http://schemas.microsoft.com/office/drawing/2014/main" id="{7F7684BF-67A2-46B3-CC48-4C2D70F925E6}"/>
              </a:ext>
            </a:extLst>
          </p:cNvPr>
          <p:cNvCxnSpPr>
            <a:cxnSpLocks/>
            <a:stCxn id="74" idx="3"/>
            <a:endCxn id="239" idx="1"/>
          </p:cNvCxnSpPr>
          <p:nvPr/>
        </p:nvCxnSpPr>
        <p:spPr>
          <a:xfrm flipV="1">
            <a:off x="16189845" y="2096056"/>
            <a:ext cx="481053" cy="615022"/>
          </a:xfrm>
          <a:prstGeom prst="bentConnector3">
            <a:avLst>
              <a:gd name="adj1" fmla="val 5264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A78A5E6-C1D7-33E5-28DB-28F769F80F9A}"/>
              </a:ext>
            </a:extLst>
          </p:cNvPr>
          <p:cNvSpPr/>
          <p:nvPr/>
        </p:nvSpPr>
        <p:spPr>
          <a:xfrm>
            <a:off x="16670898" y="1860745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Transformers</a:t>
            </a:r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65C2626A-29D2-0AF1-B7A0-90F7FBC1BFF3}"/>
              </a:ext>
            </a:extLst>
          </p:cNvPr>
          <p:cNvSpPr/>
          <p:nvPr/>
        </p:nvSpPr>
        <p:spPr>
          <a:xfrm>
            <a:off x="16700064" y="5424732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in health</a:t>
            </a:r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A26AA929-9960-1912-A74E-52B52FA6213B}"/>
              </a:ext>
            </a:extLst>
          </p:cNvPr>
          <p:cNvSpPr/>
          <p:nvPr/>
        </p:nvSpPr>
        <p:spPr>
          <a:xfrm>
            <a:off x="16700064" y="3571177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Foundation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cxnSp>
        <p:nvCxnSpPr>
          <p:cNvPr id="243" name="Connector: Elbow 242">
            <a:extLst>
              <a:ext uri="{FF2B5EF4-FFF2-40B4-BE49-F238E27FC236}">
                <a16:creationId xmlns:a16="http://schemas.microsoft.com/office/drawing/2014/main" id="{7D29E94D-68E2-3ADE-8EF8-5A2AAA22C786}"/>
              </a:ext>
            </a:extLst>
          </p:cNvPr>
          <p:cNvCxnSpPr>
            <a:cxnSpLocks/>
            <a:stCxn id="171" idx="0"/>
            <a:endCxn id="247" idx="1"/>
          </p:cNvCxnSpPr>
          <p:nvPr/>
        </p:nvCxnSpPr>
        <p:spPr>
          <a:xfrm rot="5400000" flipH="1" flipV="1">
            <a:off x="9003558" y="10972135"/>
            <a:ext cx="959226" cy="637462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7" name="Rectangle 246">
            <a:extLst>
              <a:ext uri="{FF2B5EF4-FFF2-40B4-BE49-F238E27FC236}">
                <a16:creationId xmlns:a16="http://schemas.microsoft.com/office/drawing/2014/main" id="{EC53EB22-6D0B-CF97-F494-A02DB6BA7B12}"/>
              </a:ext>
            </a:extLst>
          </p:cNvPr>
          <p:cNvSpPr/>
          <p:nvPr/>
        </p:nvSpPr>
        <p:spPr>
          <a:xfrm>
            <a:off x="9801902" y="10575942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</a:t>
            </a:r>
          </a:p>
        </p:txBody>
      </p: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6B156AFF-C115-F8FB-7C49-72DDCCA8CA1E}"/>
              </a:ext>
            </a:extLst>
          </p:cNvPr>
          <p:cNvCxnSpPr>
            <a:cxnSpLocks/>
            <a:stCxn id="247" idx="3"/>
            <a:endCxn id="92" idx="1"/>
          </p:cNvCxnSpPr>
          <p:nvPr/>
        </p:nvCxnSpPr>
        <p:spPr>
          <a:xfrm flipV="1">
            <a:off x="11134534" y="10804802"/>
            <a:ext cx="408703" cy="645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Arrow Connector 289">
            <a:extLst>
              <a:ext uri="{FF2B5EF4-FFF2-40B4-BE49-F238E27FC236}">
                <a16:creationId xmlns:a16="http://schemas.microsoft.com/office/drawing/2014/main" id="{AA03F304-634F-22E2-9AF5-79FB2712D722}"/>
              </a:ext>
            </a:extLst>
          </p:cNvPr>
          <p:cNvCxnSpPr>
            <a:cxnSpLocks/>
            <a:stCxn id="175" idx="3"/>
            <a:endCxn id="109" idx="1"/>
          </p:cNvCxnSpPr>
          <p:nvPr/>
        </p:nvCxnSpPr>
        <p:spPr>
          <a:xfrm flipV="1">
            <a:off x="11218609" y="13121282"/>
            <a:ext cx="357751" cy="80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1" name="Rectangle 300">
            <a:extLst>
              <a:ext uri="{FF2B5EF4-FFF2-40B4-BE49-F238E27FC236}">
                <a16:creationId xmlns:a16="http://schemas.microsoft.com/office/drawing/2014/main" id="{97F39844-7633-4BD8-1071-8C37AE58882D}"/>
              </a:ext>
            </a:extLst>
          </p:cNvPr>
          <p:cNvSpPr/>
          <p:nvPr/>
        </p:nvSpPr>
        <p:spPr>
          <a:xfrm>
            <a:off x="16783293" y="8261971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LLMs in epilepsy</a:t>
            </a:r>
          </a:p>
        </p:txBody>
      </p:sp>
      <p:cxnSp>
        <p:nvCxnSpPr>
          <p:cNvPr id="321" name="Straight Arrow Connector 320">
            <a:extLst>
              <a:ext uri="{FF2B5EF4-FFF2-40B4-BE49-F238E27FC236}">
                <a16:creationId xmlns:a16="http://schemas.microsoft.com/office/drawing/2014/main" id="{366019F1-FCA6-0C1C-73DA-EBBEDA36065C}"/>
              </a:ext>
            </a:extLst>
          </p:cNvPr>
          <p:cNvCxnSpPr>
            <a:cxnSpLocks/>
            <a:stCxn id="239" idx="3"/>
            <a:endCxn id="123" idx="1"/>
          </p:cNvCxnSpPr>
          <p:nvPr/>
        </p:nvCxnSpPr>
        <p:spPr>
          <a:xfrm flipV="1">
            <a:off x="18003530" y="2082339"/>
            <a:ext cx="902182" cy="1371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: Elbow 331">
            <a:extLst>
              <a:ext uri="{FF2B5EF4-FFF2-40B4-BE49-F238E27FC236}">
                <a16:creationId xmlns:a16="http://schemas.microsoft.com/office/drawing/2014/main" id="{053D7111-D48A-4384-A4CC-4C207E07D74C}"/>
              </a:ext>
            </a:extLst>
          </p:cNvPr>
          <p:cNvCxnSpPr>
            <a:cxnSpLocks/>
            <a:stCxn id="74" idx="3"/>
            <a:endCxn id="242" idx="1"/>
          </p:cNvCxnSpPr>
          <p:nvPr/>
        </p:nvCxnSpPr>
        <p:spPr>
          <a:xfrm>
            <a:off x="16189845" y="2711078"/>
            <a:ext cx="510219" cy="1095410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: Elbow 334">
            <a:extLst>
              <a:ext uri="{FF2B5EF4-FFF2-40B4-BE49-F238E27FC236}">
                <a16:creationId xmlns:a16="http://schemas.microsoft.com/office/drawing/2014/main" id="{4F622245-64C3-43A6-2AE5-AEDCF3AB02F8}"/>
              </a:ext>
            </a:extLst>
          </p:cNvPr>
          <p:cNvCxnSpPr>
            <a:cxnSpLocks/>
            <a:stCxn id="74" idx="3"/>
            <a:endCxn id="241" idx="1"/>
          </p:cNvCxnSpPr>
          <p:nvPr/>
        </p:nvCxnSpPr>
        <p:spPr>
          <a:xfrm>
            <a:off x="16189845" y="2711078"/>
            <a:ext cx="510219" cy="2948965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: Elbow 338">
            <a:extLst>
              <a:ext uri="{FF2B5EF4-FFF2-40B4-BE49-F238E27FC236}">
                <a16:creationId xmlns:a16="http://schemas.microsoft.com/office/drawing/2014/main" id="{AC7B970F-D1A8-C002-02D7-377673D8150C}"/>
              </a:ext>
            </a:extLst>
          </p:cNvPr>
          <p:cNvCxnSpPr>
            <a:cxnSpLocks/>
            <a:stCxn id="74" idx="3"/>
            <a:endCxn id="301" idx="1"/>
          </p:cNvCxnSpPr>
          <p:nvPr/>
        </p:nvCxnSpPr>
        <p:spPr>
          <a:xfrm>
            <a:off x="16189845" y="2711078"/>
            <a:ext cx="593448" cy="5786204"/>
          </a:xfrm>
          <a:prstGeom prst="bentConnector3">
            <a:avLst>
              <a:gd name="adj1" fmla="val 4358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5" name="Straight Arrow Connector 354">
            <a:extLst>
              <a:ext uri="{FF2B5EF4-FFF2-40B4-BE49-F238E27FC236}">
                <a16:creationId xmlns:a16="http://schemas.microsoft.com/office/drawing/2014/main" id="{4A629F55-3181-5BE2-0E43-7C2F43DFD8F0}"/>
              </a:ext>
            </a:extLst>
          </p:cNvPr>
          <p:cNvCxnSpPr>
            <a:cxnSpLocks/>
            <a:stCxn id="242" idx="3"/>
            <a:endCxn id="172" idx="1"/>
          </p:cNvCxnSpPr>
          <p:nvPr/>
        </p:nvCxnSpPr>
        <p:spPr>
          <a:xfrm flipV="1">
            <a:off x="18032696" y="3798994"/>
            <a:ext cx="885192" cy="749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1" name="Straight Arrow Connector 370">
            <a:extLst>
              <a:ext uri="{FF2B5EF4-FFF2-40B4-BE49-F238E27FC236}">
                <a16:creationId xmlns:a16="http://schemas.microsoft.com/office/drawing/2014/main" id="{9703B65D-484A-0A6C-FAF2-33A64B0748B0}"/>
              </a:ext>
            </a:extLst>
          </p:cNvPr>
          <p:cNvCxnSpPr>
            <a:cxnSpLocks/>
            <a:stCxn id="241" idx="3"/>
          </p:cNvCxnSpPr>
          <p:nvPr/>
        </p:nvCxnSpPr>
        <p:spPr>
          <a:xfrm flipV="1">
            <a:off x="18032696" y="5651058"/>
            <a:ext cx="755981" cy="898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6" name="Straight Arrow Connector 385">
            <a:extLst>
              <a:ext uri="{FF2B5EF4-FFF2-40B4-BE49-F238E27FC236}">
                <a16:creationId xmlns:a16="http://schemas.microsoft.com/office/drawing/2014/main" id="{ED38310B-4774-F246-5B01-76D6AD4F0027}"/>
              </a:ext>
            </a:extLst>
          </p:cNvPr>
          <p:cNvCxnSpPr>
            <a:cxnSpLocks/>
            <a:stCxn id="301" idx="3"/>
            <a:endCxn id="291" idx="1"/>
          </p:cNvCxnSpPr>
          <p:nvPr/>
        </p:nvCxnSpPr>
        <p:spPr>
          <a:xfrm>
            <a:off x="18115925" y="8497282"/>
            <a:ext cx="806228" cy="106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: Elbow 392">
            <a:extLst>
              <a:ext uri="{FF2B5EF4-FFF2-40B4-BE49-F238E27FC236}">
                <a16:creationId xmlns:a16="http://schemas.microsoft.com/office/drawing/2014/main" id="{2A53E329-8294-56B2-024B-5C0871D05F53}"/>
              </a:ext>
            </a:extLst>
          </p:cNvPr>
          <p:cNvCxnSpPr>
            <a:cxnSpLocks/>
            <a:stCxn id="301" idx="3"/>
            <a:endCxn id="395" idx="1"/>
          </p:cNvCxnSpPr>
          <p:nvPr/>
        </p:nvCxnSpPr>
        <p:spPr>
          <a:xfrm>
            <a:off x="18115925" y="8497282"/>
            <a:ext cx="1098883" cy="148323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5" name="Rectangle 394">
            <a:extLst>
              <a:ext uri="{FF2B5EF4-FFF2-40B4-BE49-F238E27FC236}">
                <a16:creationId xmlns:a16="http://schemas.microsoft.com/office/drawing/2014/main" id="{E701BCC0-19C1-23A2-9F3F-2923C4549387}"/>
              </a:ext>
            </a:extLst>
          </p:cNvPr>
          <p:cNvSpPr/>
          <p:nvPr/>
        </p:nvSpPr>
        <p:spPr>
          <a:xfrm>
            <a:off x="19214808" y="9745203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NER in epilepsy</a:t>
            </a:r>
          </a:p>
        </p:txBody>
      </p:sp>
      <p:sp>
        <p:nvSpPr>
          <p:cNvPr id="399" name="Rectangle 398">
            <a:extLst>
              <a:ext uri="{FF2B5EF4-FFF2-40B4-BE49-F238E27FC236}">
                <a16:creationId xmlns:a16="http://schemas.microsoft.com/office/drawing/2014/main" id="{C7289BAB-7586-57E8-2068-CACC9456E9CA}"/>
              </a:ext>
            </a:extLst>
          </p:cNvPr>
          <p:cNvSpPr/>
          <p:nvPr/>
        </p:nvSpPr>
        <p:spPr>
          <a:xfrm>
            <a:off x="20942327" y="11306827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Prescriptions</a:t>
            </a:r>
          </a:p>
        </p:txBody>
      </p:sp>
      <p:cxnSp>
        <p:nvCxnSpPr>
          <p:cNvPr id="400" name="Connector: Elbow 399">
            <a:extLst>
              <a:ext uri="{FF2B5EF4-FFF2-40B4-BE49-F238E27FC236}">
                <a16:creationId xmlns:a16="http://schemas.microsoft.com/office/drawing/2014/main" id="{7E572A84-FD9F-B590-A9B4-C72F38A601DB}"/>
              </a:ext>
            </a:extLst>
          </p:cNvPr>
          <p:cNvCxnSpPr>
            <a:cxnSpLocks/>
            <a:stCxn id="395" idx="3"/>
            <a:endCxn id="399" idx="1"/>
          </p:cNvCxnSpPr>
          <p:nvPr/>
        </p:nvCxnSpPr>
        <p:spPr>
          <a:xfrm>
            <a:off x="20547440" y="9980514"/>
            <a:ext cx="394887" cy="1561624"/>
          </a:xfrm>
          <a:prstGeom prst="bentConnector3">
            <a:avLst>
              <a:gd name="adj1" fmla="val 40352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3" name="Rectangle 402">
            <a:extLst>
              <a:ext uri="{FF2B5EF4-FFF2-40B4-BE49-F238E27FC236}">
                <a16:creationId xmlns:a16="http://schemas.microsoft.com/office/drawing/2014/main" id="{20B03DAA-4898-2E50-4B2C-1A277DF8B255}"/>
              </a:ext>
            </a:extLst>
          </p:cNvPr>
          <p:cNvSpPr/>
          <p:nvPr/>
        </p:nvSpPr>
        <p:spPr>
          <a:xfrm>
            <a:off x="20867130" y="9084356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Seizure frequency</a:t>
            </a:r>
          </a:p>
        </p:txBody>
      </p:sp>
      <p:cxnSp>
        <p:nvCxnSpPr>
          <p:cNvPr id="404" name="Connector: Elbow 403">
            <a:extLst>
              <a:ext uri="{FF2B5EF4-FFF2-40B4-BE49-F238E27FC236}">
                <a16:creationId xmlns:a16="http://schemas.microsoft.com/office/drawing/2014/main" id="{E3B55BE6-06B2-7154-D3D7-C47CA6C3355C}"/>
              </a:ext>
            </a:extLst>
          </p:cNvPr>
          <p:cNvCxnSpPr>
            <a:cxnSpLocks/>
            <a:stCxn id="395" idx="3"/>
            <a:endCxn id="403" idx="1"/>
          </p:cNvCxnSpPr>
          <p:nvPr/>
        </p:nvCxnSpPr>
        <p:spPr>
          <a:xfrm flipV="1">
            <a:off x="20547440" y="9319667"/>
            <a:ext cx="319690" cy="660847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4" name="Connector: Elbow 443">
            <a:extLst>
              <a:ext uri="{FF2B5EF4-FFF2-40B4-BE49-F238E27FC236}">
                <a16:creationId xmlns:a16="http://schemas.microsoft.com/office/drawing/2014/main" id="{86D25070-D52C-BAEE-A0F3-E63A0F8F398D}"/>
              </a:ext>
            </a:extLst>
          </p:cNvPr>
          <p:cNvCxnSpPr>
            <a:cxnSpLocks/>
            <a:stCxn id="74" idx="3"/>
            <a:endCxn id="447" idx="1"/>
          </p:cNvCxnSpPr>
          <p:nvPr/>
        </p:nvCxnSpPr>
        <p:spPr>
          <a:xfrm>
            <a:off x="16189845" y="2711078"/>
            <a:ext cx="525361" cy="435361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7" name="Rectangle 446">
            <a:extLst>
              <a:ext uri="{FF2B5EF4-FFF2-40B4-BE49-F238E27FC236}">
                <a16:creationId xmlns:a16="http://schemas.microsoft.com/office/drawing/2014/main" id="{1B455218-18B2-3ECA-FC7C-42B36E8715E3}"/>
              </a:ext>
            </a:extLst>
          </p:cNvPr>
          <p:cNvSpPr/>
          <p:nvPr/>
        </p:nvSpPr>
        <p:spPr>
          <a:xfrm>
            <a:off x="16715206" y="6829383"/>
            <a:ext cx="1332632" cy="47062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Clinical NER with LLMS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F21951B-E1D1-1BE0-9FC9-B9FDE47EF7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8565432"/>
              </p:ext>
            </p:extLst>
          </p:nvPr>
        </p:nvGraphicFramePr>
        <p:xfrm>
          <a:off x="8252284" y="1682726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5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AC6EE305-E2AF-5EFC-D862-9D0BEF9243D2}"/>
              </a:ext>
            </a:extLst>
          </p:cNvPr>
          <p:cNvSpPr txBox="1"/>
          <p:nvPr/>
        </p:nvSpPr>
        <p:spPr>
          <a:xfrm>
            <a:off x="8316615" y="3235707"/>
            <a:ext cx="2616460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 Epilepsy statistics 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3F5CB41-D035-F756-28B0-14BD1714306B}"/>
              </a:ext>
            </a:extLst>
          </p:cNvPr>
          <p:cNvSpPr/>
          <p:nvPr/>
        </p:nvSpPr>
        <p:spPr>
          <a:xfrm>
            <a:off x="8306508" y="3037038"/>
            <a:ext cx="139700" cy="143385"/>
          </a:xfrm>
          <a:prstGeom prst="ellipse">
            <a:avLst/>
          </a:prstGeom>
          <a:solidFill>
            <a:srgbClr val="703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F58717F-8906-751E-265F-2DB42606D25E}"/>
              </a:ext>
            </a:extLst>
          </p:cNvPr>
          <p:cNvSpPr/>
          <p:nvPr/>
        </p:nvSpPr>
        <p:spPr>
          <a:xfrm>
            <a:off x="9096970" y="4388240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5DFAB7C-B4AD-5C9C-A74D-3F74554F5CFC}"/>
              </a:ext>
            </a:extLst>
          </p:cNvPr>
          <p:cNvSpPr/>
          <p:nvPr/>
        </p:nvSpPr>
        <p:spPr>
          <a:xfrm>
            <a:off x="9332714" y="4388240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B50F503-9C00-4E07-B73F-428EC94F4835}"/>
              </a:ext>
            </a:extLst>
          </p:cNvPr>
          <p:cNvSpPr/>
          <p:nvPr/>
        </p:nvSpPr>
        <p:spPr>
          <a:xfrm>
            <a:off x="8316796" y="3722665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D80692C1-7855-C5D6-ECDB-C902F773AACE}"/>
              </a:ext>
            </a:extLst>
          </p:cNvPr>
          <p:cNvSpPr/>
          <p:nvPr/>
        </p:nvSpPr>
        <p:spPr>
          <a:xfrm>
            <a:off x="8556508" y="3722665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E386A9E-B021-D69A-A8F8-10CD533A6E7A}"/>
              </a:ext>
            </a:extLst>
          </p:cNvPr>
          <p:cNvSpPr/>
          <p:nvPr/>
        </p:nvSpPr>
        <p:spPr>
          <a:xfrm>
            <a:off x="8792252" y="3722665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C11A69D-81AF-7707-11B2-E744667FD979}"/>
              </a:ext>
            </a:extLst>
          </p:cNvPr>
          <p:cNvSpPr/>
          <p:nvPr/>
        </p:nvSpPr>
        <p:spPr>
          <a:xfrm>
            <a:off x="9027996" y="3722665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2A20944-5C19-0235-8B80-E9BEB0FBDB6C}"/>
              </a:ext>
            </a:extLst>
          </p:cNvPr>
          <p:cNvCxnSpPr>
            <a:cxnSpLocks/>
            <a:stCxn id="47" idx="3"/>
            <a:endCxn id="463" idx="1"/>
          </p:cNvCxnSpPr>
          <p:nvPr/>
        </p:nvCxnSpPr>
        <p:spPr>
          <a:xfrm flipV="1">
            <a:off x="7347286" y="4087940"/>
            <a:ext cx="969329" cy="35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63" name="Table 462">
            <a:extLst>
              <a:ext uri="{FF2B5EF4-FFF2-40B4-BE49-F238E27FC236}">
                <a16:creationId xmlns:a16="http://schemas.microsoft.com/office/drawing/2014/main" id="{AB1D50F4-0D2E-2544-B3E1-52734211B1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124964"/>
              </p:ext>
            </p:extLst>
          </p:nvPr>
        </p:nvGraphicFramePr>
        <p:xfrm>
          <a:off x="8316615" y="3828860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2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467" name="TextBox 466">
            <a:extLst>
              <a:ext uri="{FF2B5EF4-FFF2-40B4-BE49-F238E27FC236}">
                <a16:creationId xmlns:a16="http://schemas.microsoft.com/office/drawing/2014/main" id="{4EAA066C-310C-9F0A-34A0-06F573FE88F3}"/>
              </a:ext>
            </a:extLst>
          </p:cNvPr>
          <p:cNvSpPr txBox="1"/>
          <p:nvPr/>
        </p:nvSpPr>
        <p:spPr>
          <a:xfrm>
            <a:off x="22573822" y="8319420"/>
            <a:ext cx="2656281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 frequency, clinical notes, importance of seizure frequency</a:t>
            </a:r>
          </a:p>
        </p:txBody>
      </p:sp>
      <p:sp>
        <p:nvSpPr>
          <p:cNvPr id="469" name="Rectangle 468">
            <a:extLst>
              <a:ext uri="{FF2B5EF4-FFF2-40B4-BE49-F238E27FC236}">
                <a16:creationId xmlns:a16="http://schemas.microsoft.com/office/drawing/2014/main" id="{E8F7E28A-A2A5-CC66-904B-FDF01BFC7AE5}"/>
              </a:ext>
            </a:extLst>
          </p:cNvPr>
          <p:cNvSpPr/>
          <p:nvPr/>
        </p:nvSpPr>
        <p:spPr>
          <a:xfrm>
            <a:off x="23354177" y="9624353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0" name="Rectangle 469">
            <a:extLst>
              <a:ext uri="{FF2B5EF4-FFF2-40B4-BE49-F238E27FC236}">
                <a16:creationId xmlns:a16="http://schemas.microsoft.com/office/drawing/2014/main" id="{C408562C-57C4-6BC6-42D7-16F8E1C53A5E}"/>
              </a:ext>
            </a:extLst>
          </p:cNvPr>
          <p:cNvSpPr/>
          <p:nvPr/>
        </p:nvSpPr>
        <p:spPr>
          <a:xfrm>
            <a:off x="23589921" y="9624353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1" name="Rectangle 470">
            <a:extLst>
              <a:ext uri="{FF2B5EF4-FFF2-40B4-BE49-F238E27FC236}">
                <a16:creationId xmlns:a16="http://schemas.microsoft.com/office/drawing/2014/main" id="{451D47CC-3220-2E92-A762-7EC763EF77DD}"/>
              </a:ext>
            </a:extLst>
          </p:cNvPr>
          <p:cNvSpPr/>
          <p:nvPr/>
        </p:nvSpPr>
        <p:spPr>
          <a:xfrm>
            <a:off x="22574003" y="8958778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2" name="Rectangle 471">
            <a:extLst>
              <a:ext uri="{FF2B5EF4-FFF2-40B4-BE49-F238E27FC236}">
                <a16:creationId xmlns:a16="http://schemas.microsoft.com/office/drawing/2014/main" id="{736DCE76-D724-460F-F9CC-8DB739C9210A}"/>
              </a:ext>
            </a:extLst>
          </p:cNvPr>
          <p:cNvSpPr/>
          <p:nvPr/>
        </p:nvSpPr>
        <p:spPr>
          <a:xfrm>
            <a:off x="22813715" y="8958778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3" name="Rectangle 472">
            <a:extLst>
              <a:ext uri="{FF2B5EF4-FFF2-40B4-BE49-F238E27FC236}">
                <a16:creationId xmlns:a16="http://schemas.microsoft.com/office/drawing/2014/main" id="{F076D0E9-CEA4-B493-F9CD-98DEBBBF4542}"/>
              </a:ext>
            </a:extLst>
          </p:cNvPr>
          <p:cNvSpPr/>
          <p:nvPr/>
        </p:nvSpPr>
        <p:spPr>
          <a:xfrm>
            <a:off x="23049459" y="8958778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4" name="Rectangle 473">
            <a:extLst>
              <a:ext uri="{FF2B5EF4-FFF2-40B4-BE49-F238E27FC236}">
                <a16:creationId xmlns:a16="http://schemas.microsoft.com/office/drawing/2014/main" id="{EDDFE143-ED77-673E-5DCA-5A85B0E4AEAB}"/>
              </a:ext>
            </a:extLst>
          </p:cNvPr>
          <p:cNvSpPr/>
          <p:nvPr/>
        </p:nvSpPr>
        <p:spPr>
          <a:xfrm>
            <a:off x="23285203" y="8958778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75" name="Table 474">
            <a:extLst>
              <a:ext uri="{FF2B5EF4-FFF2-40B4-BE49-F238E27FC236}">
                <a16:creationId xmlns:a16="http://schemas.microsoft.com/office/drawing/2014/main" id="{4BEC5FA4-9FB6-C821-3D81-EB1843C015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717955"/>
              </p:ext>
            </p:extLst>
          </p:nvPr>
        </p:nvGraphicFramePr>
        <p:xfrm>
          <a:off x="22573822" y="9064973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5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cxnSp>
        <p:nvCxnSpPr>
          <p:cNvPr id="476" name="Straight Arrow Connector 475">
            <a:extLst>
              <a:ext uri="{FF2B5EF4-FFF2-40B4-BE49-F238E27FC236}">
                <a16:creationId xmlns:a16="http://schemas.microsoft.com/office/drawing/2014/main" id="{E6E0C09D-6FCA-3D5D-D65C-52B08CA91889}"/>
              </a:ext>
            </a:extLst>
          </p:cNvPr>
          <p:cNvCxnSpPr>
            <a:cxnSpLocks/>
            <a:stCxn id="403" idx="3"/>
            <a:endCxn id="475" idx="1"/>
          </p:cNvCxnSpPr>
          <p:nvPr/>
        </p:nvCxnSpPr>
        <p:spPr>
          <a:xfrm>
            <a:off x="22199762" y="9319667"/>
            <a:ext cx="374060" cy="438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9" name="TextBox 478">
            <a:extLst>
              <a:ext uri="{FF2B5EF4-FFF2-40B4-BE49-F238E27FC236}">
                <a16:creationId xmlns:a16="http://schemas.microsoft.com/office/drawing/2014/main" id="{15F5E301-B4E8-BF05-8604-B67A15EF9046}"/>
              </a:ext>
            </a:extLst>
          </p:cNvPr>
          <p:cNvSpPr txBox="1"/>
          <p:nvPr/>
        </p:nvSpPr>
        <p:spPr>
          <a:xfrm>
            <a:off x="22649616" y="10535717"/>
            <a:ext cx="2568404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medicine prescriptions from clinical notes, extract interventions</a:t>
            </a:r>
          </a:p>
        </p:txBody>
      </p:sp>
      <p:sp>
        <p:nvSpPr>
          <p:cNvPr id="482" name="Rectangle 481">
            <a:extLst>
              <a:ext uri="{FF2B5EF4-FFF2-40B4-BE49-F238E27FC236}">
                <a16:creationId xmlns:a16="http://schemas.microsoft.com/office/drawing/2014/main" id="{C1168721-0131-E819-F9E2-83712704AC23}"/>
              </a:ext>
            </a:extLst>
          </p:cNvPr>
          <p:cNvSpPr/>
          <p:nvPr/>
        </p:nvSpPr>
        <p:spPr>
          <a:xfrm>
            <a:off x="23437115" y="11840650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3" name="Rectangle 482">
            <a:extLst>
              <a:ext uri="{FF2B5EF4-FFF2-40B4-BE49-F238E27FC236}">
                <a16:creationId xmlns:a16="http://schemas.microsoft.com/office/drawing/2014/main" id="{D7AE990D-A829-B8D6-76B8-FD17CB1EA2C8}"/>
              </a:ext>
            </a:extLst>
          </p:cNvPr>
          <p:cNvSpPr/>
          <p:nvPr/>
        </p:nvSpPr>
        <p:spPr>
          <a:xfrm>
            <a:off x="22649797" y="11175075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4" name="Rectangle 483">
            <a:extLst>
              <a:ext uri="{FF2B5EF4-FFF2-40B4-BE49-F238E27FC236}">
                <a16:creationId xmlns:a16="http://schemas.microsoft.com/office/drawing/2014/main" id="{2F22B78F-9978-A7CA-7998-B1606652F23F}"/>
              </a:ext>
            </a:extLst>
          </p:cNvPr>
          <p:cNvSpPr/>
          <p:nvPr/>
        </p:nvSpPr>
        <p:spPr>
          <a:xfrm>
            <a:off x="22889509" y="11175075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5" name="Rectangle 484">
            <a:extLst>
              <a:ext uri="{FF2B5EF4-FFF2-40B4-BE49-F238E27FC236}">
                <a16:creationId xmlns:a16="http://schemas.microsoft.com/office/drawing/2014/main" id="{7A28B716-E3DF-6641-1756-BA7EF6132A9A}"/>
              </a:ext>
            </a:extLst>
          </p:cNvPr>
          <p:cNvSpPr/>
          <p:nvPr/>
        </p:nvSpPr>
        <p:spPr>
          <a:xfrm>
            <a:off x="23125253" y="11175075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86" name="Rectangle 485">
            <a:extLst>
              <a:ext uri="{FF2B5EF4-FFF2-40B4-BE49-F238E27FC236}">
                <a16:creationId xmlns:a16="http://schemas.microsoft.com/office/drawing/2014/main" id="{0255AA17-CB78-B53D-861C-82C4A904756C}"/>
              </a:ext>
            </a:extLst>
          </p:cNvPr>
          <p:cNvSpPr/>
          <p:nvPr/>
        </p:nvSpPr>
        <p:spPr>
          <a:xfrm>
            <a:off x="23360997" y="11175075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487" name="Table 486">
            <a:extLst>
              <a:ext uri="{FF2B5EF4-FFF2-40B4-BE49-F238E27FC236}">
                <a16:creationId xmlns:a16="http://schemas.microsoft.com/office/drawing/2014/main" id="{4A226D5F-5A93-A49D-66D8-DFA53A7B1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3311728"/>
              </p:ext>
            </p:extLst>
          </p:nvPr>
        </p:nvGraphicFramePr>
        <p:xfrm>
          <a:off x="22649616" y="11281270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4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cxnSp>
        <p:nvCxnSpPr>
          <p:cNvPr id="488" name="Straight Arrow Connector 487">
            <a:extLst>
              <a:ext uri="{FF2B5EF4-FFF2-40B4-BE49-F238E27FC236}">
                <a16:creationId xmlns:a16="http://schemas.microsoft.com/office/drawing/2014/main" id="{530E4696-B924-B682-0219-62B867E9FE18}"/>
              </a:ext>
            </a:extLst>
          </p:cNvPr>
          <p:cNvCxnSpPr>
            <a:cxnSpLocks/>
            <a:stCxn id="399" idx="3"/>
            <a:endCxn id="487" idx="1"/>
          </p:cNvCxnSpPr>
          <p:nvPr/>
        </p:nvCxnSpPr>
        <p:spPr>
          <a:xfrm flipV="1">
            <a:off x="22274959" y="11540350"/>
            <a:ext cx="374657" cy="17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9" name="Oval 488">
            <a:extLst>
              <a:ext uri="{FF2B5EF4-FFF2-40B4-BE49-F238E27FC236}">
                <a16:creationId xmlns:a16="http://schemas.microsoft.com/office/drawing/2014/main" id="{39E8E7B4-A971-4312-4D39-CFE177E945C0}"/>
              </a:ext>
            </a:extLst>
          </p:cNvPr>
          <p:cNvSpPr/>
          <p:nvPr/>
        </p:nvSpPr>
        <p:spPr>
          <a:xfrm>
            <a:off x="22588298" y="8137358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0" name="Oval 489">
            <a:extLst>
              <a:ext uri="{FF2B5EF4-FFF2-40B4-BE49-F238E27FC236}">
                <a16:creationId xmlns:a16="http://schemas.microsoft.com/office/drawing/2014/main" id="{4962F0CD-8955-3AE9-F748-7BC887EF6BC9}"/>
              </a:ext>
            </a:extLst>
          </p:cNvPr>
          <p:cNvSpPr/>
          <p:nvPr/>
        </p:nvSpPr>
        <p:spPr>
          <a:xfrm>
            <a:off x="22688921" y="10279745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3" name="TextBox 492">
            <a:extLst>
              <a:ext uri="{FF2B5EF4-FFF2-40B4-BE49-F238E27FC236}">
                <a16:creationId xmlns:a16="http://schemas.microsoft.com/office/drawing/2014/main" id="{BABE7D8D-0860-552C-A4D2-BC18807CDA9D}"/>
              </a:ext>
            </a:extLst>
          </p:cNvPr>
          <p:cNvSpPr txBox="1"/>
          <p:nvPr/>
        </p:nvSpPr>
        <p:spPr>
          <a:xfrm>
            <a:off x="8316615" y="4768094"/>
            <a:ext cx="2643979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definition of natural language processing</a:t>
            </a:r>
          </a:p>
        </p:txBody>
      </p:sp>
      <p:sp>
        <p:nvSpPr>
          <p:cNvPr id="496" name="Rectangle 495">
            <a:extLst>
              <a:ext uri="{FF2B5EF4-FFF2-40B4-BE49-F238E27FC236}">
                <a16:creationId xmlns:a16="http://schemas.microsoft.com/office/drawing/2014/main" id="{DA7CC0D4-1CA6-CC88-CA30-71E5D406F1A5}"/>
              </a:ext>
            </a:extLst>
          </p:cNvPr>
          <p:cNvSpPr/>
          <p:nvPr/>
        </p:nvSpPr>
        <p:spPr>
          <a:xfrm>
            <a:off x="9119354" y="5920627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7" name="Rectangle 496">
            <a:extLst>
              <a:ext uri="{FF2B5EF4-FFF2-40B4-BE49-F238E27FC236}">
                <a16:creationId xmlns:a16="http://schemas.microsoft.com/office/drawing/2014/main" id="{84714FD8-EDB5-8358-E142-631F78B4D8D6}"/>
              </a:ext>
            </a:extLst>
          </p:cNvPr>
          <p:cNvSpPr/>
          <p:nvPr/>
        </p:nvSpPr>
        <p:spPr>
          <a:xfrm>
            <a:off x="8316796" y="5255052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8" name="Rectangle 497">
            <a:extLst>
              <a:ext uri="{FF2B5EF4-FFF2-40B4-BE49-F238E27FC236}">
                <a16:creationId xmlns:a16="http://schemas.microsoft.com/office/drawing/2014/main" id="{759062CD-6556-93BF-33C7-41BA9B4222C1}"/>
              </a:ext>
            </a:extLst>
          </p:cNvPr>
          <p:cNvSpPr/>
          <p:nvPr/>
        </p:nvSpPr>
        <p:spPr>
          <a:xfrm>
            <a:off x="8556508" y="5255052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9" name="Rectangle 498">
            <a:extLst>
              <a:ext uri="{FF2B5EF4-FFF2-40B4-BE49-F238E27FC236}">
                <a16:creationId xmlns:a16="http://schemas.microsoft.com/office/drawing/2014/main" id="{22449181-5289-5F7E-C116-E52BA10F576B}"/>
              </a:ext>
            </a:extLst>
          </p:cNvPr>
          <p:cNvSpPr/>
          <p:nvPr/>
        </p:nvSpPr>
        <p:spPr>
          <a:xfrm>
            <a:off x="8792252" y="5255052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0" name="Rectangle 499">
            <a:extLst>
              <a:ext uri="{FF2B5EF4-FFF2-40B4-BE49-F238E27FC236}">
                <a16:creationId xmlns:a16="http://schemas.microsoft.com/office/drawing/2014/main" id="{D27E2F0A-FC0A-A081-B48C-54BF33A32F1F}"/>
              </a:ext>
            </a:extLst>
          </p:cNvPr>
          <p:cNvSpPr/>
          <p:nvPr/>
        </p:nvSpPr>
        <p:spPr>
          <a:xfrm>
            <a:off x="9027996" y="525505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01" name="Table 500">
            <a:extLst>
              <a:ext uri="{FF2B5EF4-FFF2-40B4-BE49-F238E27FC236}">
                <a16:creationId xmlns:a16="http://schemas.microsoft.com/office/drawing/2014/main" id="{EF051EE9-AC3A-E8BA-7173-85919B2A27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6588350"/>
              </p:ext>
            </p:extLst>
          </p:nvPr>
        </p:nvGraphicFramePr>
        <p:xfrm>
          <a:off x="8316615" y="5361247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3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503" name="Oval 502">
            <a:extLst>
              <a:ext uri="{FF2B5EF4-FFF2-40B4-BE49-F238E27FC236}">
                <a16:creationId xmlns:a16="http://schemas.microsoft.com/office/drawing/2014/main" id="{81DE4AE7-C9E7-3ACC-F839-FD5867BC7CD2}"/>
              </a:ext>
            </a:extLst>
          </p:cNvPr>
          <p:cNvSpPr/>
          <p:nvPr/>
        </p:nvSpPr>
        <p:spPr>
          <a:xfrm>
            <a:off x="8339950" y="4567379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6F2CFBDF-4924-F510-7822-0860168BCAEA}"/>
              </a:ext>
            </a:extLst>
          </p:cNvPr>
          <p:cNvSpPr txBox="1"/>
          <p:nvPr/>
        </p:nvSpPr>
        <p:spPr>
          <a:xfrm>
            <a:off x="10269105" y="6551686"/>
            <a:ext cx="2643979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NLP in healthcare, Applications of NLP in healthcare</a:t>
            </a:r>
          </a:p>
        </p:txBody>
      </p:sp>
      <p:sp>
        <p:nvSpPr>
          <p:cNvPr id="506" name="Rectangle 505">
            <a:extLst>
              <a:ext uri="{FF2B5EF4-FFF2-40B4-BE49-F238E27FC236}">
                <a16:creationId xmlns:a16="http://schemas.microsoft.com/office/drawing/2014/main" id="{872E8AED-D563-ECC4-3CC7-629B7255D3CC}"/>
              </a:ext>
            </a:extLst>
          </p:cNvPr>
          <p:cNvSpPr/>
          <p:nvPr/>
        </p:nvSpPr>
        <p:spPr>
          <a:xfrm>
            <a:off x="10269286" y="7038644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7" name="Rectangle 506">
            <a:extLst>
              <a:ext uri="{FF2B5EF4-FFF2-40B4-BE49-F238E27FC236}">
                <a16:creationId xmlns:a16="http://schemas.microsoft.com/office/drawing/2014/main" id="{314CDED2-59B5-6635-B3C7-09938B2AA9C6}"/>
              </a:ext>
            </a:extLst>
          </p:cNvPr>
          <p:cNvSpPr/>
          <p:nvPr/>
        </p:nvSpPr>
        <p:spPr>
          <a:xfrm>
            <a:off x="10508998" y="7038644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8" name="Rectangle 507">
            <a:extLst>
              <a:ext uri="{FF2B5EF4-FFF2-40B4-BE49-F238E27FC236}">
                <a16:creationId xmlns:a16="http://schemas.microsoft.com/office/drawing/2014/main" id="{F3EF03C9-60A2-9211-5A18-44B471A2A45B}"/>
              </a:ext>
            </a:extLst>
          </p:cNvPr>
          <p:cNvSpPr/>
          <p:nvPr/>
        </p:nvSpPr>
        <p:spPr>
          <a:xfrm>
            <a:off x="10744742" y="7038644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9" name="Rectangle 508">
            <a:extLst>
              <a:ext uri="{FF2B5EF4-FFF2-40B4-BE49-F238E27FC236}">
                <a16:creationId xmlns:a16="http://schemas.microsoft.com/office/drawing/2014/main" id="{F39C4FCF-F28A-72CF-CB90-711509B554DB}"/>
              </a:ext>
            </a:extLst>
          </p:cNvPr>
          <p:cNvSpPr/>
          <p:nvPr/>
        </p:nvSpPr>
        <p:spPr>
          <a:xfrm>
            <a:off x="10980486" y="703864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510" name="Table 509">
            <a:extLst>
              <a:ext uri="{FF2B5EF4-FFF2-40B4-BE49-F238E27FC236}">
                <a16:creationId xmlns:a16="http://schemas.microsoft.com/office/drawing/2014/main" id="{623A06F6-88D7-54D0-90BC-DB1CA6EBC6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3572684"/>
              </p:ext>
            </p:extLst>
          </p:nvPr>
        </p:nvGraphicFramePr>
        <p:xfrm>
          <a:off x="10269105" y="7144839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8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511" name="Oval 510">
            <a:extLst>
              <a:ext uri="{FF2B5EF4-FFF2-40B4-BE49-F238E27FC236}">
                <a16:creationId xmlns:a16="http://schemas.microsoft.com/office/drawing/2014/main" id="{BACB6507-87EA-DF53-613B-631C09D27B18}"/>
              </a:ext>
            </a:extLst>
          </p:cNvPr>
          <p:cNvSpPr/>
          <p:nvPr/>
        </p:nvSpPr>
        <p:spPr>
          <a:xfrm>
            <a:off x="10292440" y="6350971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011FC38-34BE-2B88-36A0-28570107595B}"/>
              </a:ext>
            </a:extLst>
          </p:cNvPr>
          <p:cNvSpPr txBox="1"/>
          <p:nvPr/>
        </p:nvSpPr>
        <p:spPr>
          <a:xfrm>
            <a:off x="10261743" y="8456661"/>
            <a:ext cx="2643979" cy="261610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NLP in epilepsy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DC3749C0-D3A3-F73D-8771-9BB0FD87780C}"/>
              </a:ext>
            </a:extLst>
          </p:cNvPr>
          <p:cNvSpPr/>
          <p:nvPr/>
        </p:nvSpPr>
        <p:spPr>
          <a:xfrm>
            <a:off x="11261332" y="943393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AF2F57A-DBE8-1566-97DB-258FB5AAFF27}"/>
              </a:ext>
            </a:extLst>
          </p:cNvPr>
          <p:cNvSpPr/>
          <p:nvPr/>
        </p:nvSpPr>
        <p:spPr>
          <a:xfrm>
            <a:off x="10261924" y="8768359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624EA48-4003-09CA-9296-B5651484743F}"/>
              </a:ext>
            </a:extLst>
          </p:cNvPr>
          <p:cNvSpPr/>
          <p:nvPr/>
        </p:nvSpPr>
        <p:spPr>
          <a:xfrm>
            <a:off x="10501636" y="8768359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180EB2DB-AF93-C285-334C-EC21A4005993}"/>
              </a:ext>
            </a:extLst>
          </p:cNvPr>
          <p:cNvSpPr/>
          <p:nvPr/>
        </p:nvSpPr>
        <p:spPr>
          <a:xfrm>
            <a:off x="10737380" y="8768359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606898D-ED30-3FE9-659B-C527A7911634}"/>
              </a:ext>
            </a:extLst>
          </p:cNvPr>
          <p:cNvSpPr/>
          <p:nvPr/>
        </p:nvSpPr>
        <p:spPr>
          <a:xfrm>
            <a:off x="10973124" y="8768359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713C7198-DF10-191C-D5FC-19C2D7EC44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950258"/>
              </p:ext>
            </p:extLst>
          </p:nvPr>
        </p:nvGraphicFramePr>
        <p:xfrm>
          <a:off x="10261743" y="8874554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5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76" name="Oval 75">
            <a:extLst>
              <a:ext uri="{FF2B5EF4-FFF2-40B4-BE49-F238E27FC236}">
                <a16:creationId xmlns:a16="http://schemas.microsoft.com/office/drawing/2014/main" id="{020EFFA1-AAF2-0C4D-504E-885253E01DB8}"/>
              </a:ext>
            </a:extLst>
          </p:cNvPr>
          <p:cNvSpPr/>
          <p:nvPr/>
        </p:nvSpPr>
        <p:spPr>
          <a:xfrm>
            <a:off x="10285078" y="8255946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BAC994EB-D46A-519A-6C52-3FC3E718CEA5}"/>
              </a:ext>
            </a:extLst>
          </p:cNvPr>
          <p:cNvSpPr/>
          <p:nvPr/>
        </p:nvSpPr>
        <p:spPr>
          <a:xfrm>
            <a:off x="11052775" y="7701890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241F43B-0198-23A1-F077-914BCEE465AE}"/>
              </a:ext>
            </a:extLst>
          </p:cNvPr>
          <p:cNvSpPr/>
          <p:nvPr/>
        </p:nvSpPr>
        <p:spPr>
          <a:xfrm>
            <a:off x="11292487" y="7701890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5FE69E7-8003-F4A0-23D0-A32EC6EA9ECC}"/>
              </a:ext>
            </a:extLst>
          </p:cNvPr>
          <p:cNvSpPr/>
          <p:nvPr/>
        </p:nvSpPr>
        <p:spPr>
          <a:xfrm>
            <a:off x="11528231" y="7701890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6A05CBF8-3F2D-C520-56A5-6FD72FCCBEFF}"/>
              </a:ext>
            </a:extLst>
          </p:cNvPr>
          <p:cNvSpPr/>
          <p:nvPr/>
        </p:nvSpPr>
        <p:spPr>
          <a:xfrm>
            <a:off x="11763975" y="7701890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C530D25F-1739-4B70-5174-8F2BC60F5E88}"/>
              </a:ext>
            </a:extLst>
          </p:cNvPr>
          <p:cNvSpPr/>
          <p:nvPr/>
        </p:nvSpPr>
        <p:spPr>
          <a:xfrm>
            <a:off x="11022983" y="9434777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013CE56-40A2-89CC-7A92-104F176DB00C}"/>
              </a:ext>
            </a:extLst>
          </p:cNvPr>
          <p:cNvSpPr txBox="1"/>
          <p:nvPr/>
        </p:nvSpPr>
        <p:spPr>
          <a:xfrm>
            <a:off x="11545198" y="9950419"/>
            <a:ext cx="2656281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What are clinical notes, origins of clinical notes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8800DED-69E2-4D68-8B97-B4B798A1CBAD}"/>
              </a:ext>
            </a:extLst>
          </p:cNvPr>
          <p:cNvSpPr/>
          <p:nvPr/>
        </p:nvSpPr>
        <p:spPr>
          <a:xfrm>
            <a:off x="12337086" y="1110510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9DE08E-EF2A-AB6F-A692-45BD6EF8714A}"/>
              </a:ext>
            </a:extLst>
          </p:cNvPr>
          <p:cNvSpPr/>
          <p:nvPr/>
        </p:nvSpPr>
        <p:spPr>
          <a:xfrm>
            <a:off x="11543418" y="10445877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F431058F-DEB2-35A5-D655-09DD8D9A6D48}"/>
              </a:ext>
            </a:extLst>
          </p:cNvPr>
          <p:cNvSpPr/>
          <p:nvPr/>
        </p:nvSpPr>
        <p:spPr>
          <a:xfrm>
            <a:off x="11783130" y="10445877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9A26F820-DCB5-7A3D-4936-C0C1137F78B9}"/>
              </a:ext>
            </a:extLst>
          </p:cNvPr>
          <p:cNvSpPr/>
          <p:nvPr/>
        </p:nvSpPr>
        <p:spPr>
          <a:xfrm>
            <a:off x="12018874" y="10445877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0E5DD31-6391-53E4-C736-47BBAB048215}"/>
              </a:ext>
            </a:extLst>
          </p:cNvPr>
          <p:cNvSpPr/>
          <p:nvPr/>
        </p:nvSpPr>
        <p:spPr>
          <a:xfrm>
            <a:off x="12254618" y="10445877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92" name="Table 91">
            <a:extLst>
              <a:ext uri="{FF2B5EF4-FFF2-40B4-BE49-F238E27FC236}">
                <a16:creationId xmlns:a16="http://schemas.microsoft.com/office/drawing/2014/main" id="{F89D3ACC-3C49-F716-CD16-6E11620AB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7010037"/>
              </p:ext>
            </p:extLst>
          </p:nvPr>
        </p:nvGraphicFramePr>
        <p:xfrm>
          <a:off x="11543237" y="10545722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2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93" name="Oval 92">
            <a:extLst>
              <a:ext uri="{FF2B5EF4-FFF2-40B4-BE49-F238E27FC236}">
                <a16:creationId xmlns:a16="http://schemas.microsoft.com/office/drawing/2014/main" id="{A170C093-A751-83A6-DAF3-FE889AAE9241}"/>
              </a:ext>
            </a:extLst>
          </p:cNvPr>
          <p:cNvSpPr/>
          <p:nvPr/>
        </p:nvSpPr>
        <p:spPr>
          <a:xfrm>
            <a:off x="11566572" y="9755664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30FB7AB-AC47-6D3D-F015-81DE13F8A114}"/>
              </a:ext>
            </a:extLst>
          </p:cNvPr>
          <p:cNvSpPr txBox="1"/>
          <p:nvPr/>
        </p:nvSpPr>
        <p:spPr>
          <a:xfrm>
            <a:off x="11578321" y="12266899"/>
            <a:ext cx="2656281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Generate Synthetic clinical notes, automated clinical coding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4DA17231-7C16-DB85-4E9B-0C784C7974B0}"/>
              </a:ext>
            </a:extLst>
          </p:cNvPr>
          <p:cNvSpPr/>
          <p:nvPr/>
        </p:nvSpPr>
        <p:spPr>
          <a:xfrm>
            <a:off x="12377829" y="1342158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55E178C7-3FDE-1EFE-28DF-1F80A0B10EF3}"/>
              </a:ext>
            </a:extLst>
          </p:cNvPr>
          <p:cNvSpPr/>
          <p:nvPr/>
        </p:nvSpPr>
        <p:spPr>
          <a:xfrm>
            <a:off x="11576541" y="12762357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5327D40B-D409-68C5-73E1-D0D849DF8DAE}"/>
              </a:ext>
            </a:extLst>
          </p:cNvPr>
          <p:cNvSpPr/>
          <p:nvPr/>
        </p:nvSpPr>
        <p:spPr>
          <a:xfrm>
            <a:off x="11816253" y="12762357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8BBC974C-D8DB-A913-261A-0E88D5EFDF08}"/>
              </a:ext>
            </a:extLst>
          </p:cNvPr>
          <p:cNvSpPr/>
          <p:nvPr/>
        </p:nvSpPr>
        <p:spPr>
          <a:xfrm>
            <a:off x="12051997" y="12762357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7CF64AAA-A411-927D-467E-5F231B1D49EB}"/>
              </a:ext>
            </a:extLst>
          </p:cNvPr>
          <p:cNvSpPr/>
          <p:nvPr/>
        </p:nvSpPr>
        <p:spPr>
          <a:xfrm>
            <a:off x="12287741" y="12762357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09" name="Table 108">
            <a:extLst>
              <a:ext uri="{FF2B5EF4-FFF2-40B4-BE49-F238E27FC236}">
                <a16:creationId xmlns:a16="http://schemas.microsoft.com/office/drawing/2014/main" id="{C54F3501-BD9B-E6A6-8BD4-D9B275525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869831"/>
              </p:ext>
            </p:extLst>
          </p:nvPr>
        </p:nvGraphicFramePr>
        <p:xfrm>
          <a:off x="11576360" y="12862202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4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110" name="Oval 109">
            <a:extLst>
              <a:ext uri="{FF2B5EF4-FFF2-40B4-BE49-F238E27FC236}">
                <a16:creationId xmlns:a16="http://schemas.microsoft.com/office/drawing/2014/main" id="{D789E50C-8DC0-EC31-70DC-88494DDA8B6F}"/>
              </a:ext>
            </a:extLst>
          </p:cNvPr>
          <p:cNvSpPr/>
          <p:nvPr/>
        </p:nvSpPr>
        <p:spPr>
          <a:xfrm>
            <a:off x="11599695" y="12072144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78AA63C-9B7F-5E13-2A54-FE850D826F24}"/>
              </a:ext>
            </a:extLst>
          </p:cNvPr>
          <p:cNvSpPr txBox="1"/>
          <p:nvPr/>
        </p:nvSpPr>
        <p:spPr>
          <a:xfrm>
            <a:off x="18907673" y="1227956"/>
            <a:ext cx="2656281" cy="430887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Attention is all you need, origin of transformers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D02C6E62-8246-2098-8038-B20D182F5A64}"/>
              </a:ext>
            </a:extLst>
          </p:cNvPr>
          <p:cNvSpPr/>
          <p:nvPr/>
        </p:nvSpPr>
        <p:spPr>
          <a:xfrm>
            <a:off x="19707181" y="2382639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C72E8FCD-766D-5805-1EC8-CAC318BD25E3}"/>
              </a:ext>
            </a:extLst>
          </p:cNvPr>
          <p:cNvSpPr/>
          <p:nvPr/>
        </p:nvSpPr>
        <p:spPr>
          <a:xfrm>
            <a:off x="18905893" y="1723414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72F889D5-E7CF-C628-0455-7AEDA8F3D56E}"/>
              </a:ext>
            </a:extLst>
          </p:cNvPr>
          <p:cNvSpPr/>
          <p:nvPr/>
        </p:nvSpPr>
        <p:spPr>
          <a:xfrm>
            <a:off x="19145605" y="1723414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4079C19B-2F90-D7D4-E8E5-467E4B5932A0}"/>
              </a:ext>
            </a:extLst>
          </p:cNvPr>
          <p:cNvSpPr/>
          <p:nvPr/>
        </p:nvSpPr>
        <p:spPr>
          <a:xfrm>
            <a:off x="19381349" y="1723414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92D2F5BF-EFF2-A62C-CDE5-9475455AB11D}"/>
              </a:ext>
            </a:extLst>
          </p:cNvPr>
          <p:cNvSpPr/>
          <p:nvPr/>
        </p:nvSpPr>
        <p:spPr>
          <a:xfrm>
            <a:off x="19617093" y="172341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8DA786D9-BC6A-C7E0-BD12-1B9ED5CE07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0861700"/>
              </p:ext>
            </p:extLst>
          </p:nvPr>
        </p:nvGraphicFramePr>
        <p:xfrm>
          <a:off x="18905712" y="1823259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11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126" name="Oval 125">
            <a:extLst>
              <a:ext uri="{FF2B5EF4-FFF2-40B4-BE49-F238E27FC236}">
                <a16:creationId xmlns:a16="http://schemas.microsoft.com/office/drawing/2014/main" id="{761DD526-B48E-27E4-EC40-5E36671E6210}"/>
              </a:ext>
            </a:extLst>
          </p:cNvPr>
          <p:cNvSpPr/>
          <p:nvPr/>
        </p:nvSpPr>
        <p:spPr>
          <a:xfrm>
            <a:off x="18929047" y="1033201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116EE370-AB7F-568F-DD0A-09E82499AEF6}"/>
              </a:ext>
            </a:extLst>
          </p:cNvPr>
          <p:cNvSpPr txBox="1"/>
          <p:nvPr/>
        </p:nvSpPr>
        <p:spPr>
          <a:xfrm>
            <a:off x="18919849" y="2796021"/>
            <a:ext cx="2656281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Foundation models origin, GPU computing in machine learning, foundation models in healthcare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56759615-0A64-2DF3-6E89-75EE801073A9}"/>
              </a:ext>
            </a:extLst>
          </p:cNvPr>
          <p:cNvSpPr/>
          <p:nvPr/>
        </p:nvSpPr>
        <p:spPr>
          <a:xfrm>
            <a:off x="19952444" y="4096672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5" name="Rectangle 134">
            <a:extLst>
              <a:ext uri="{FF2B5EF4-FFF2-40B4-BE49-F238E27FC236}">
                <a16:creationId xmlns:a16="http://schemas.microsoft.com/office/drawing/2014/main" id="{67F52539-868D-5FEF-7E39-0329C91985D4}"/>
              </a:ext>
            </a:extLst>
          </p:cNvPr>
          <p:cNvSpPr/>
          <p:nvPr/>
        </p:nvSpPr>
        <p:spPr>
          <a:xfrm>
            <a:off x="18918069" y="3440069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58FBBCF-8102-49FA-CE4C-5CF197927C1B}"/>
              </a:ext>
            </a:extLst>
          </p:cNvPr>
          <p:cNvSpPr/>
          <p:nvPr/>
        </p:nvSpPr>
        <p:spPr>
          <a:xfrm>
            <a:off x="19157781" y="3440069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7" name="Rectangle 166">
            <a:extLst>
              <a:ext uri="{FF2B5EF4-FFF2-40B4-BE49-F238E27FC236}">
                <a16:creationId xmlns:a16="http://schemas.microsoft.com/office/drawing/2014/main" id="{D5162E0A-9E8A-3D49-0CD3-D4456CDDBB76}"/>
              </a:ext>
            </a:extLst>
          </p:cNvPr>
          <p:cNvSpPr/>
          <p:nvPr/>
        </p:nvSpPr>
        <p:spPr>
          <a:xfrm>
            <a:off x="19393525" y="3440069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41A419B0-A625-4E03-9F46-5E35121246B2}"/>
              </a:ext>
            </a:extLst>
          </p:cNvPr>
          <p:cNvSpPr/>
          <p:nvPr/>
        </p:nvSpPr>
        <p:spPr>
          <a:xfrm>
            <a:off x="19629269" y="3440069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72" name="Table 171">
            <a:extLst>
              <a:ext uri="{FF2B5EF4-FFF2-40B4-BE49-F238E27FC236}">
                <a16:creationId xmlns:a16="http://schemas.microsoft.com/office/drawing/2014/main" id="{6CC815F3-A5F1-5AE8-72BA-CE1FC2C884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221594"/>
              </p:ext>
            </p:extLst>
          </p:nvPr>
        </p:nvGraphicFramePr>
        <p:xfrm>
          <a:off x="18917888" y="3539914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4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173" name="Oval 172">
            <a:extLst>
              <a:ext uri="{FF2B5EF4-FFF2-40B4-BE49-F238E27FC236}">
                <a16:creationId xmlns:a16="http://schemas.microsoft.com/office/drawing/2014/main" id="{A1CACD63-960A-F984-4F83-942F7920C54D}"/>
              </a:ext>
            </a:extLst>
          </p:cNvPr>
          <p:cNvSpPr/>
          <p:nvPr/>
        </p:nvSpPr>
        <p:spPr>
          <a:xfrm>
            <a:off x="18941223" y="2616506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F8182B71-FBED-9003-4D17-C8B9B5A64958}"/>
              </a:ext>
            </a:extLst>
          </p:cNvPr>
          <p:cNvSpPr/>
          <p:nvPr/>
        </p:nvSpPr>
        <p:spPr>
          <a:xfrm>
            <a:off x="19703213" y="4094627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3595A617-E6FF-0964-C287-8A502D26B2DE}"/>
              </a:ext>
            </a:extLst>
          </p:cNvPr>
          <p:cNvSpPr txBox="1"/>
          <p:nvPr/>
        </p:nvSpPr>
        <p:spPr>
          <a:xfrm>
            <a:off x="18827798" y="4998142"/>
            <a:ext cx="2656281" cy="261610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Large language models in healthcare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6E8F35C3-C66C-2853-36F1-D0AE70AF1F66}"/>
              </a:ext>
            </a:extLst>
          </p:cNvPr>
          <p:cNvSpPr/>
          <p:nvPr/>
        </p:nvSpPr>
        <p:spPr>
          <a:xfrm>
            <a:off x="19847693" y="5978753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4D5C1123-95DF-0C05-D5CD-D594A823ED1C}"/>
              </a:ext>
            </a:extLst>
          </p:cNvPr>
          <p:cNvSpPr/>
          <p:nvPr/>
        </p:nvSpPr>
        <p:spPr>
          <a:xfrm>
            <a:off x="18826018" y="5322150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56EA1474-E60B-394A-695D-D99058E1D57A}"/>
              </a:ext>
            </a:extLst>
          </p:cNvPr>
          <p:cNvSpPr/>
          <p:nvPr/>
        </p:nvSpPr>
        <p:spPr>
          <a:xfrm>
            <a:off x="19065730" y="5322150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D01AA987-0B86-A1A9-3635-3C213D15B9BA}"/>
              </a:ext>
            </a:extLst>
          </p:cNvPr>
          <p:cNvSpPr/>
          <p:nvPr/>
        </p:nvSpPr>
        <p:spPr>
          <a:xfrm>
            <a:off x="19301474" y="5322150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88E01BF1-4EED-63B4-33C0-156A097607E5}"/>
              </a:ext>
            </a:extLst>
          </p:cNvPr>
          <p:cNvSpPr/>
          <p:nvPr/>
        </p:nvSpPr>
        <p:spPr>
          <a:xfrm>
            <a:off x="19537218" y="5322150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190" name="Table 189">
            <a:extLst>
              <a:ext uri="{FF2B5EF4-FFF2-40B4-BE49-F238E27FC236}">
                <a16:creationId xmlns:a16="http://schemas.microsoft.com/office/drawing/2014/main" id="{E742160C-2334-4C5B-39E3-B14B41254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6318516"/>
              </p:ext>
            </p:extLst>
          </p:nvPr>
        </p:nvGraphicFramePr>
        <p:xfrm>
          <a:off x="18825837" y="5421995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40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3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191" name="Oval 190">
            <a:extLst>
              <a:ext uri="{FF2B5EF4-FFF2-40B4-BE49-F238E27FC236}">
                <a16:creationId xmlns:a16="http://schemas.microsoft.com/office/drawing/2014/main" id="{AA0653B0-620E-5255-A7CE-EB39ADF4FA0B}"/>
              </a:ext>
            </a:extLst>
          </p:cNvPr>
          <p:cNvSpPr/>
          <p:nvPr/>
        </p:nvSpPr>
        <p:spPr>
          <a:xfrm>
            <a:off x="18849172" y="4772907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C187E715-10D0-551F-E812-FB3200B659EE}"/>
              </a:ext>
            </a:extLst>
          </p:cNvPr>
          <p:cNvSpPr/>
          <p:nvPr/>
        </p:nvSpPr>
        <p:spPr>
          <a:xfrm>
            <a:off x="19611162" y="5976708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5159B619-901A-60B0-7271-9896A7FAFABA}"/>
              </a:ext>
            </a:extLst>
          </p:cNvPr>
          <p:cNvSpPr/>
          <p:nvPr/>
        </p:nvSpPr>
        <p:spPr>
          <a:xfrm>
            <a:off x="6068413" y="13321013"/>
            <a:ext cx="1610934" cy="647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+ Information Extraction</a:t>
            </a:r>
          </a:p>
        </p:txBody>
      </p:sp>
      <p:cxnSp>
        <p:nvCxnSpPr>
          <p:cNvPr id="197" name="Connector: Elbow 196">
            <a:extLst>
              <a:ext uri="{FF2B5EF4-FFF2-40B4-BE49-F238E27FC236}">
                <a16:creationId xmlns:a16="http://schemas.microsoft.com/office/drawing/2014/main" id="{2455CEF6-B6E1-38AF-D780-070D2A9DCF3A}"/>
              </a:ext>
            </a:extLst>
          </p:cNvPr>
          <p:cNvCxnSpPr>
            <a:cxnSpLocks/>
            <a:stCxn id="193" idx="3"/>
            <a:endCxn id="74" idx="1"/>
          </p:cNvCxnSpPr>
          <p:nvPr/>
        </p:nvCxnSpPr>
        <p:spPr>
          <a:xfrm flipV="1">
            <a:off x="7679347" y="2711078"/>
            <a:ext cx="7177866" cy="10933858"/>
          </a:xfrm>
          <a:prstGeom prst="bentConnector3">
            <a:avLst>
              <a:gd name="adj1" fmla="val 9731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4" name="TextBox 273">
            <a:extLst>
              <a:ext uri="{FF2B5EF4-FFF2-40B4-BE49-F238E27FC236}">
                <a16:creationId xmlns:a16="http://schemas.microsoft.com/office/drawing/2014/main" id="{2AD507E5-8A79-6920-3E3B-832E6F1E90F1}"/>
              </a:ext>
            </a:extLst>
          </p:cNvPr>
          <p:cNvSpPr txBox="1"/>
          <p:nvPr/>
        </p:nvSpPr>
        <p:spPr>
          <a:xfrm>
            <a:off x="18924114" y="7806343"/>
            <a:ext cx="2656281" cy="261610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Large language models in epilepsy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D3EFD66E-3A7A-3108-2247-A7A04A4A28B3}"/>
              </a:ext>
            </a:extLst>
          </p:cNvPr>
          <p:cNvSpPr/>
          <p:nvPr/>
        </p:nvSpPr>
        <p:spPr>
          <a:xfrm>
            <a:off x="20182134" y="8800924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E74538F0-80CD-E869-49B4-1C2D3FF70FE9}"/>
              </a:ext>
            </a:extLst>
          </p:cNvPr>
          <p:cNvSpPr/>
          <p:nvPr/>
        </p:nvSpPr>
        <p:spPr>
          <a:xfrm>
            <a:off x="18922334" y="8130351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0CE173BF-AEB4-3A48-B88E-B678DD107B97}"/>
              </a:ext>
            </a:extLst>
          </p:cNvPr>
          <p:cNvSpPr/>
          <p:nvPr/>
        </p:nvSpPr>
        <p:spPr>
          <a:xfrm>
            <a:off x="19162046" y="8130351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E1F75175-E9EA-28FB-DA53-FEBAB36DB479}"/>
              </a:ext>
            </a:extLst>
          </p:cNvPr>
          <p:cNvSpPr/>
          <p:nvPr/>
        </p:nvSpPr>
        <p:spPr>
          <a:xfrm>
            <a:off x="19397790" y="8130351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8" name="Rectangle 287">
            <a:extLst>
              <a:ext uri="{FF2B5EF4-FFF2-40B4-BE49-F238E27FC236}">
                <a16:creationId xmlns:a16="http://schemas.microsoft.com/office/drawing/2014/main" id="{26CDA497-EE72-9A0B-0BDB-6A2C67F95227}"/>
              </a:ext>
            </a:extLst>
          </p:cNvPr>
          <p:cNvSpPr/>
          <p:nvPr/>
        </p:nvSpPr>
        <p:spPr>
          <a:xfrm>
            <a:off x="19633534" y="8130351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91" name="Table 290">
            <a:extLst>
              <a:ext uri="{FF2B5EF4-FFF2-40B4-BE49-F238E27FC236}">
                <a16:creationId xmlns:a16="http://schemas.microsoft.com/office/drawing/2014/main" id="{C55EFB20-606E-888D-4C78-B23DE21477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5620463"/>
              </p:ext>
            </p:extLst>
          </p:nvPr>
        </p:nvGraphicFramePr>
        <p:xfrm>
          <a:off x="18922153" y="8248857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33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7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292" name="Oval 291">
            <a:extLst>
              <a:ext uri="{FF2B5EF4-FFF2-40B4-BE49-F238E27FC236}">
                <a16:creationId xmlns:a16="http://schemas.microsoft.com/office/drawing/2014/main" id="{05811EDB-D95D-D3F6-6221-29269A73D3E4}"/>
              </a:ext>
            </a:extLst>
          </p:cNvPr>
          <p:cNvSpPr/>
          <p:nvPr/>
        </p:nvSpPr>
        <p:spPr>
          <a:xfrm>
            <a:off x="18945488" y="7581108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5" name="Rectangle 294">
            <a:extLst>
              <a:ext uri="{FF2B5EF4-FFF2-40B4-BE49-F238E27FC236}">
                <a16:creationId xmlns:a16="http://schemas.microsoft.com/office/drawing/2014/main" id="{7BFEA602-821E-51B4-0708-2DA4E14E36A5}"/>
              </a:ext>
            </a:extLst>
          </p:cNvPr>
          <p:cNvSpPr/>
          <p:nvPr/>
        </p:nvSpPr>
        <p:spPr>
          <a:xfrm>
            <a:off x="19707478" y="8805229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B5365DD6-B218-A207-995D-E8BEB4CF876B}"/>
              </a:ext>
            </a:extLst>
          </p:cNvPr>
          <p:cNvSpPr/>
          <p:nvPr/>
        </p:nvSpPr>
        <p:spPr>
          <a:xfrm>
            <a:off x="14875635" y="12037386"/>
            <a:ext cx="1610934" cy="6478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 </a:t>
            </a:r>
          </a:p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</p:txBody>
      </p:sp>
      <p:sp>
        <p:nvSpPr>
          <p:cNvPr id="329" name="Rectangle 328">
            <a:extLst>
              <a:ext uri="{FF2B5EF4-FFF2-40B4-BE49-F238E27FC236}">
                <a16:creationId xmlns:a16="http://schemas.microsoft.com/office/drawing/2014/main" id="{78F0A643-52C4-B5E6-9E09-675A171AE2AF}"/>
              </a:ext>
            </a:extLst>
          </p:cNvPr>
          <p:cNvSpPr/>
          <p:nvPr/>
        </p:nvSpPr>
        <p:spPr>
          <a:xfrm>
            <a:off x="19950801" y="8798639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331" name="Connector: Elbow 330">
            <a:extLst>
              <a:ext uri="{FF2B5EF4-FFF2-40B4-BE49-F238E27FC236}">
                <a16:creationId xmlns:a16="http://schemas.microsoft.com/office/drawing/2014/main" id="{7F4A51AC-15EB-BDC5-A21F-23E5FF33700E}"/>
              </a:ext>
            </a:extLst>
          </p:cNvPr>
          <p:cNvCxnSpPr>
            <a:cxnSpLocks/>
            <a:stCxn id="193" idx="3"/>
            <a:endCxn id="327" idx="1"/>
          </p:cNvCxnSpPr>
          <p:nvPr/>
        </p:nvCxnSpPr>
        <p:spPr>
          <a:xfrm flipV="1">
            <a:off x="7679347" y="12361309"/>
            <a:ext cx="7196288" cy="1283627"/>
          </a:xfrm>
          <a:prstGeom prst="bentConnector3">
            <a:avLst>
              <a:gd name="adj1" fmla="val 9719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7" name="TextBox 336">
            <a:extLst>
              <a:ext uri="{FF2B5EF4-FFF2-40B4-BE49-F238E27FC236}">
                <a16:creationId xmlns:a16="http://schemas.microsoft.com/office/drawing/2014/main" id="{B69A8D99-ED60-73D0-2AD8-84AF4D3CA890}"/>
              </a:ext>
            </a:extLst>
          </p:cNvPr>
          <p:cNvSpPr txBox="1"/>
          <p:nvPr/>
        </p:nvSpPr>
        <p:spPr>
          <a:xfrm>
            <a:off x="17357262" y="11284577"/>
            <a:ext cx="2656281" cy="600164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Clinical NER applications, information extraction in NLP, biomedical information extraction</a:t>
            </a:r>
          </a:p>
        </p:txBody>
      </p:sp>
      <p:sp>
        <p:nvSpPr>
          <p:cNvPr id="338" name="Rectangle 337">
            <a:extLst>
              <a:ext uri="{FF2B5EF4-FFF2-40B4-BE49-F238E27FC236}">
                <a16:creationId xmlns:a16="http://schemas.microsoft.com/office/drawing/2014/main" id="{0C15A687-D745-9E3B-8519-557382D0ACDE}"/>
              </a:ext>
            </a:extLst>
          </p:cNvPr>
          <p:cNvSpPr/>
          <p:nvPr/>
        </p:nvSpPr>
        <p:spPr>
          <a:xfrm>
            <a:off x="18596923" y="12660398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0" name="Rectangle 339">
            <a:extLst>
              <a:ext uri="{FF2B5EF4-FFF2-40B4-BE49-F238E27FC236}">
                <a16:creationId xmlns:a16="http://schemas.microsoft.com/office/drawing/2014/main" id="{682C5713-493B-CBE7-A523-472EBB670592}"/>
              </a:ext>
            </a:extLst>
          </p:cNvPr>
          <p:cNvSpPr/>
          <p:nvPr/>
        </p:nvSpPr>
        <p:spPr>
          <a:xfrm>
            <a:off x="17348553" y="11988555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41" name="Rectangle 340">
            <a:extLst>
              <a:ext uri="{FF2B5EF4-FFF2-40B4-BE49-F238E27FC236}">
                <a16:creationId xmlns:a16="http://schemas.microsoft.com/office/drawing/2014/main" id="{FA265420-BEE8-B7D6-C86C-102F0F9EF111}"/>
              </a:ext>
            </a:extLst>
          </p:cNvPr>
          <p:cNvSpPr/>
          <p:nvPr/>
        </p:nvSpPr>
        <p:spPr>
          <a:xfrm>
            <a:off x="17588265" y="11988555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3" name="Rectangle 352">
            <a:extLst>
              <a:ext uri="{FF2B5EF4-FFF2-40B4-BE49-F238E27FC236}">
                <a16:creationId xmlns:a16="http://schemas.microsoft.com/office/drawing/2014/main" id="{8700F519-0374-162A-40A2-BAEE860761FA}"/>
              </a:ext>
            </a:extLst>
          </p:cNvPr>
          <p:cNvSpPr/>
          <p:nvPr/>
        </p:nvSpPr>
        <p:spPr>
          <a:xfrm>
            <a:off x="17824009" y="11988555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4" name="Rectangle 353">
            <a:extLst>
              <a:ext uri="{FF2B5EF4-FFF2-40B4-BE49-F238E27FC236}">
                <a16:creationId xmlns:a16="http://schemas.microsoft.com/office/drawing/2014/main" id="{0A64F915-70FA-407D-E763-3CCFE36EEE13}"/>
              </a:ext>
            </a:extLst>
          </p:cNvPr>
          <p:cNvSpPr/>
          <p:nvPr/>
        </p:nvSpPr>
        <p:spPr>
          <a:xfrm>
            <a:off x="18059753" y="11988555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56" name="Table 355">
            <a:extLst>
              <a:ext uri="{FF2B5EF4-FFF2-40B4-BE49-F238E27FC236}">
                <a16:creationId xmlns:a16="http://schemas.microsoft.com/office/drawing/2014/main" id="{6D550A98-8D8C-A67F-1EBD-4E5670F77B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860764"/>
              </p:ext>
            </p:extLst>
          </p:nvPr>
        </p:nvGraphicFramePr>
        <p:xfrm>
          <a:off x="17348372" y="12107061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</a:t>
                      </a:r>
                    </a:p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6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sp>
        <p:nvSpPr>
          <p:cNvPr id="357" name="Oval 356">
            <a:extLst>
              <a:ext uri="{FF2B5EF4-FFF2-40B4-BE49-F238E27FC236}">
                <a16:creationId xmlns:a16="http://schemas.microsoft.com/office/drawing/2014/main" id="{0C241175-2038-0BAF-3C0F-08BD99323621}"/>
              </a:ext>
            </a:extLst>
          </p:cNvPr>
          <p:cNvSpPr/>
          <p:nvPr/>
        </p:nvSpPr>
        <p:spPr>
          <a:xfrm>
            <a:off x="17337214" y="11038612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9" name="Rectangle 368">
            <a:extLst>
              <a:ext uri="{FF2B5EF4-FFF2-40B4-BE49-F238E27FC236}">
                <a16:creationId xmlns:a16="http://schemas.microsoft.com/office/drawing/2014/main" id="{E71AF89F-6F98-DECA-FAAA-51BC5A60947E}"/>
              </a:ext>
            </a:extLst>
          </p:cNvPr>
          <p:cNvSpPr/>
          <p:nvPr/>
        </p:nvSpPr>
        <p:spPr>
          <a:xfrm>
            <a:off x="18133697" y="12658353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0" name="Rectangle 369">
            <a:extLst>
              <a:ext uri="{FF2B5EF4-FFF2-40B4-BE49-F238E27FC236}">
                <a16:creationId xmlns:a16="http://schemas.microsoft.com/office/drawing/2014/main" id="{1FF57CB4-2088-41DB-445D-08835A26CF05}"/>
              </a:ext>
            </a:extLst>
          </p:cNvPr>
          <p:cNvSpPr/>
          <p:nvPr/>
        </p:nvSpPr>
        <p:spPr>
          <a:xfrm>
            <a:off x="18365590" y="12658113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72" name="TextBox 371">
            <a:extLst>
              <a:ext uri="{FF2B5EF4-FFF2-40B4-BE49-F238E27FC236}">
                <a16:creationId xmlns:a16="http://schemas.microsoft.com/office/drawing/2014/main" id="{53F7B28C-321B-6653-935E-C1D7C31FAB7D}"/>
              </a:ext>
            </a:extLst>
          </p:cNvPr>
          <p:cNvSpPr txBox="1"/>
          <p:nvPr/>
        </p:nvSpPr>
        <p:spPr>
          <a:xfrm>
            <a:off x="22516519" y="4548708"/>
            <a:ext cx="2656281" cy="769441"/>
          </a:xfrm>
          <a:prstGeom prst="rect">
            <a:avLst/>
          </a:prstGeom>
          <a:noFill/>
          <a:ln w="12700">
            <a:solidFill>
              <a:schemeClr val="accent5"/>
            </a:solidFill>
            <a:prstDash val="lgDash"/>
          </a:ln>
        </p:spPr>
        <p:txBody>
          <a:bodyPr wrap="square" rtlCol="0">
            <a:spAutoFit/>
          </a:bodyPr>
          <a:lstStyle/>
          <a:p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clinical NER with LLMs, information extraction with LLMs, biomedical information extract ion with LLMs</a:t>
            </a:r>
          </a:p>
        </p:txBody>
      </p:sp>
      <p:sp>
        <p:nvSpPr>
          <p:cNvPr id="373" name="Rectangle 372">
            <a:extLst>
              <a:ext uri="{FF2B5EF4-FFF2-40B4-BE49-F238E27FC236}">
                <a16:creationId xmlns:a16="http://schemas.microsoft.com/office/drawing/2014/main" id="{15ACC26F-E004-BB8A-6EEC-77BFFDFA1B8A}"/>
              </a:ext>
            </a:extLst>
          </p:cNvPr>
          <p:cNvSpPr/>
          <p:nvPr/>
        </p:nvSpPr>
        <p:spPr>
          <a:xfrm>
            <a:off x="23535641" y="6052865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5" name="Rectangle 384">
            <a:extLst>
              <a:ext uri="{FF2B5EF4-FFF2-40B4-BE49-F238E27FC236}">
                <a16:creationId xmlns:a16="http://schemas.microsoft.com/office/drawing/2014/main" id="{28A58EE6-4106-FA87-47F6-AC8CA48B47FF}"/>
              </a:ext>
            </a:extLst>
          </p:cNvPr>
          <p:cNvSpPr/>
          <p:nvPr/>
        </p:nvSpPr>
        <p:spPr>
          <a:xfrm>
            <a:off x="22547708" y="5375941"/>
            <a:ext cx="200989" cy="5912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7" name="Rectangle 386">
            <a:extLst>
              <a:ext uri="{FF2B5EF4-FFF2-40B4-BE49-F238E27FC236}">
                <a16:creationId xmlns:a16="http://schemas.microsoft.com/office/drawing/2014/main" id="{9FE1E0C3-640F-35A5-8859-4E788E753730}"/>
              </a:ext>
            </a:extLst>
          </p:cNvPr>
          <p:cNvSpPr/>
          <p:nvPr/>
        </p:nvSpPr>
        <p:spPr>
          <a:xfrm>
            <a:off x="22787420" y="5375941"/>
            <a:ext cx="197021" cy="5912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8" name="Rectangle 387">
            <a:extLst>
              <a:ext uri="{FF2B5EF4-FFF2-40B4-BE49-F238E27FC236}">
                <a16:creationId xmlns:a16="http://schemas.microsoft.com/office/drawing/2014/main" id="{77A27A65-0582-5E29-4ABD-61E54A4AED37}"/>
              </a:ext>
            </a:extLst>
          </p:cNvPr>
          <p:cNvSpPr/>
          <p:nvPr/>
        </p:nvSpPr>
        <p:spPr>
          <a:xfrm>
            <a:off x="23023164" y="5375941"/>
            <a:ext cx="197021" cy="5912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2" name="Rectangle 391">
            <a:extLst>
              <a:ext uri="{FF2B5EF4-FFF2-40B4-BE49-F238E27FC236}">
                <a16:creationId xmlns:a16="http://schemas.microsoft.com/office/drawing/2014/main" id="{66C7F108-C3FC-4311-18E2-4255920A9235}"/>
              </a:ext>
            </a:extLst>
          </p:cNvPr>
          <p:cNvSpPr/>
          <p:nvPr/>
        </p:nvSpPr>
        <p:spPr>
          <a:xfrm>
            <a:off x="23258908" y="5375941"/>
            <a:ext cx="197021" cy="59123"/>
          </a:xfrm>
          <a:prstGeom prst="rect">
            <a:avLst/>
          </a:prstGeom>
          <a:solidFill>
            <a:srgbClr val="FF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4" name="Oval 393">
            <a:extLst>
              <a:ext uri="{FF2B5EF4-FFF2-40B4-BE49-F238E27FC236}">
                <a16:creationId xmlns:a16="http://schemas.microsoft.com/office/drawing/2014/main" id="{3E9D9CC9-D1E7-E736-009A-79E8484944BE}"/>
              </a:ext>
            </a:extLst>
          </p:cNvPr>
          <p:cNvSpPr/>
          <p:nvPr/>
        </p:nvSpPr>
        <p:spPr>
          <a:xfrm>
            <a:off x="22569431" y="4350528"/>
            <a:ext cx="139700" cy="140388"/>
          </a:xfrm>
          <a:prstGeom prst="ellipse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7" name="Rectangle 396">
            <a:extLst>
              <a:ext uri="{FF2B5EF4-FFF2-40B4-BE49-F238E27FC236}">
                <a16:creationId xmlns:a16="http://schemas.microsoft.com/office/drawing/2014/main" id="{A5AD733E-0C02-03CD-7202-72F42350695A}"/>
              </a:ext>
            </a:extLst>
          </p:cNvPr>
          <p:cNvSpPr/>
          <p:nvPr/>
        </p:nvSpPr>
        <p:spPr>
          <a:xfrm>
            <a:off x="23307169" y="6055343"/>
            <a:ext cx="197021" cy="56645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398" name="Table 397">
            <a:extLst>
              <a:ext uri="{FF2B5EF4-FFF2-40B4-BE49-F238E27FC236}">
                <a16:creationId xmlns:a16="http://schemas.microsoft.com/office/drawing/2014/main" id="{FC8663E5-E709-0319-29E8-3CD6DE2C2F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003487"/>
              </p:ext>
            </p:extLst>
          </p:nvPr>
        </p:nvGraphicFramePr>
        <p:xfrm>
          <a:off x="22516520" y="5487204"/>
          <a:ext cx="2656281" cy="518160"/>
        </p:xfrm>
        <a:graphic>
          <a:graphicData uri="http://schemas.openxmlformats.org/drawingml/2006/table">
            <a:tbl>
              <a:tblPr firstCol="1" lastCol="1">
                <a:tableStyleId>{93296810-A885-4BE3-A3E7-6D5BEEA58F35}</a:tableStyleId>
              </a:tblPr>
              <a:tblGrid>
                <a:gridCol w="775352">
                  <a:extLst>
                    <a:ext uri="{9D8B030D-6E8A-4147-A177-3AD203B41FA5}">
                      <a16:colId xmlns:a16="http://schemas.microsoft.com/office/drawing/2014/main" val="502735572"/>
                    </a:ext>
                  </a:extLst>
                </a:gridCol>
                <a:gridCol w="817036">
                  <a:extLst>
                    <a:ext uri="{9D8B030D-6E8A-4147-A177-3AD203B41FA5}">
                      <a16:colId xmlns:a16="http://schemas.microsoft.com/office/drawing/2014/main" val="2289045568"/>
                    </a:ext>
                  </a:extLst>
                </a:gridCol>
                <a:gridCol w="1063893">
                  <a:extLst>
                    <a:ext uri="{9D8B030D-6E8A-4147-A177-3AD203B41FA5}">
                      <a16:colId xmlns:a16="http://schemas.microsoft.com/office/drawing/2014/main" val="1405082197"/>
                    </a:ext>
                  </a:extLst>
                </a:gridCol>
              </a:tblGrid>
              <a:tr h="414320"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Total: </a:t>
                      </a:r>
                    </a:p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Selected: 5</a:t>
                      </a:r>
                      <a:endParaRPr lang="en-IN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Cite Chains: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131573"/>
                  </a:ext>
                </a:extLst>
              </a:tr>
            </a:tbl>
          </a:graphicData>
        </a:graphic>
      </p:graphicFrame>
      <p:cxnSp>
        <p:nvCxnSpPr>
          <p:cNvPr id="407" name="Straight Arrow Connector 406">
            <a:extLst>
              <a:ext uri="{FF2B5EF4-FFF2-40B4-BE49-F238E27FC236}">
                <a16:creationId xmlns:a16="http://schemas.microsoft.com/office/drawing/2014/main" id="{6F2DA596-B921-055D-CED3-08CFD2C76158}"/>
              </a:ext>
            </a:extLst>
          </p:cNvPr>
          <p:cNvCxnSpPr>
            <a:cxnSpLocks/>
            <a:stCxn id="327" idx="3"/>
            <a:endCxn id="356" idx="1"/>
          </p:cNvCxnSpPr>
          <p:nvPr/>
        </p:nvCxnSpPr>
        <p:spPr>
          <a:xfrm>
            <a:off x="16486569" y="12361309"/>
            <a:ext cx="861803" cy="48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63ABD7EC-CFE3-66B4-7449-9CB776776973}"/>
              </a:ext>
            </a:extLst>
          </p:cNvPr>
          <p:cNvCxnSpPr>
            <a:cxnSpLocks/>
            <a:stCxn id="447" idx="3"/>
            <a:endCxn id="398" idx="1"/>
          </p:cNvCxnSpPr>
          <p:nvPr/>
        </p:nvCxnSpPr>
        <p:spPr>
          <a:xfrm flipV="1">
            <a:off x="18047838" y="5746284"/>
            <a:ext cx="4468682" cy="1318410"/>
          </a:xfrm>
          <a:prstGeom prst="bentConnector3">
            <a:avLst>
              <a:gd name="adj1" fmla="val 8836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3306060-806B-C2FB-0829-8D646E69290D}"/>
              </a:ext>
            </a:extLst>
          </p:cNvPr>
          <p:cNvSpPr txBox="1"/>
          <p:nvPr/>
        </p:nvSpPr>
        <p:spPr>
          <a:xfrm>
            <a:off x="182591" y="257914"/>
            <a:ext cx="76400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–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 Diagram</a:t>
            </a:r>
          </a:p>
        </p:txBody>
      </p:sp>
    </p:spTree>
    <p:extLst>
      <p:ext uri="{BB962C8B-B14F-4D97-AF65-F5344CB8AC3E}">
        <p14:creationId xmlns:p14="http://schemas.microsoft.com/office/powerpoint/2010/main" val="207082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85DDC7-7EF8-27FF-BCC1-7B14701C916D}"/>
              </a:ext>
            </a:extLst>
          </p:cNvPr>
          <p:cNvSpPr txBox="1"/>
          <p:nvPr/>
        </p:nvSpPr>
        <p:spPr>
          <a:xfrm>
            <a:off x="239742" y="200764"/>
            <a:ext cx="59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– </a:t>
            </a:r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7BD8AE6B-6738-608E-32F2-9BC4B4FF00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5318450"/>
              </p:ext>
            </p:extLst>
          </p:nvPr>
        </p:nvGraphicFramePr>
        <p:xfrm>
          <a:off x="9575676" y="647378"/>
          <a:ext cx="18578064" cy="128887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FB76E6F-8DD9-F604-7944-A1D368A083DB}"/>
              </a:ext>
            </a:extLst>
          </p:cNvPr>
          <p:cNvSpPr txBox="1"/>
          <p:nvPr/>
        </p:nvSpPr>
        <p:spPr>
          <a:xfrm>
            <a:off x="286644" y="2977129"/>
            <a:ext cx="108732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references – NLP: 78; Epilepsy: 19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Themes – 6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Themes – 6+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83429-0CCC-5642-873C-81B378BA1A1C}"/>
              </a:ext>
            </a:extLst>
          </p:cNvPr>
          <p:cNvSpPr txBox="1"/>
          <p:nvPr/>
        </p:nvSpPr>
        <p:spPr>
          <a:xfrm>
            <a:off x="334137" y="10100611"/>
            <a:ext cx="102971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papers – 4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models ( architecture ) overall – 23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themes –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535CA9-EC63-B2C0-6EF8-6FEB1A8DF605}"/>
              </a:ext>
            </a:extLst>
          </p:cNvPr>
          <p:cNvSpPr txBox="1"/>
          <p:nvPr/>
        </p:nvSpPr>
        <p:spPr>
          <a:xfrm>
            <a:off x="237138" y="9164507"/>
            <a:ext cx="59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ERA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1DE5C3-6326-F01B-DD6E-A12F50F28CD3}"/>
              </a:ext>
            </a:extLst>
          </p:cNvPr>
          <p:cNvSpPr txBox="1"/>
          <p:nvPr/>
        </p:nvSpPr>
        <p:spPr>
          <a:xfrm>
            <a:off x="381167" y="6381884"/>
            <a:ext cx="95770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papers – 7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models ( architecture ) overall – 7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themes – 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4DF266-B8E9-5A13-7FA0-298718651890}"/>
              </a:ext>
            </a:extLst>
          </p:cNvPr>
          <p:cNvSpPr txBox="1"/>
          <p:nvPr/>
        </p:nvSpPr>
        <p:spPr>
          <a:xfrm>
            <a:off x="237138" y="5405373"/>
            <a:ext cx="59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Pre-LLMs ERA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673D51-AA89-9A19-E8FB-E29EB4DA0855}"/>
              </a:ext>
            </a:extLst>
          </p:cNvPr>
          <p:cNvSpPr txBox="1"/>
          <p:nvPr/>
        </p:nvSpPr>
        <p:spPr>
          <a:xfrm>
            <a:off x="286644" y="2087538"/>
            <a:ext cx="595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FFFB1B6-4204-2B42-306D-0AF79E1526FD}"/>
              </a:ext>
            </a:extLst>
          </p:cNvPr>
          <p:cNvSpPr txBox="1"/>
          <p:nvPr/>
        </p:nvSpPr>
        <p:spPr>
          <a:xfrm>
            <a:off x="-1387" y="13682567"/>
            <a:ext cx="10297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See appendix for more detailed metrics on models</a:t>
            </a:r>
          </a:p>
        </p:txBody>
      </p:sp>
    </p:spTree>
    <p:extLst>
      <p:ext uri="{BB962C8B-B14F-4D97-AF65-F5344CB8AC3E}">
        <p14:creationId xmlns:p14="http://schemas.microsoft.com/office/powerpoint/2010/main" val="41799161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9DD494D4-A6D0-F78E-0A8E-6747CEA7346E}"/>
              </a:ext>
            </a:extLst>
          </p:cNvPr>
          <p:cNvSpPr/>
          <p:nvPr/>
        </p:nvSpPr>
        <p:spPr>
          <a:xfrm>
            <a:off x="790700" y="1953224"/>
            <a:ext cx="7424696" cy="4413939"/>
          </a:xfrm>
          <a:prstGeom prst="rect">
            <a:avLst/>
          </a:prstGeom>
          <a:noFill/>
          <a:ln w="38100" cap="flat" cmpd="sng" algn="ctr">
            <a:solidFill>
              <a:schemeClr val="accent5"/>
            </a:solidFill>
            <a:prstDash val="dashDot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5D5469-5416-BC0D-0FB5-CBC5A894B8B8}"/>
              </a:ext>
            </a:extLst>
          </p:cNvPr>
          <p:cNvSpPr txBox="1"/>
          <p:nvPr/>
        </p:nvSpPr>
        <p:spPr>
          <a:xfrm>
            <a:off x="365706" y="178603"/>
            <a:ext cx="55015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Cycle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364D73E-E555-572D-EA75-850FD2D9D6E0}"/>
              </a:ext>
            </a:extLst>
          </p:cNvPr>
          <p:cNvSpPr/>
          <p:nvPr/>
        </p:nvSpPr>
        <p:spPr>
          <a:xfrm>
            <a:off x="790700" y="8321081"/>
            <a:ext cx="26354928" cy="7200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97BFF6-ACB6-5416-65DE-65FABA52F32C}"/>
              </a:ext>
            </a:extLst>
          </p:cNvPr>
          <p:cNvSpPr/>
          <p:nvPr/>
        </p:nvSpPr>
        <p:spPr>
          <a:xfrm>
            <a:off x="3743028" y="5996423"/>
            <a:ext cx="2088232" cy="100811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90B9645-3A0A-47F9-D865-AF09B3B84636}"/>
              </a:ext>
            </a:extLst>
          </p:cNvPr>
          <p:cNvSpPr/>
          <p:nvPr/>
        </p:nvSpPr>
        <p:spPr>
          <a:xfrm>
            <a:off x="5687244" y="9833249"/>
            <a:ext cx="2088232" cy="100811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2E6CFB-D5A1-DB35-7616-34E6B04CEBB1}"/>
              </a:ext>
            </a:extLst>
          </p:cNvPr>
          <p:cNvSpPr/>
          <p:nvPr/>
        </p:nvSpPr>
        <p:spPr>
          <a:xfrm>
            <a:off x="9647684" y="6016825"/>
            <a:ext cx="2088232" cy="100811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A377B36-86A7-F649-B149-2C70E69D045E}"/>
              </a:ext>
            </a:extLst>
          </p:cNvPr>
          <p:cNvSpPr/>
          <p:nvPr/>
        </p:nvSpPr>
        <p:spPr>
          <a:xfrm>
            <a:off x="12816036" y="9864402"/>
            <a:ext cx="2088232" cy="10081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Baseline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CA152C-6E86-7C55-D054-59D6DB1D1FDB}"/>
              </a:ext>
            </a:extLst>
          </p:cNvPr>
          <p:cNvSpPr/>
          <p:nvPr/>
        </p:nvSpPr>
        <p:spPr>
          <a:xfrm>
            <a:off x="16200412" y="5996423"/>
            <a:ext cx="2088232" cy="100811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 tuning 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C7A72B-44DA-C5D7-3A25-494B3CB745AE}"/>
              </a:ext>
            </a:extLst>
          </p:cNvPr>
          <p:cNvSpPr/>
          <p:nvPr/>
        </p:nvSpPr>
        <p:spPr>
          <a:xfrm>
            <a:off x="22681132" y="5784685"/>
            <a:ext cx="2088232" cy="1008112"/>
          </a:xfrm>
          <a:prstGeom prst="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</a:t>
            </a:r>
          </a:p>
          <a:p>
            <a:pPr algn="ct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B42FAB8-8940-673B-9F7E-28C088C10127}"/>
              </a:ext>
            </a:extLst>
          </p:cNvPr>
          <p:cNvSpPr/>
          <p:nvPr/>
        </p:nvSpPr>
        <p:spPr>
          <a:xfrm>
            <a:off x="358652" y="7889033"/>
            <a:ext cx="864097" cy="88333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4720FA1-43F1-917D-2BED-0B4600AA7A47}"/>
              </a:ext>
            </a:extLst>
          </p:cNvPr>
          <p:cNvSpPr/>
          <p:nvPr/>
        </p:nvSpPr>
        <p:spPr>
          <a:xfrm>
            <a:off x="27145627" y="7879416"/>
            <a:ext cx="864097" cy="883330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19ED7DA4-0DF1-F50B-AFC0-1DFC6AEC59BD}"/>
              </a:ext>
            </a:extLst>
          </p:cNvPr>
          <p:cNvCxnSpPr>
            <a:cxnSpLocks/>
            <a:stCxn id="13" idx="0"/>
            <a:endCxn id="9" idx="0"/>
          </p:cNvCxnSpPr>
          <p:nvPr/>
        </p:nvCxnSpPr>
        <p:spPr>
          <a:xfrm rot="16200000" flipH="1" flipV="1">
            <a:off x="17092454" y="-615969"/>
            <a:ext cx="232140" cy="13033448"/>
          </a:xfrm>
          <a:prstGeom prst="curvedConnector3">
            <a:avLst>
              <a:gd name="adj1" fmla="val -854121"/>
            </a:avLst>
          </a:prstGeom>
          <a:ln w="38100">
            <a:solidFill>
              <a:schemeClr val="accent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row: Chevron 25">
            <a:extLst>
              <a:ext uri="{FF2B5EF4-FFF2-40B4-BE49-F238E27FC236}">
                <a16:creationId xmlns:a16="http://schemas.microsoft.com/office/drawing/2014/main" id="{42D30B63-1F74-864B-8AF0-832C4540426B}"/>
              </a:ext>
            </a:extLst>
          </p:cNvPr>
          <p:cNvSpPr/>
          <p:nvPr/>
        </p:nvSpPr>
        <p:spPr>
          <a:xfrm>
            <a:off x="1798812" y="8033049"/>
            <a:ext cx="432048" cy="64807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7" name="Arrow: Chevron 26">
            <a:extLst>
              <a:ext uri="{FF2B5EF4-FFF2-40B4-BE49-F238E27FC236}">
                <a16:creationId xmlns:a16="http://schemas.microsoft.com/office/drawing/2014/main" id="{FE42EF21-85BE-7CBD-6EBF-A48334CCCD48}"/>
              </a:ext>
            </a:extLst>
          </p:cNvPr>
          <p:cNvSpPr/>
          <p:nvPr/>
        </p:nvSpPr>
        <p:spPr>
          <a:xfrm>
            <a:off x="8063508" y="8033049"/>
            <a:ext cx="432048" cy="64807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28" name="Arrow: Chevron 27">
            <a:extLst>
              <a:ext uri="{FF2B5EF4-FFF2-40B4-BE49-F238E27FC236}">
                <a16:creationId xmlns:a16="http://schemas.microsoft.com/office/drawing/2014/main" id="{5060575F-E0E0-9D1C-E77D-34BEC293C863}"/>
              </a:ext>
            </a:extLst>
          </p:cNvPr>
          <p:cNvSpPr/>
          <p:nvPr/>
        </p:nvSpPr>
        <p:spPr>
          <a:xfrm>
            <a:off x="15624348" y="8033049"/>
            <a:ext cx="432048" cy="64807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7612D152-3B24-1A67-46D0-D76654155ADB}"/>
              </a:ext>
            </a:extLst>
          </p:cNvPr>
          <p:cNvCxnSpPr>
            <a:cxnSpLocks/>
            <a:stCxn id="9" idx="1"/>
            <a:endCxn id="8" idx="2"/>
          </p:cNvCxnSpPr>
          <p:nvPr/>
        </p:nvCxnSpPr>
        <p:spPr>
          <a:xfrm rot="10800000" flipV="1">
            <a:off x="6731360" y="6520881"/>
            <a:ext cx="2916324" cy="4320480"/>
          </a:xfrm>
          <a:prstGeom prst="curvedConnector4">
            <a:avLst>
              <a:gd name="adj1" fmla="val 28260"/>
              <a:gd name="adj2" fmla="val 121704"/>
            </a:avLst>
          </a:prstGeom>
          <a:ln w="38100">
            <a:solidFill>
              <a:schemeClr val="accent5"/>
            </a:solidFill>
            <a:prstDash val="lgDash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9CBDD57-12E3-AC1B-F41D-EE788DF74D37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4787144" y="7004535"/>
            <a:ext cx="0" cy="138855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81F3337-6B4F-0B80-9F6F-420D37A1DB5D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6731360" y="8408665"/>
            <a:ext cx="0" cy="14245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7CA7A56-DBF1-B7C7-B5D5-E7AAC977A0E3}"/>
              </a:ext>
            </a:extLst>
          </p:cNvPr>
          <p:cNvCxnSpPr>
            <a:cxnSpLocks/>
            <a:endCxn id="10" idx="0"/>
          </p:cNvCxnSpPr>
          <p:nvPr/>
        </p:nvCxnSpPr>
        <p:spPr>
          <a:xfrm>
            <a:off x="13860152" y="8393089"/>
            <a:ext cx="0" cy="147131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9A590E1D-A011-0410-AFE6-D33781E45FA9}"/>
              </a:ext>
            </a:extLst>
          </p:cNvPr>
          <p:cNvCxnSpPr>
            <a:cxnSpLocks/>
          </p:cNvCxnSpPr>
          <p:nvPr/>
        </p:nvCxnSpPr>
        <p:spPr>
          <a:xfrm>
            <a:off x="10691800" y="7012142"/>
            <a:ext cx="0" cy="1318556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C5EBAFE-8DB7-4B83-5C90-8C882406253D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17244528" y="7004535"/>
            <a:ext cx="0" cy="135255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01EAEE35-FE3C-927C-B7D4-F1A239905F29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23725248" y="6792797"/>
            <a:ext cx="0" cy="156428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777332C-FCAD-9AEB-3CF6-5589EF24CEB6}"/>
              </a:ext>
            </a:extLst>
          </p:cNvPr>
          <p:cNvSpPr txBox="1"/>
          <p:nvPr/>
        </p:nvSpPr>
        <p:spPr>
          <a:xfrm>
            <a:off x="280963" y="12960746"/>
            <a:ext cx="7945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Development is an iterative and Semi-cyclic process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1541DC7-B612-8CF1-1959-4AF6104B256F}"/>
              </a:ext>
            </a:extLst>
          </p:cNvPr>
          <p:cNvSpPr/>
          <p:nvPr/>
        </p:nvSpPr>
        <p:spPr>
          <a:xfrm>
            <a:off x="19728804" y="9833249"/>
            <a:ext cx="2088232" cy="1008112"/>
          </a:xfrm>
          <a:prstGeom prst="rect">
            <a:avLst/>
          </a:prstGeom>
          <a:solidFill>
            <a:srgbClr val="D5A3FB"/>
          </a:solidFill>
          <a:ln>
            <a:noFill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Post </a:t>
            </a:r>
          </a:p>
          <a:p>
            <a:pPr algn="ctr"/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72F702D-B8DA-1638-8424-487F45C647B3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20772920" y="8408665"/>
            <a:ext cx="0" cy="1424584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2EEE38B6-27F9-CA72-DC9E-03D1E0172CB8}"/>
              </a:ext>
            </a:extLst>
          </p:cNvPr>
          <p:cNvSpPr/>
          <p:nvPr/>
        </p:nvSpPr>
        <p:spPr>
          <a:xfrm>
            <a:off x="22249084" y="8033049"/>
            <a:ext cx="432048" cy="648072"/>
          </a:xfrm>
          <a:prstGeom prst="chevron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2D0F07C-705A-9A9C-E54A-DE2378B759CF}"/>
              </a:ext>
            </a:extLst>
          </p:cNvPr>
          <p:cNvSpPr/>
          <p:nvPr/>
        </p:nvSpPr>
        <p:spPr>
          <a:xfrm>
            <a:off x="3712710" y="3973986"/>
            <a:ext cx="1353945" cy="9938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25553B9-1970-5CFD-8EFA-B62B26133402}"/>
              </a:ext>
            </a:extLst>
          </p:cNvPr>
          <p:cNvSpPr/>
          <p:nvPr/>
        </p:nvSpPr>
        <p:spPr>
          <a:xfrm>
            <a:off x="3906837" y="4276258"/>
            <a:ext cx="1353945" cy="9938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4E90491-E765-97E6-1508-65A63E6B7022}"/>
              </a:ext>
            </a:extLst>
          </p:cNvPr>
          <p:cNvSpPr/>
          <p:nvPr/>
        </p:nvSpPr>
        <p:spPr>
          <a:xfrm>
            <a:off x="4108654" y="4478042"/>
            <a:ext cx="1353945" cy="9938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74DE1CA-9295-3B4D-CC8E-7578C6897922}"/>
              </a:ext>
            </a:extLst>
          </p:cNvPr>
          <p:cNvSpPr/>
          <p:nvPr/>
        </p:nvSpPr>
        <p:spPr>
          <a:xfrm>
            <a:off x="4324678" y="4694066"/>
            <a:ext cx="1353945" cy="993872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ECB935-B944-9B2D-8200-76E1DE44E100}"/>
              </a:ext>
            </a:extLst>
          </p:cNvPr>
          <p:cNvSpPr txBox="1"/>
          <p:nvPr/>
        </p:nvSpPr>
        <p:spPr>
          <a:xfrm>
            <a:off x="834518" y="2070695"/>
            <a:ext cx="73009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 synthetic clinic notes and corresponding JSON, annotated by clinicians extracted and manually annotated via markup*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7664F03-F858-19FC-35DD-65F170B40B16}"/>
              </a:ext>
            </a:extLst>
          </p:cNvPr>
          <p:cNvSpPr txBox="1"/>
          <p:nvPr/>
        </p:nvSpPr>
        <p:spPr>
          <a:xfrm>
            <a:off x="365707" y="13515119"/>
            <a:ext cx="166267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Gold standard annotation of epilepsy clinic letters for the development of information extraction tools (zenodo.org)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68538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2F8018-5C04-C199-C622-0ACB30B47F29}"/>
              </a:ext>
            </a:extLst>
          </p:cNvPr>
          <p:cNvSpPr txBox="1"/>
          <p:nvPr/>
        </p:nvSpPr>
        <p:spPr>
          <a:xfrm>
            <a:off x="365706" y="178603"/>
            <a:ext cx="56095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C09F81-BB0C-DA5B-F86A-2317BCE35283}"/>
              </a:ext>
            </a:extLst>
          </p:cNvPr>
          <p:cNvSpPr txBox="1"/>
          <p:nvPr/>
        </p:nvSpPr>
        <p:spPr>
          <a:xfrm>
            <a:off x="502668" y="1151434"/>
            <a:ext cx="94330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of length of single clinical notes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14C132-52B7-0E3B-256F-6B44280F632D}"/>
              </a:ext>
            </a:extLst>
          </p:cNvPr>
          <p:cNvSpPr txBox="1"/>
          <p:nvPr/>
        </p:nvSpPr>
        <p:spPr>
          <a:xfrm>
            <a:off x="430660" y="11808618"/>
            <a:ext cx="27075008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outlier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size of the documents with and without unique words in top 50 and bottom 50 files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449D527-5429-F556-8CE5-17F34DE4B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91" y="2087538"/>
            <a:ext cx="10824757" cy="874824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ECA26C53-20FB-EA14-15BA-65C0A114AE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40372" y="2087538"/>
            <a:ext cx="10945216" cy="8845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00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96A033-9D3F-86AE-63E7-FA5F80D4FC22}"/>
              </a:ext>
            </a:extLst>
          </p:cNvPr>
          <p:cNvSpPr txBox="1"/>
          <p:nvPr/>
        </p:nvSpPr>
        <p:spPr>
          <a:xfrm>
            <a:off x="430660" y="2447578"/>
            <a:ext cx="12601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Combined text file: Removed stop words, punctuations, symbols, spaces using  standard English and MedSpacy tokenizer, tokenized and counted words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what should be the max length value in the tokenizer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padding / truncation is required in the data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AAB39-9033-CFD6-61B7-AE6B50482162}"/>
              </a:ext>
            </a:extLst>
          </p:cNvPr>
          <p:cNvSpPr txBox="1"/>
          <p:nvPr/>
        </p:nvSpPr>
        <p:spPr>
          <a:xfrm>
            <a:off x="365706" y="178603"/>
            <a:ext cx="5753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CA41B2-0AD8-84F8-7F8B-2D0A7D91B447}"/>
              </a:ext>
            </a:extLst>
          </p:cNvPr>
          <p:cNvSpPr txBox="1"/>
          <p:nvPr/>
        </p:nvSpPr>
        <p:spPr>
          <a:xfrm>
            <a:off x="430660" y="8420174"/>
            <a:ext cx="12889432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Centre and distribution of word in the entire file collection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Outlier in the file collection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 length of the string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27C3C8-1972-90BB-EF09-3172541E1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4348" y="2087538"/>
            <a:ext cx="12097344" cy="9794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823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E96A033-9D3F-86AE-63E7-FA5F80D4FC22}"/>
              </a:ext>
            </a:extLst>
          </p:cNvPr>
          <p:cNvSpPr txBox="1"/>
          <p:nvPr/>
        </p:nvSpPr>
        <p:spPr>
          <a:xfrm>
            <a:off x="502668" y="1295450"/>
            <a:ext cx="270750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Word Importance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7AAB39-9033-CFD6-61B7-AE6B50482162}"/>
              </a:ext>
            </a:extLst>
          </p:cNvPr>
          <p:cNvSpPr txBox="1"/>
          <p:nvPr/>
        </p:nvSpPr>
        <p:spPr>
          <a:xfrm>
            <a:off x="365706" y="178603"/>
            <a:ext cx="57535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CA41B2-0AD8-84F8-7F8B-2D0A7D91B447}"/>
              </a:ext>
            </a:extLst>
          </p:cNvPr>
          <p:cNvSpPr txBox="1"/>
          <p:nvPr/>
        </p:nvSpPr>
        <p:spPr>
          <a:xfrm>
            <a:off x="430660" y="11638468"/>
            <a:ext cx="27075008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important word in the entire file collection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20 TF – IDF values sorted words in the documents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E787B91-DD85-5050-CE3E-09C4AACC6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14" y="2591594"/>
            <a:ext cx="12633753" cy="691276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F6E754-43E0-5D88-159A-AC073F736F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0999" y="2591594"/>
            <a:ext cx="13942701" cy="691276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20627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8409A8-8DFB-7F48-52C4-F6D3D976B49E}"/>
              </a:ext>
            </a:extLst>
          </p:cNvPr>
          <p:cNvSpPr txBox="1"/>
          <p:nvPr/>
        </p:nvSpPr>
        <p:spPr>
          <a:xfrm>
            <a:off x="365706" y="178603"/>
            <a:ext cx="9642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832A25D-36C1-41EF-B2D5-7CAD6CB9A1A2}"/>
              </a:ext>
            </a:extLst>
          </p:cNvPr>
          <p:cNvSpPr txBox="1"/>
          <p:nvPr/>
        </p:nvSpPr>
        <p:spPr>
          <a:xfrm>
            <a:off x="646684" y="1439466"/>
            <a:ext cx="1014412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lphaU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Checks</a:t>
            </a:r>
          </a:p>
          <a:p>
            <a:pPr marL="1200150" lvl="1" indent="-742950"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Prescriptions Absent – 10 / 200</a:t>
            </a:r>
          </a:p>
          <a:p>
            <a:pPr marL="1200150" lvl="1" indent="-742950"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 Frequency Absent – 34 / 200</a:t>
            </a:r>
          </a:p>
          <a:p>
            <a:pPr marL="1200150" lvl="1" indent="-742950"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Absent – 10 / 200</a:t>
            </a:r>
          </a:p>
          <a:p>
            <a:pPr marL="1200150" lvl="1" indent="-742950"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JSON structure</a:t>
            </a:r>
          </a:p>
          <a:p>
            <a:pPr marL="1657350" lvl="2" indent="-742950"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 – 25 patterns</a:t>
            </a:r>
          </a:p>
          <a:p>
            <a:pPr marL="1657350" lvl="2" indent="-742950">
              <a:buFont typeface="Wingdings" panose="05000000000000000000" pitchFamily="2" charset="2"/>
              <a:buChar char="§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Prescriptions – 3 patterns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1FC93B-97A5-ACBC-EC73-19F539D54EBE}"/>
              </a:ext>
            </a:extLst>
          </p:cNvPr>
          <p:cNvSpPr txBox="1"/>
          <p:nvPr/>
        </p:nvSpPr>
        <p:spPr>
          <a:xfrm>
            <a:off x="574676" y="6336010"/>
            <a:ext cx="11377264" cy="175432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Unequal distribution of data in the JSON files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Mismatch in data dictionary structure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51D3AA-3630-9DE4-B599-EFD5AB56DCA1}"/>
              </a:ext>
            </a:extLst>
          </p:cNvPr>
          <p:cNvSpPr txBox="1"/>
          <p:nvPr/>
        </p:nvSpPr>
        <p:spPr>
          <a:xfrm>
            <a:off x="574676" y="9144322"/>
            <a:ext cx="11377264" cy="397031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Action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separate Input-output pair for the seizure frequency and prescription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customized structure for each change in the prompt input</a:t>
            </a:r>
          </a:p>
          <a:p>
            <a:pPr marL="742950" indent="-742950">
              <a:buAutoNum type="arabicPeriod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simplification is required</a:t>
            </a:r>
          </a:p>
          <a:p>
            <a:pPr marL="742950" indent="-742950">
              <a:buAutoNum type="arabicPeriod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E6267E-674B-CF26-CEC3-527988876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5555" y="1727498"/>
            <a:ext cx="12380153" cy="9865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0370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5391F8-B0CB-69CF-0B5C-93BF58A9B122}"/>
              </a:ext>
            </a:extLst>
          </p:cNvPr>
          <p:cNvSpPr txBox="1"/>
          <p:nvPr/>
        </p:nvSpPr>
        <p:spPr>
          <a:xfrm>
            <a:off x="365706" y="178603"/>
            <a:ext cx="3521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EC3DEF-A66E-AA72-2D74-820F404324E6}"/>
              </a:ext>
            </a:extLst>
          </p:cNvPr>
          <p:cNvSpPr txBox="1"/>
          <p:nvPr/>
        </p:nvSpPr>
        <p:spPr>
          <a:xfrm>
            <a:off x="862708" y="1079426"/>
            <a:ext cx="69847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Data Cleaning and simplification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C23FBC-A1D3-9764-9795-A3191A6AEBFF}"/>
              </a:ext>
            </a:extLst>
          </p:cNvPr>
          <p:cNvSpPr txBox="1"/>
          <p:nvPr/>
        </p:nvSpPr>
        <p:spPr>
          <a:xfrm>
            <a:off x="10295756" y="2159546"/>
            <a:ext cx="5904656" cy="9448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 out only Seizure Frequency and Prescription associated JSON</a:t>
            </a:r>
            <a:b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CUI ID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the Hyphens from text field in the JSON files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Tx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“entity” key – value from the JSON</a:t>
            </a:r>
          </a:p>
          <a:p>
            <a:pPr marL="514350" indent="-514350">
              <a:buFontTx/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Tx/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Cleaned and Removed Unexpected characters in clinical text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Trimmed white spaces and additional tab spaces</a:t>
            </a:r>
          </a:p>
          <a:p>
            <a:pPr marL="1028700" lvl="1" indent="-571500">
              <a:buFont typeface="Wingdings" panose="05000000000000000000" pitchFamily="2" charset="2"/>
              <a:buChar char="§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characters “\u00a0” encoding errors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C8F3F-0F82-0CA9-C472-1C8F0EBD1D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16" r="12898"/>
          <a:stretch/>
        </p:blipFill>
        <p:spPr>
          <a:xfrm>
            <a:off x="494495" y="2159546"/>
            <a:ext cx="9153189" cy="110443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96663A-C2CB-2607-818E-1A0C0E751F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8564" y="2159546"/>
            <a:ext cx="10408281" cy="1104434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A589353-8455-3126-0A72-33E36D3D9EFA}"/>
              </a:ext>
            </a:extLst>
          </p:cNvPr>
          <p:cNvSpPr/>
          <p:nvPr/>
        </p:nvSpPr>
        <p:spPr>
          <a:xfrm>
            <a:off x="18494578" y="6060327"/>
            <a:ext cx="4626659" cy="923755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441C83-809F-1B5D-78DF-CAA3A3A5ED7A}"/>
              </a:ext>
            </a:extLst>
          </p:cNvPr>
          <p:cNvSpPr/>
          <p:nvPr/>
        </p:nvSpPr>
        <p:spPr>
          <a:xfrm>
            <a:off x="18072620" y="2303562"/>
            <a:ext cx="5184576" cy="504056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BE75B64-EB98-EBC6-195C-D1F76DDD179A}"/>
              </a:ext>
            </a:extLst>
          </p:cNvPr>
          <p:cNvSpPr/>
          <p:nvPr/>
        </p:nvSpPr>
        <p:spPr>
          <a:xfrm>
            <a:off x="19656796" y="9216330"/>
            <a:ext cx="6984776" cy="504056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254128-99D7-DF32-7CD4-195A6454CA59}"/>
              </a:ext>
            </a:extLst>
          </p:cNvPr>
          <p:cNvSpPr/>
          <p:nvPr/>
        </p:nvSpPr>
        <p:spPr>
          <a:xfrm>
            <a:off x="934716" y="2590871"/>
            <a:ext cx="3417021" cy="504779"/>
          </a:xfrm>
          <a:prstGeom prst="rect">
            <a:avLst/>
          </a:prstGeom>
          <a:noFill/>
          <a:ln w="127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450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72B820-7745-D9BF-8716-C50A347B6C9B}"/>
              </a:ext>
            </a:extLst>
          </p:cNvPr>
          <p:cNvSpPr txBox="1"/>
          <p:nvPr/>
        </p:nvSpPr>
        <p:spPr>
          <a:xfrm>
            <a:off x="646684" y="1151434"/>
            <a:ext cx="4680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Input-Output Pairing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7FBBBD-7B53-ADE4-DAE4-A423ECC64715}"/>
              </a:ext>
            </a:extLst>
          </p:cNvPr>
          <p:cNvSpPr txBox="1"/>
          <p:nvPr/>
        </p:nvSpPr>
        <p:spPr>
          <a:xfrm>
            <a:off x="4031060" y="3058923"/>
            <a:ext cx="1296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959658-9BD2-49BA-9048-34521DD67496}"/>
              </a:ext>
            </a:extLst>
          </p:cNvPr>
          <p:cNvSpPr txBox="1"/>
          <p:nvPr/>
        </p:nvSpPr>
        <p:spPr>
          <a:xfrm>
            <a:off x="13824148" y="3169399"/>
            <a:ext cx="151216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28E913E-A82A-EC51-03BC-ABF8B889D673}"/>
              </a:ext>
            </a:extLst>
          </p:cNvPr>
          <p:cNvSpPr txBox="1"/>
          <p:nvPr/>
        </p:nvSpPr>
        <p:spPr>
          <a:xfrm>
            <a:off x="20376876" y="4737661"/>
            <a:ext cx="4680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seizure_frequency.jsonl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FD1731-BF16-A7DA-F9F5-E8B79675D739}"/>
              </a:ext>
            </a:extLst>
          </p:cNvPr>
          <p:cNvSpPr/>
          <p:nvPr/>
        </p:nvSpPr>
        <p:spPr>
          <a:xfrm>
            <a:off x="2230860" y="4391794"/>
            <a:ext cx="4680520" cy="18002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5A195C-37D7-E064-AEC0-ED3D9DE14590}"/>
              </a:ext>
            </a:extLst>
          </p:cNvPr>
          <p:cNvSpPr/>
          <p:nvPr/>
        </p:nvSpPr>
        <p:spPr>
          <a:xfrm>
            <a:off x="12136152" y="4319786"/>
            <a:ext cx="6440524" cy="1872208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055D78-74B5-C1E9-5E1D-2B0062E3F54A}"/>
              </a:ext>
            </a:extLst>
          </p:cNvPr>
          <p:cNvSpPr txBox="1"/>
          <p:nvPr/>
        </p:nvSpPr>
        <p:spPr>
          <a:xfrm>
            <a:off x="2806925" y="4906939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Text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40441D-0E26-21DA-CD43-E07E4DA24819}"/>
              </a:ext>
            </a:extLst>
          </p:cNvPr>
          <p:cNvSpPr txBox="1"/>
          <p:nvPr/>
        </p:nvSpPr>
        <p:spPr>
          <a:xfrm>
            <a:off x="12496192" y="4751834"/>
            <a:ext cx="5432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{“entity”: “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seizurefrequency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…. 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B9FFFD-F2AE-BE5F-E14F-82AEECD2BC28}"/>
              </a:ext>
            </a:extLst>
          </p:cNvPr>
          <p:cNvSpPr/>
          <p:nvPr/>
        </p:nvSpPr>
        <p:spPr>
          <a:xfrm>
            <a:off x="2190664" y="7272114"/>
            <a:ext cx="4680520" cy="1800200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65FDA87-6811-58F8-6866-E39576B7E950}"/>
              </a:ext>
            </a:extLst>
          </p:cNvPr>
          <p:cNvSpPr/>
          <p:nvPr/>
        </p:nvSpPr>
        <p:spPr>
          <a:xfrm>
            <a:off x="12095956" y="7200106"/>
            <a:ext cx="6440524" cy="1872208"/>
          </a:xfrm>
          <a:prstGeom prst="rect">
            <a:avLst/>
          </a:prstGeom>
          <a:noFill/>
          <a:ln w="2857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780AE5-1E8D-734A-80E1-69B0EDF38BD0}"/>
              </a:ext>
            </a:extLst>
          </p:cNvPr>
          <p:cNvSpPr txBox="1"/>
          <p:nvPr/>
        </p:nvSpPr>
        <p:spPr>
          <a:xfrm>
            <a:off x="2766729" y="7787259"/>
            <a:ext cx="21602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Text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94228B-7FB5-FA1D-11F8-B8A2B43A7049}"/>
              </a:ext>
            </a:extLst>
          </p:cNvPr>
          <p:cNvSpPr txBox="1"/>
          <p:nvPr/>
        </p:nvSpPr>
        <p:spPr>
          <a:xfrm>
            <a:off x="12455996" y="7632154"/>
            <a:ext cx="576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{“entity”: “prescription”, …. }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9EB8D18-5284-9AF9-1DED-3785BA378BDF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6911380" y="5255890"/>
            <a:ext cx="5224772" cy="3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8900368-C63C-BCED-F1FC-8F1C7A95A02B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6871184" y="8136210"/>
            <a:ext cx="5224772" cy="360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E29F13A4-94C6-DE29-D2F0-2DFCDE59B4C2}"/>
              </a:ext>
            </a:extLst>
          </p:cNvPr>
          <p:cNvSpPr txBox="1"/>
          <p:nvPr/>
        </p:nvSpPr>
        <p:spPr>
          <a:xfrm>
            <a:off x="20376876" y="7507881"/>
            <a:ext cx="4680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prescription.jsonl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8377948-10B9-E56C-22A8-BAD83E9F1D43}"/>
              </a:ext>
            </a:extLst>
          </p:cNvPr>
          <p:cNvSpPr txBox="1"/>
          <p:nvPr/>
        </p:nvSpPr>
        <p:spPr>
          <a:xfrm>
            <a:off x="862708" y="11804193"/>
            <a:ext cx="27075008" cy="120032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JSONL is a text-based format using the . 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jsonl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 extension that is basically the same as JSON format but implemented using newline characters to separate JSON values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BC794F-D4CA-C5A6-2BD4-CCEA00E305F5}"/>
              </a:ext>
            </a:extLst>
          </p:cNvPr>
          <p:cNvSpPr txBox="1"/>
          <p:nvPr/>
        </p:nvSpPr>
        <p:spPr>
          <a:xfrm>
            <a:off x="365706" y="178603"/>
            <a:ext cx="9642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</a:t>
            </a:r>
          </a:p>
        </p:txBody>
      </p:sp>
    </p:spTree>
    <p:extLst>
      <p:ext uri="{BB962C8B-B14F-4D97-AF65-F5344CB8AC3E}">
        <p14:creationId xmlns:p14="http://schemas.microsoft.com/office/powerpoint/2010/main" val="7644050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C2E0665-25AF-E594-B809-1E4663420057}"/>
              </a:ext>
            </a:extLst>
          </p:cNvPr>
          <p:cNvSpPr txBox="1"/>
          <p:nvPr/>
        </p:nvSpPr>
        <p:spPr>
          <a:xfrm>
            <a:off x="790700" y="3633754"/>
            <a:ext cx="14473608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E394DC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"""</a:t>
            </a:r>
            <a:r>
              <a:rPr lang="en-US" sz="2800" b="0" dirty="0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Your task is to extract prescription information from a clinical text</a:t>
            </a:r>
            <a:br>
              <a:rPr lang="en-US" sz="2800" b="0" dirty="0">
                <a:solidFill>
                  <a:srgbClr val="D6D6DD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Below is the clinical notes from a doctor, delimited by triple quotes.</a:t>
            </a:r>
            <a:endParaRPr lang="en-US" sz="2800" b="0" dirty="0">
              <a:solidFill>
                <a:srgbClr val="D6D6DD"/>
              </a:solidFill>
              <a:effectLst/>
              <a:highlight>
                <a:srgbClr val="181818"/>
              </a:highlight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clinical text: ```</a:t>
            </a:r>
            <a:r>
              <a:rPr lang="en-US" sz="2800" b="0" dirty="0">
                <a:solidFill>
                  <a:srgbClr val="F8C762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{</a:t>
            </a:r>
            <a:r>
              <a:rPr lang="en-US" sz="2800" b="0" dirty="0" err="1">
                <a:solidFill>
                  <a:srgbClr val="F8C762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clinical_text</a:t>
            </a:r>
            <a:r>
              <a:rPr lang="en-US" sz="2800" b="0" dirty="0">
                <a:solidFill>
                  <a:srgbClr val="F8C762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}</a:t>
            </a:r>
            <a:r>
              <a:rPr lang="en-US" sz="2800" b="0" dirty="0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```.</a:t>
            </a:r>
            <a:br>
              <a:rPr lang="en-US" sz="2800" b="0" dirty="0">
                <a:solidFill>
                  <a:srgbClr val="D6D6DD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Extract the </a:t>
            </a:r>
            <a:r>
              <a:rPr lang="en-US" sz="2800" b="0" dirty="0">
                <a:solidFill>
                  <a:srgbClr val="F8C762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{</a:t>
            </a:r>
            <a:r>
              <a:rPr lang="en-US" sz="2800" b="0" dirty="0" err="1">
                <a:solidFill>
                  <a:srgbClr val="F8C762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extract_entity</a:t>
            </a:r>
            <a:r>
              <a:rPr lang="en-US" sz="2800" b="0" dirty="0">
                <a:solidFill>
                  <a:srgbClr val="F8C762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}</a:t>
            </a:r>
            <a:r>
              <a:rPr lang="en-US" sz="2800" b="0" dirty="0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 only from the clinical text in JSON format. </a:t>
            </a:r>
            <a:br>
              <a:rPr lang="en-US" sz="2800" b="0" dirty="0">
                <a:solidFill>
                  <a:srgbClr val="D6D6DD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Give me the output in the </a:t>
            </a:r>
            <a:r>
              <a:rPr lang="en-US" sz="2800" b="0" dirty="0" err="1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json</a:t>
            </a:r>
            <a:r>
              <a:rPr lang="en-US" sz="2800" b="0" dirty="0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 format as mentioned below, delimited by </a:t>
            </a:r>
          </a:p>
          <a:p>
            <a:r>
              <a:rPr lang="en-US" sz="2800" b="0" dirty="0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triple quotes</a:t>
            </a:r>
            <a:endParaRPr lang="en-US" sz="2800" b="0" dirty="0">
              <a:solidFill>
                <a:srgbClr val="D6D6DD"/>
              </a:solidFill>
              <a:effectLst/>
              <a:highlight>
                <a:srgbClr val="181818"/>
              </a:highlight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```</a:t>
            </a:r>
            <a:r>
              <a:rPr lang="en-US" sz="2800" b="0" dirty="0">
                <a:solidFill>
                  <a:srgbClr val="F8C762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{</a:t>
            </a:r>
            <a:r>
              <a:rPr lang="en-US" sz="2800" b="0" dirty="0" err="1">
                <a:solidFill>
                  <a:srgbClr val="F8C762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json_format</a:t>
            </a:r>
            <a:r>
              <a:rPr lang="en-US" sz="2800" b="0" dirty="0">
                <a:solidFill>
                  <a:srgbClr val="F8C762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}</a:t>
            </a:r>
            <a:r>
              <a:rPr lang="en-US" sz="2800" b="0" dirty="0">
                <a:solidFill>
                  <a:srgbClr val="98C379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```.</a:t>
            </a:r>
            <a:br>
              <a:rPr lang="en-US" sz="2800" b="0" dirty="0">
                <a:solidFill>
                  <a:srgbClr val="D6D6DD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E394DC"/>
                </a:solidFill>
                <a:effectLst/>
                <a:highlight>
                  <a:srgbClr val="181818"/>
                </a:highlight>
                <a:latin typeface="Consolas" panose="020B0609020204030204" pitchFamily="49" charset="0"/>
              </a:rPr>
              <a:t>"""</a:t>
            </a:r>
            <a:endParaRPr lang="en-US" sz="2800" b="0" dirty="0">
              <a:solidFill>
                <a:srgbClr val="D6D6DD"/>
              </a:solidFill>
              <a:effectLst/>
              <a:highlight>
                <a:srgbClr val="181818"/>
              </a:highlight>
              <a:latin typeface="Consolas" panose="020B0609020204030204" pitchFamily="49" charset="0"/>
            </a:endParaRPr>
          </a:p>
          <a:p>
            <a:endParaRPr lang="en-US" sz="28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73139-01F2-86C3-0D51-1C06556A2A4E}"/>
              </a:ext>
            </a:extLst>
          </p:cNvPr>
          <p:cNvSpPr txBox="1"/>
          <p:nvPr/>
        </p:nvSpPr>
        <p:spPr>
          <a:xfrm>
            <a:off x="646684" y="935410"/>
            <a:ext cx="9073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Input Templates – Fine Tuning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D21E8B-6EA8-90B9-D802-9CC6EAD52AEC}"/>
              </a:ext>
            </a:extLst>
          </p:cNvPr>
          <p:cNvSpPr txBox="1"/>
          <p:nvPr/>
        </p:nvSpPr>
        <p:spPr>
          <a:xfrm>
            <a:off x="2734916" y="2737351"/>
            <a:ext cx="41044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Template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E5E935-4921-C661-D48F-E63A7922D40E}"/>
              </a:ext>
            </a:extLst>
          </p:cNvPr>
          <p:cNvSpPr txBox="1"/>
          <p:nvPr/>
        </p:nvSpPr>
        <p:spPr>
          <a:xfrm>
            <a:off x="8495556" y="11664602"/>
            <a:ext cx="77048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Llama Chat System Input Template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D4213B-B036-E331-9DFA-07BEAA4AD621}"/>
              </a:ext>
            </a:extLst>
          </p:cNvPr>
          <p:cNvSpPr txBox="1"/>
          <p:nvPr/>
        </p:nvSpPr>
        <p:spPr>
          <a:xfrm>
            <a:off x="18000611" y="3864587"/>
            <a:ext cx="100091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### Human: Your task is to extract prescription information from a clinical text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&lt;&lt;Instruction Template&gt;&gt;</a:t>
            </a: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### Answer: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8655B5B-D6CC-ED3F-4681-6717D3F63C9C}"/>
              </a:ext>
            </a:extLst>
          </p:cNvPr>
          <p:cNvCxnSpPr>
            <a:cxnSpLocks/>
          </p:cNvCxnSpPr>
          <p:nvPr/>
        </p:nvCxnSpPr>
        <p:spPr>
          <a:xfrm>
            <a:off x="13320092" y="7028008"/>
            <a:ext cx="316835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B17710-3F34-CAE5-85DA-F361A5ED4427}"/>
              </a:ext>
            </a:extLst>
          </p:cNvPr>
          <p:cNvCxnSpPr>
            <a:cxnSpLocks/>
          </p:cNvCxnSpPr>
          <p:nvPr/>
        </p:nvCxnSpPr>
        <p:spPr>
          <a:xfrm flipH="1">
            <a:off x="12239972" y="8784282"/>
            <a:ext cx="4320480" cy="259228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F74F2928-5505-F90F-99CE-2916CBDB3161}"/>
              </a:ext>
            </a:extLst>
          </p:cNvPr>
          <p:cNvSpPr txBox="1"/>
          <p:nvPr/>
        </p:nvSpPr>
        <p:spPr>
          <a:xfrm>
            <a:off x="19449156" y="3104034"/>
            <a:ext cx="53285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Chat System Template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D7AD0D-2215-FDC1-1879-0137E4E2DB60}"/>
              </a:ext>
            </a:extLst>
          </p:cNvPr>
          <p:cNvSpPr txBox="1"/>
          <p:nvPr/>
        </p:nvSpPr>
        <p:spPr>
          <a:xfrm>
            <a:off x="5903068" y="12168658"/>
            <a:ext cx="14401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[</a:t>
            </a:r>
            <a:endParaRPr lang="en-US" sz="2800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{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"role"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:</a:t>
            </a:r>
            <a:r>
              <a:rPr lang="en-US" sz="28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"system"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,</a:t>
            </a:r>
            <a:r>
              <a:rPr lang="en-US" sz="28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"content"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:</a:t>
            </a:r>
            <a:r>
              <a:rPr lang="en-US" sz="28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example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"instruction"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][</a:t>
            </a:r>
            <a:r>
              <a:rPr lang="en-US" sz="2800" b="0" dirty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]},</a:t>
            </a:r>
            <a:endParaRPr lang="en-US" sz="2800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{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"role"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:</a:t>
            </a:r>
            <a:r>
              <a:rPr lang="en-US" sz="28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"assistant"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,</a:t>
            </a:r>
            <a:r>
              <a:rPr lang="en-US" sz="28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"content"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:</a:t>
            </a:r>
            <a:r>
              <a:rPr lang="en-US" sz="28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 example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CE9178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"output"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][</a:t>
            </a:r>
            <a:r>
              <a:rPr lang="en-US" sz="2800" b="0" dirty="0" err="1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i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]},</a:t>
            </a:r>
            <a:endParaRPr lang="en-US" sz="2800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  <a:p>
            <a:r>
              <a:rPr lang="en-US" sz="2800" b="0" dirty="0">
                <a:solidFill>
                  <a:srgbClr val="D4D4D4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        </a:t>
            </a:r>
            <a:r>
              <a:rPr lang="en-US" sz="2800" b="0" dirty="0">
                <a:solidFill>
                  <a:srgbClr val="DCDCDC"/>
                </a:solidFill>
                <a:effectLst/>
                <a:highlight>
                  <a:srgbClr val="1E1E1E"/>
                </a:highlight>
                <a:latin typeface="Consolas" panose="020B0609020204030204" pitchFamily="49" charset="0"/>
              </a:rPr>
              <a:t>]</a:t>
            </a:r>
            <a:endParaRPr lang="en-US" sz="2800" b="0" dirty="0">
              <a:solidFill>
                <a:srgbClr val="D4D4D4"/>
              </a:solidFill>
              <a:effectLst/>
              <a:highlight>
                <a:srgbClr val="1E1E1E"/>
              </a:highlight>
              <a:latin typeface="Consolas" panose="020B06090202040302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5DDBFE-1FC6-29A1-87FE-97C604440922}"/>
              </a:ext>
            </a:extLst>
          </p:cNvPr>
          <p:cNvSpPr txBox="1"/>
          <p:nvPr/>
        </p:nvSpPr>
        <p:spPr>
          <a:xfrm>
            <a:off x="365706" y="178603"/>
            <a:ext cx="96420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</a:t>
            </a:r>
          </a:p>
        </p:txBody>
      </p:sp>
    </p:spTree>
    <p:extLst>
      <p:ext uri="{BB962C8B-B14F-4D97-AF65-F5344CB8AC3E}">
        <p14:creationId xmlns:p14="http://schemas.microsoft.com/office/powerpoint/2010/main" val="4224317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EA9E42-A9D5-14C5-3257-843789146379}"/>
              </a:ext>
            </a:extLst>
          </p:cNvPr>
          <p:cNvSpPr txBox="1"/>
          <p:nvPr/>
        </p:nvSpPr>
        <p:spPr>
          <a:xfrm>
            <a:off x="365706" y="178603"/>
            <a:ext cx="49614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Model Candidates</a:t>
            </a:r>
          </a:p>
        </p:txBody>
      </p:sp>
      <p:pic>
        <p:nvPicPr>
          <p:cNvPr id="1026" name="Picture 2" descr="Bringing open AI models to the frontier | Mistral AI | Frontier AI in your  hands">
            <a:extLst>
              <a:ext uri="{FF2B5EF4-FFF2-40B4-BE49-F238E27FC236}">
                <a16:creationId xmlns:a16="http://schemas.microsoft.com/office/drawing/2014/main" id="{5345ECEF-2236-7AE1-371D-9961DC6B5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67" y="3514045"/>
            <a:ext cx="2170213" cy="138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814E360-C86B-160D-9D74-D2C31E7CF24D}"/>
              </a:ext>
            </a:extLst>
          </p:cNvPr>
          <p:cNvSpPr txBox="1"/>
          <p:nvPr/>
        </p:nvSpPr>
        <p:spPr>
          <a:xfrm>
            <a:off x="2437054" y="3885347"/>
            <a:ext cx="9721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Pennlaine/Mistral-7B-v02-Entity-Extraction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57446-A0CB-E99D-CA6C-6EFD74BEB058}"/>
              </a:ext>
            </a:extLst>
          </p:cNvPr>
          <p:cNvSpPr txBox="1"/>
          <p:nvPr/>
        </p:nvSpPr>
        <p:spPr>
          <a:xfrm>
            <a:off x="537212" y="1441207"/>
            <a:ext cx="230800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were built on seizure frequency and prescription separately. Open Source Models are selected.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CC8C864-4D32-A3EA-EAB4-485A053E67AD}"/>
              </a:ext>
            </a:extLst>
          </p:cNvPr>
          <p:cNvSpPr txBox="1"/>
          <p:nvPr/>
        </p:nvSpPr>
        <p:spPr>
          <a:xfrm>
            <a:off x="17208524" y="4001606"/>
            <a:ext cx="8454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NousResearch</a:t>
            </a:r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/Llama-2-7b-chat-hf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8A0204-4F2D-CB44-A33A-4319989BCF7F}"/>
              </a:ext>
            </a:extLst>
          </p:cNvPr>
          <p:cNvSpPr txBox="1"/>
          <p:nvPr/>
        </p:nvSpPr>
        <p:spPr>
          <a:xfrm>
            <a:off x="17117417" y="6100589"/>
            <a:ext cx="79193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mistralai</a:t>
            </a:r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/Mistral-7B-Instruct-v0.2</a:t>
            </a:r>
          </a:p>
        </p:txBody>
      </p:sp>
      <p:pic>
        <p:nvPicPr>
          <p:cNvPr id="13" name="Picture 2" descr="Bringing open AI models to the frontier | Mistral AI | Frontier AI in your  hands">
            <a:extLst>
              <a:ext uri="{FF2B5EF4-FFF2-40B4-BE49-F238E27FC236}">
                <a16:creationId xmlns:a16="http://schemas.microsoft.com/office/drawing/2014/main" id="{18DA7CE0-3AC0-DF92-3D27-642651A599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48284" y="5615930"/>
            <a:ext cx="2170213" cy="1388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eta Logo - Free Vectors &amp; PSDs to Download">
            <a:extLst>
              <a:ext uri="{FF2B5EF4-FFF2-40B4-BE49-F238E27FC236}">
                <a16:creationId xmlns:a16="http://schemas.microsoft.com/office/drawing/2014/main" id="{14B871FA-4931-DC86-F112-74DE1A918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6276" y="3239666"/>
            <a:ext cx="2170213" cy="2170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1782A9B-DDA7-1A1B-61DC-6EB0A3DF817C}"/>
              </a:ext>
            </a:extLst>
          </p:cNvPr>
          <p:cNvSpPr txBox="1"/>
          <p:nvPr/>
        </p:nvSpPr>
        <p:spPr>
          <a:xfrm>
            <a:off x="2660368" y="6100589"/>
            <a:ext cx="77753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NousResearch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/Hermes-3-Llama-3.1-8B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B56956E-F476-50F4-7F64-7145042B8D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925" y="5740748"/>
            <a:ext cx="1345842" cy="136601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3A81B15-8FCB-3E42-F299-99F26AD0111D}"/>
              </a:ext>
            </a:extLst>
          </p:cNvPr>
          <p:cNvSpPr txBox="1"/>
          <p:nvPr/>
        </p:nvSpPr>
        <p:spPr>
          <a:xfrm>
            <a:off x="2880420" y="8784282"/>
            <a:ext cx="4174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google/gemma-2-2b</a:t>
            </a:r>
          </a:p>
        </p:txBody>
      </p:sp>
      <p:pic>
        <p:nvPicPr>
          <p:cNvPr id="1034" name="Picture 10" descr="Gemma models overview | Google AI for Developers">
            <a:extLst>
              <a:ext uri="{FF2B5EF4-FFF2-40B4-BE49-F238E27FC236}">
                <a16:creationId xmlns:a16="http://schemas.microsoft.com/office/drawing/2014/main" id="{C13FCD43-8B1A-76FC-E8CA-93499D276D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92" y="8400649"/>
            <a:ext cx="2980107" cy="1682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1983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E65A09-7DFE-3C6E-BD9A-9945B484DE54}"/>
              </a:ext>
            </a:extLst>
          </p:cNvPr>
          <p:cNvSpPr txBox="1"/>
          <p:nvPr/>
        </p:nvSpPr>
        <p:spPr>
          <a:xfrm>
            <a:off x="365706" y="178603"/>
            <a:ext cx="51775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905733-CA0D-AC68-529A-B82F7EFD3BF5}"/>
              </a:ext>
            </a:extLst>
          </p:cNvPr>
          <p:cNvSpPr/>
          <p:nvPr/>
        </p:nvSpPr>
        <p:spPr>
          <a:xfrm>
            <a:off x="1942828" y="4429232"/>
            <a:ext cx="2880320" cy="1944216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Download Model + Tokenizer</a:t>
            </a:r>
            <a:endParaRPr lang="en-IN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74644D-89DB-FD12-3EB9-8D66492F13EB}"/>
              </a:ext>
            </a:extLst>
          </p:cNvPr>
          <p:cNvSpPr/>
          <p:nvPr/>
        </p:nvSpPr>
        <p:spPr>
          <a:xfrm>
            <a:off x="6479332" y="4429232"/>
            <a:ext cx="2880320" cy="1944216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4Bit </a:t>
            </a:r>
          </a:p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Quantization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C2EB16-BAC9-96F0-E284-97E5831FD6C8}"/>
              </a:ext>
            </a:extLst>
          </p:cNvPr>
          <p:cNvSpPr/>
          <p:nvPr/>
        </p:nvSpPr>
        <p:spPr>
          <a:xfrm>
            <a:off x="10988689" y="4434895"/>
            <a:ext cx="2880320" cy="1944216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PEFT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7238A58-EDFD-9736-80A3-09B7ED443897}"/>
              </a:ext>
            </a:extLst>
          </p:cNvPr>
          <p:cNvSpPr/>
          <p:nvPr/>
        </p:nvSpPr>
        <p:spPr>
          <a:xfrm>
            <a:off x="15483612" y="4429232"/>
            <a:ext cx="2880320" cy="1944216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Setup SFT Trainer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F94E01-4DEF-00FF-0929-8FBE75776D14}"/>
              </a:ext>
            </a:extLst>
          </p:cNvPr>
          <p:cNvSpPr/>
          <p:nvPr/>
        </p:nvSpPr>
        <p:spPr>
          <a:xfrm>
            <a:off x="20520892" y="1367458"/>
            <a:ext cx="2880320" cy="1944216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 Pre-processed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E69A86-9F2F-9E5D-C96E-A4DFD3CE08C9}"/>
              </a:ext>
            </a:extLst>
          </p:cNvPr>
          <p:cNvSpPr/>
          <p:nvPr/>
        </p:nvSpPr>
        <p:spPr>
          <a:xfrm>
            <a:off x="20520892" y="4410012"/>
            <a:ext cx="2880320" cy="1944216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Tokenize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BFC57C-86B8-8292-5044-D5FA870F5819}"/>
              </a:ext>
            </a:extLst>
          </p:cNvPr>
          <p:cNvSpPr/>
          <p:nvPr/>
        </p:nvSpPr>
        <p:spPr>
          <a:xfrm>
            <a:off x="25057396" y="4443937"/>
            <a:ext cx="2880320" cy="1944216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 + Checkpoint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34EC16-4B50-337E-B90A-E8F751FABE39}"/>
              </a:ext>
            </a:extLst>
          </p:cNvPr>
          <p:cNvSpPr/>
          <p:nvPr/>
        </p:nvSpPr>
        <p:spPr>
          <a:xfrm>
            <a:off x="2088672" y="9257471"/>
            <a:ext cx="2880320" cy="1944216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Prediction / Generation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99BD556-5A5E-231C-62CD-7DDEDAF419C6}"/>
              </a:ext>
            </a:extLst>
          </p:cNvPr>
          <p:cNvSpPr/>
          <p:nvPr/>
        </p:nvSpPr>
        <p:spPr>
          <a:xfrm>
            <a:off x="15624348" y="9288338"/>
            <a:ext cx="2880320" cy="1944216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</a:t>
            </a:r>
          </a:p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DB89BB-FD37-7CD0-06A2-5CCB5B942D5A}"/>
              </a:ext>
            </a:extLst>
          </p:cNvPr>
          <p:cNvSpPr/>
          <p:nvPr/>
        </p:nvSpPr>
        <p:spPr>
          <a:xfrm>
            <a:off x="6620068" y="9288338"/>
            <a:ext cx="2880320" cy="1944216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 1.5 Flash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8278A3-337C-38E5-23D8-76CD36BD955D}"/>
              </a:ext>
            </a:extLst>
          </p:cNvPr>
          <p:cNvSpPr/>
          <p:nvPr/>
        </p:nvSpPr>
        <p:spPr>
          <a:xfrm>
            <a:off x="11179557" y="9257471"/>
            <a:ext cx="2880320" cy="1944216"/>
          </a:xfrm>
          <a:prstGeom prst="rect">
            <a:avLst/>
          </a:prstGeom>
          <a:noFill/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  <a:p>
            <a:pPr algn="ctr"/>
            <a:r>
              <a:rPr lang="en-IN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Processing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46C04D-CA22-B9C7-8DC7-67AFA181A7A2}"/>
              </a:ext>
            </a:extLst>
          </p:cNvPr>
          <p:cNvSpPr/>
          <p:nvPr/>
        </p:nvSpPr>
        <p:spPr>
          <a:xfrm>
            <a:off x="1294756" y="3558566"/>
            <a:ext cx="17929992" cy="3641540"/>
          </a:xfrm>
          <a:prstGeom prst="rect">
            <a:avLst/>
          </a:prstGeom>
          <a:noFill/>
          <a:ln w="38100" cap="flat" cmpd="sng" algn="ctr">
            <a:solidFill>
              <a:schemeClr val="accent5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74D2B01-1417-D39B-D05A-30D88C08E0F8}"/>
              </a:ext>
            </a:extLst>
          </p:cNvPr>
          <p:cNvSpPr/>
          <p:nvPr/>
        </p:nvSpPr>
        <p:spPr>
          <a:xfrm>
            <a:off x="2235968" y="3167658"/>
            <a:ext cx="258718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Setup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20029D-CE39-634C-DDBD-9B5F0BEBE52E}"/>
              </a:ext>
            </a:extLst>
          </p:cNvPr>
          <p:cNvSpPr/>
          <p:nvPr/>
        </p:nvSpPr>
        <p:spPr>
          <a:xfrm>
            <a:off x="20165960" y="824934"/>
            <a:ext cx="3595292" cy="6375172"/>
          </a:xfrm>
          <a:prstGeom prst="rect">
            <a:avLst/>
          </a:prstGeom>
          <a:noFill/>
          <a:ln w="38100" cap="flat" cmpd="sng" algn="ctr">
            <a:solidFill>
              <a:schemeClr val="accent6">
                <a:lumMod val="75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56A75E6-4657-4630-4CD8-CAC9464F3856}"/>
              </a:ext>
            </a:extLst>
          </p:cNvPr>
          <p:cNvSpPr/>
          <p:nvPr/>
        </p:nvSpPr>
        <p:spPr>
          <a:xfrm>
            <a:off x="20520892" y="449865"/>
            <a:ext cx="258718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Setup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0B81B2C-6FDF-DF0A-4131-79C74F62D208}"/>
              </a:ext>
            </a:extLst>
          </p:cNvPr>
          <p:cNvCxnSpPr>
            <a:cxnSpLocks/>
            <a:stCxn id="18" idx="3"/>
          </p:cNvCxnSpPr>
          <p:nvPr/>
        </p:nvCxnSpPr>
        <p:spPr>
          <a:xfrm>
            <a:off x="19224748" y="5379336"/>
            <a:ext cx="94121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F3C403D-41F9-B9E7-EC4B-1885F0678010}"/>
              </a:ext>
            </a:extLst>
          </p:cNvPr>
          <p:cNvCxnSpPr>
            <a:cxnSpLocks/>
            <a:endCxn id="40" idx="1"/>
          </p:cNvCxnSpPr>
          <p:nvPr/>
        </p:nvCxnSpPr>
        <p:spPr>
          <a:xfrm>
            <a:off x="23756144" y="5379336"/>
            <a:ext cx="943766" cy="1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7CAA2F47-ADCE-D7D1-AD94-92B665F7F3AB}"/>
              </a:ext>
            </a:extLst>
          </p:cNvPr>
          <p:cNvCxnSpPr>
            <a:cxnSpLocks/>
            <a:stCxn id="40" idx="2"/>
            <a:endCxn id="43" idx="1"/>
          </p:cNvCxnSpPr>
          <p:nvPr/>
        </p:nvCxnSpPr>
        <p:spPr>
          <a:xfrm rot="5400000">
            <a:off x="12406018" y="-3911155"/>
            <a:ext cx="2980277" cy="25202801"/>
          </a:xfrm>
          <a:prstGeom prst="bentConnector4">
            <a:avLst>
              <a:gd name="adj1" fmla="val 19453"/>
              <a:gd name="adj2" fmla="val 10090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08D3C584-3C35-8AD9-4594-B3330DC9737C}"/>
              </a:ext>
            </a:extLst>
          </p:cNvPr>
          <p:cNvSpPr/>
          <p:nvPr/>
        </p:nvSpPr>
        <p:spPr>
          <a:xfrm>
            <a:off x="24699910" y="3558566"/>
            <a:ext cx="3595292" cy="3641541"/>
          </a:xfrm>
          <a:prstGeom prst="rect">
            <a:avLst/>
          </a:prstGeom>
          <a:noFill/>
          <a:ln w="38100" cap="flat" cmpd="sng" algn="ctr">
            <a:solidFill>
              <a:schemeClr val="accent4">
                <a:lumMod val="75000"/>
              </a:schemeClr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68221069-004D-DACF-B37E-1F046A820055}"/>
              </a:ext>
            </a:extLst>
          </p:cNvPr>
          <p:cNvSpPr/>
          <p:nvPr/>
        </p:nvSpPr>
        <p:spPr>
          <a:xfrm>
            <a:off x="25127261" y="3235400"/>
            <a:ext cx="258718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Train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D078420-A0D8-BBB0-56BD-DEFF4F570236}"/>
              </a:ext>
            </a:extLst>
          </p:cNvPr>
          <p:cNvSpPr/>
          <p:nvPr/>
        </p:nvSpPr>
        <p:spPr>
          <a:xfrm>
            <a:off x="1294755" y="8359613"/>
            <a:ext cx="17929992" cy="3641541"/>
          </a:xfrm>
          <a:prstGeom prst="rect">
            <a:avLst/>
          </a:prstGeom>
          <a:noFill/>
          <a:ln w="38100" cap="flat" cmpd="sng" algn="ctr">
            <a:solidFill>
              <a:srgbClr val="7030A0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DD88D7E-C96B-BE01-84CE-16953E3D38C4}"/>
              </a:ext>
            </a:extLst>
          </p:cNvPr>
          <p:cNvSpPr/>
          <p:nvPr/>
        </p:nvSpPr>
        <p:spPr>
          <a:xfrm>
            <a:off x="2089398" y="8070772"/>
            <a:ext cx="3165798" cy="646331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 Setup</a:t>
            </a:r>
          </a:p>
        </p:txBody>
      </p:sp>
    </p:spTree>
    <p:extLst>
      <p:ext uri="{BB962C8B-B14F-4D97-AF65-F5344CB8AC3E}">
        <p14:creationId xmlns:p14="http://schemas.microsoft.com/office/powerpoint/2010/main" val="30277866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5D5469-5416-BC0D-0FB5-CBC5A894B8B8}"/>
              </a:ext>
            </a:extLst>
          </p:cNvPr>
          <p:cNvSpPr txBox="1"/>
          <p:nvPr/>
        </p:nvSpPr>
        <p:spPr>
          <a:xfrm>
            <a:off x="182592" y="257914"/>
            <a:ext cx="939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Validation - </a:t>
            </a:r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Multi-label classification</a:t>
            </a:r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C61D36-E792-D5FA-DAAD-33436ADC5102}"/>
              </a:ext>
            </a:extLst>
          </p:cNvPr>
          <p:cNvSpPr txBox="1"/>
          <p:nvPr/>
        </p:nvSpPr>
        <p:spPr>
          <a:xfrm>
            <a:off x="358652" y="1439466"/>
            <a:ext cx="22754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results were converted to python dictionary and treated as multi-label classification for validation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16D3B9-3C40-1B51-613B-656E2D2AFCF9}"/>
              </a:ext>
            </a:extLst>
          </p:cNvPr>
          <p:cNvSpPr txBox="1"/>
          <p:nvPr/>
        </p:nvSpPr>
        <p:spPr>
          <a:xfrm>
            <a:off x="3094956" y="2807618"/>
            <a:ext cx="504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Key Metrics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A83E00-1983-A86A-8C3E-AF7F23FFDE0C}"/>
              </a:ext>
            </a:extLst>
          </p:cNvPr>
          <p:cNvSpPr txBox="1"/>
          <p:nvPr/>
        </p:nvSpPr>
        <p:spPr>
          <a:xfrm>
            <a:off x="18864708" y="2951634"/>
            <a:ext cx="5040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Dictionary Value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FCE879-E9BF-711A-7FE5-AEB6CD889C42}"/>
              </a:ext>
            </a:extLst>
          </p:cNvPr>
          <p:cNvSpPr txBox="1"/>
          <p:nvPr/>
        </p:nvSpPr>
        <p:spPr>
          <a:xfrm>
            <a:off x="1447156" y="6250934"/>
            <a:ext cx="11953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“text”: “Levetiracetam”, “start_index”: 1, “end_index”: 20 ….}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C3B2AF-C825-1198-2DF0-6B5B68AA4109}"/>
              </a:ext>
            </a:extLst>
          </p:cNvPr>
          <p:cNvSpPr txBox="1"/>
          <p:nvPr/>
        </p:nvSpPr>
        <p:spPr>
          <a:xfrm>
            <a:off x="15912380" y="4456270"/>
            <a:ext cx="11953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values are the values of the dictionary and predicted values are the values of 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generated dictionary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969ADE-1180-4404-AE03-FC42280646BD}"/>
              </a:ext>
            </a:extLst>
          </p:cNvPr>
          <p:cNvSpPr txBox="1"/>
          <p:nvPr/>
        </p:nvSpPr>
        <p:spPr>
          <a:xfrm>
            <a:off x="1447156" y="4621618"/>
            <a:ext cx="11953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keys are the keys of the dictionary and predicted keys are the keys of the generated dictionary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09A34F8-B6C2-FB6A-263D-53ECB7608C25}"/>
              </a:ext>
            </a:extLst>
          </p:cNvPr>
          <p:cNvSpPr/>
          <p:nvPr/>
        </p:nvSpPr>
        <p:spPr>
          <a:xfrm>
            <a:off x="1862436" y="6197528"/>
            <a:ext cx="1232520" cy="79208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AA39A9-7EF5-0404-1CDF-3239F4DDE0D5}"/>
              </a:ext>
            </a:extLst>
          </p:cNvPr>
          <p:cNvSpPr/>
          <p:nvPr/>
        </p:nvSpPr>
        <p:spPr>
          <a:xfrm>
            <a:off x="6407324" y="6197528"/>
            <a:ext cx="2448272" cy="79208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235A79-D377-CA09-0276-9A5915E8DC25}"/>
              </a:ext>
            </a:extLst>
          </p:cNvPr>
          <p:cNvSpPr/>
          <p:nvPr/>
        </p:nvSpPr>
        <p:spPr>
          <a:xfrm>
            <a:off x="9575676" y="6196318"/>
            <a:ext cx="2304256" cy="79208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433E7F-B6E2-0107-60F9-61FA64248F07}"/>
              </a:ext>
            </a:extLst>
          </p:cNvPr>
          <p:cNvSpPr txBox="1"/>
          <p:nvPr/>
        </p:nvSpPr>
        <p:spPr>
          <a:xfrm>
            <a:off x="15435710" y="6196318"/>
            <a:ext cx="1195332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 “text”: “Levetiracetam”, “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start_index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”: 1, “</a:t>
            </a:r>
            <a:r>
              <a:rPr lang="en-IN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end_index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”: 20 ….}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D0D7FF3-089F-CA81-1F36-3584CB002B61}"/>
              </a:ext>
            </a:extLst>
          </p:cNvPr>
          <p:cNvSpPr/>
          <p:nvPr/>
        </p:nvSpPr>
        <p:spPr>
          <a:xfrm>
            <a:off x="17280532" y="6196318"/>
            <a:ext cx="2880320" cy="79208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C85318-4D40-2B5A-5067-9DEDDD4123B1}"/>
              </a:ext>
            </a:extLst>
          </p:cNvPr>
          <p:cNvSpPr/>
          <p:nvPr/>
        </p:nvSpPr>
        <p:spPr>
          <a:xfrm>
            <a:off x="22969164" y="6168714"/>
            <a:ext cx="523058" cy="79208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E7B063-2C7F-92FC-2C69-A09E127DBE98}"/>
              </a:ext>
            </a:extLst>
          </p:cNvPr>
          <p:cNvSpPr/>
          <p:nvPr/>
        </p:nvSpPr>
        <p:spPr>
          <a:xfrm>
            <a:off x="26118514" y="6168714"/>
            <a:ext cx="523058" cy="792088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D8181DD-2816-450D-CAE0-D8C581887BE1}"/>
              </a:ext>
            </a:extLst>
          </p:cNvPr>
          <p:cNvSpPr txBox="1"/>
          <p:nvPr/>
        </p:nvSpPr>
        <p:spPr>
          <a:xfrm>
            <a:off x="1644858" y="7863534"/>
            <a:ext cx="22234076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match Ratio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0/1 loss ( 1 – exact match ratio 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Hamming Loss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 Score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Precision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Reference: 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https://mmuratarat.github.io/2020-01-25/multilabel_classification_metrics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8980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E50A5AD-25A7-E979-4BF5-35932C69D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678770"/>
              </p:ext>
            </p:extLst>
          </p:nvPr>
        </p:nvGraphicFramePr>
        <p:xfrm>
          <a:off x="1150740" y="2345372"/>
          <a:ext cx="25778863" cy="2550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358">
                  <a:extLst>
                    <a:ext uri="{9D8B030D-6E8A-4147-A177-3AD203B41FA5}">
                      <a16:colId xmlns:a16="http://schemas.microsoft.com/office/drawing/2014/main" val="1806317530"/>
                    </a:ext>
                  </a:extLst>
                </a:gridCol>
                <a:gridCol w="3222358">
                  <a:extLst>
                    <a:ext uri="{9D8B030D-6E8A-4147-A177-3AD203B41FA5}">
                      <a16:colId xmlns:a16="http://schemas.microsoft.com/office/drawing/2014/main" val="12056858"/>
                    </a:ext>
                  </a:extLst>
                </a:gridCol>
                <a:gridCol w="3222358">
                  <a:extLst>
                    <a:ext uri="{9D8B030D-6E8A-4147-A177-3AD203B41FA5}">
                      <a16:colId xmlns:a16="http://schemas.microsoft.com/office/drawing/2014/main" val="1310329698"/>
                    </a:ext>
                  </a:extLst>
                </a:gridCol>
                <a:gridCol w="3798422">
                  <a:extLst>
                    <a:ext uri="{9D8B030D-6E8A-4147-A177-3AD203B41FA5}">
                      <a16:colId xmlns:a16="http://schemas.microsoft.com/office/drawing/2014/main" val="2435431333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3547529364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267809078"/>
                    </a:ext>
                  </a:extLst>
                </a:gridCol>
                <a:gridCol w="3186353">
                  <a:extLst>
                    <a:ext uri="{9D8B030D-6E8A-4147-A177-3AD203B41FA5}">
                      <a16:colId xmlns:a16="http://schemas.microsoft.com/office/drawing/2014/main" val="522451201"/>
                    </a:ext>
                  </a:extLst>
                </a:gridCol>
                <a:gridCol w="3222358">
                  <a:extLst>
                    <a:ext uri="{9D8B030D-6E8A-4147-A177-3AD203B41FA5}">
                      <a16:colId xmlns:a16="http://schemas.microsoft.com/office/drawing/2014/main" val="2763328331"/>
                    </a:ext>
                  </a:extLst>
                </a:gridCol>
              </a:tblGrid>
              <a:tr h="121545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Exact Match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Hamming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F1 Measure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496304"/>
                  </a:ext>
                </a:extLst>
              </a:tr>
              <a:tr h="652413">
                <a:tc row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Fine Tuning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Llama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800916"/>
                  </a:ext>
                </a:extLst>
              </a:tr>
              <a:tr h="652413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Value 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50197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40408C-AE4D-D905-181B-29D723651D47}"/>
              </a:ext>
            </a:extLst>
          </p:cNvPr>
          <p:cNvSpPr txBox="1"/>
          <p:nvPr/>
        </p:nvSpPr>
        <p:spPr>
          <a:xfrm>
            <a:off x="358652" y="1439466"/>
            <a:ext cx="22754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Multi-label classification metrics for Prescriptions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0D71C221-6F00-012D-4C89-D9FF30B5A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354416"/>
              </p:ext>
            </p:extLst>
          </p:nvPr>
        </p:nvGraphicFramePr>
        <p:xfrm>
          <a:off x="1150740" y="8754084"/>
          <a:ext cx="25778863" cy="25504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222358">
                  <a:extLst>
                    <a:ext uri="{9D8B030D-6E8A-4147-A177-3AD203B41FA5}">
                      <a16:colId xmlns:a16="http://schemas.microsoft.com/office/drawing/2014/main" val="1806317530"/>
                    </a:ext>
                  </a:extLst>
                </a:gridCol>
                <a:gridCol w="3222358">
                  <a:extLst>
                    <a:ext uri="{9D8B030D-6E8A-4147-A177-3AD203B41FA5}">
                      <a16:colId xmlns:a16="http://schemas.microsoft.com/office/drawing/2014/main" val="12056858"/>
                    </a:ext>
                  </a:extLst>
                </a:gridCol>
                <a:gridCol w="3222358">
                  <a:extLst>
                    <a:ext uri="{9D8B030D-6E8A-4147-A177-3AD203B41FA5}">
                      <a16:colId xmlns:a16="http://schemas.microsoft.com/office/drawing/2014/main" val="1310329698"/>
                    </a:ext>
                  </a:extLst>
                </a:gridCol>
                <a:gridCol w="3798422">
                  <a:extLst>
                    <a:ext uri="{9D8B030D-6E8A-4147-A177-3AD203B41FA5}">
                      <a16:colId xmlns:a16="http://schemas.microsoft.com/office/drawing/2014/main" val="2435431333"/>
                    </a:ext>
                  </a:extLst>
                </a:gridCol>
                <a:gridCol w="3168352">
                  <a:extLst>
                    <a:ext uri="{9D8B030D-6E8A-4147-A177-3AD203B41FA5}">
                      <a16:colId xmlns:a16="http://schemas.microsoft.com/office/drawing/2014/main" val="3547529364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1267809078"/>
                    </a:ext>
                  </a:extLst>
                </a:gridCol>
                <a:gridCol w="3186353">
                  <a:extLst>
                    <a:ext uri="{9D8B030D-6E8A-4147-A177-3AD203B41FA5}">
                      <a16:colId xmlns:a16="http://schemas.microsoft.com/office/drawing/2014/main" val="522451201"/>
                    </a:ext>
                  </a:extLst>
                </a:gridCol>
                <a:gridCol w="3222358">
                  <a:extLst>
                    <a:ext uri="{9D8B030D-6E8A-4147-A177-3AD203B41FA5}">
                      <a16:colId xmlns:a16="http://schemas.microsoft.com/office/drawing/2014/main" val="2763328331"/>
                    </a:ext>
                  </a:extLst>
                </a:gridCol>
              </a:tblGrid>
              <a:tr h="121545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Exact Match Ratio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Hamming Loss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F1 Measure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1496304"/>
                  </a:ext>
                </a:extLst>
              </a:tr>
              <a:tr h="652413">
                <a:tc row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Fine Tuning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Llama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Key 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1800916"/>
                  </a:ext>
                </a:extLst>
              </a:tr>
              <a:tr h="652413"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Value 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1.00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0.74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1501972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6F728DB6-9AB7-D7E9-0EE0-E5B54F408E17}"/>
              </a:ext>
            </a:extLst>
          </p:cNvPr>
          <p:cNvSpPr txBox="1"/>
          <p:nvPr/>
        </p:nvSpPr>
        <p:spPr>
          <a:xfrm>
            <a:off x="358652" y="7848178"/>
            <a:ext cx="22754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Multi-label classification metrics for Seizure Frequency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8DCEE5C-CD57-C5A1-E241-505E0669C5B7}"/>
              </a:ext>
            </a:extLst>
          </p:cNvPr>
          <p:cNvSpPr txBox="1"/>
          <p:nvPr/>
        </p:nvSpPr>
        <p:spPr>
          <a:xfrm>
            <a:off x="182592" y="257914"/>
            <a:ext cx="939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Validation - </a:t>
            </a:r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Multi-label classification</a:t>
            </a:r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B82AB48-E4BD-9B87-EBD9-349A4CF0AEA4}"/>
              </a:ext>
            </a:extLst>
          </p:cNvPr>
          <p:cNvSpPr txBox="1"/>
          <p:nvPr/>
        </p:nvSpPr>
        <p:spPr>
          <a:xfrm>
            <a:off x="1125623" y="11878885"/>
            <a:ext cx="14397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the train set: 236. Size of the validation set: 27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52B004-8116-6C34-599E-8ACE2B1D41FE}"/>
              </a:ext>
            </a:extLst>
          </p:cNvPr>
          <p:cNvSpPr txBox="1"/>
          <p:nvPr/>
        </p:nvSpPr>
        <p:spPr>
          <a:xfrm>
            <a:off x="1155206" y="5543922"/>
            <a:ext cx="1439713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 of the train set: 264. Size of the validation set: 30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532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C61D36-E792-D5FA-DAAD-33436ADC5102}"/>
              </a:ext>
            </a:extLst>
          </p:cNvPr>
          <p:cNvSpPr txBox="1"/>
          <p:nvPr/>
        </p:nvSpPr>
        <p:spPr>
          <a:xfrm>
            <a:off x="358652" y="1439466"/>
            <a:ext cx="22754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comparison between the ground truth and predicted / </a:t>
            </a:r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</a:t>
            </a: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5FEEB8-85D0-098C-6FC0-171D286AFFE1}"/>
              </a:ext>
            </a:extLst>
          </p:cNvPr>
          <p:cNvSpPr txBox="1"/>
          <p:nvPr/>
        </p:nvSpPr>
        <p:spPr>
          <a:xfrm>
            <a:off x="5559320" y="6639076"/>
            <a:ext cx="12246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C475BC-F734-B457-C3CA-4048B19410DA}"/>
              </a:ext>
            </a:extLst>
          </p:cNvPr>
          <p:cNvSpPr txBox="1"/>
          <p:nvPr/>
        </p:nvSpPr>
        <p:spPr>
          <a:xfrm>
            <a:off x="1347382" y="7581925"/>
            <a:ext cx="10873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/ Extracted: lamotrigine-75-mg-twice-a-day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7C41A08-8127-8EFC-8BF8-2E42B61E1782}"/>
              </a:ext>
            </a:extLst>
          </p:cNvPr>
          <p:cNvSpPr txBox="1"/>
          <p:nvPr/>
        </p:nvSpPr>
        <p:spPr>
          <a:xfrm>
            <a:off x="15696356" y="5316498"/>
            <a:ext cx="123133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Sørensen–Dice Coefficient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similarity algorithm that computes difference coefficients of adjacent character pairs.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C2CBC6E-D684-CA3E-189A-39B1B09F119D}"/>
              </a:ext>
            </a:extLst>
          </p:cNvPr>
          <p:cNvSpPr txBox="1"/>
          <p:nvPr/>
        </p:nvSpPr>
        <p:spPr>
          <a:xfrm>
            <a:off x="1347382" y="5669889"/>
            <a:ext cx="98650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. : lamotrigine-75-mg-twice-a-day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7E558B-A4A2-56E6-5260-2427BC690335}"/>
              </a:ext>
            </a:extLst>
          </p:cNvPr>
          <p:cNvSpPr txBox="1"/>
          <p:nvPr/>
        </p:nvSpPr>
        <p:spPr>
          <a:xfrm>
            <a:off x="19296756" y="4175770"/>
            <a:ext cx="58326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comparison methods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A2B9289-0637-31AA-5BF7-E24DBE17C4FF}"/>
              </a:ext>
            </a:extLst>
          </p:cNvPr>
          <p:cNvSpPr txBox="1"/>
          <p:nvPr/>
        </p:nvSpPr>
        <p:spPr>
          <a:xfrm>
            <a:off x="1048348" y="12251521"/>
            <a:ext cx="22344483" cy="583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3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Reference</a:t>
            </a:r>
            <a:r>
              <a:rPr lang="en-IN" sz="3200" kern="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3200" kern="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(Dice, 1945)</a:t>
            </a:r>
            <a:endParaRPr lang="en-IN" sz="32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8DC443-BF8A-59A0-BFCA-619A92E87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0652" y="7372508"/>
            <a:ext cx="6457208" cy="93610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B45A3B7-74C0-0663-F50A-0472087AE171}"/>
              </a:ext>
            </a:extLst>
          </p:cNvPr>
          <p:cNvSpPr txBox="1"/>
          <p:nvPr/>
        </p:nvSpPr>
        <p:spPr>
          <a:xfrm>
            <a:off x="182592" y="257914"/>
            <a:ext cx="939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Validation - </a:t>
            </a:r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comparison</a:t>
            </a:r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6727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0A82007D-1D80-634B-660A-9C42D107CA68}"/>
              </a:ext>
            </a:extLst>
          </p:cNvPr>
          <p:cNvSpPr txBox="1"/>
          <p:nvPr/>
        </p:nvSpPr>
        <p:spPr>
          <a:xfrm>
            <a:off x="182592" y="1297191"/>
            <a:ext cx="22754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text string match – word level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F8A986-1B2B-4AC5-AF24-CB1F4F697E68}"/>
              </a:ext>
            </a:extLst>
          </p:cNvPr>
          <p:cNvSpPr txBox="1"/>
          <p:nvPr/>
        </p:nvSpPr>
        <p:spPr>
          <a:xfrm>
            <a:off x="2495381" y="2967090"/>
            <a:ext cx="80163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Sorensen Dice Coefficient Prescriptions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368D6A-AA55-8CCA-823E-3036A70095BA}"/>
              </a:ext>
            </a:extLst>
          </p:cNvPr>
          <p:cNvSpPr txBox="1"/>
          <p:nvPr/>
        </p:nvSpPr>
        <p:spPr>
          <a:xfrm>
            <a:off x="15408324" y="2915654"/>
            <a:ext cx="85689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Sorensen Dice Coefficient Seizure Frequency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6BC6AC-F6CA-AF78-31C1-565E4EE4D7FD}"/>
              </a:ext>
            </a:extLst>
          </p:cNvPr>
          <p:cNvSpPr txBox="1"/>
          <p:nvPr/>
        </p:nvSpPr>
        <p:spPr>
          <a:xfrm>
            <a:off x="182592" y="257914"/>
            <a:ext cx="93930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Validation - </a:t>
            </a:r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comparison</a:t>
            </a:r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8526864C-ABD4-A6F2-7542-9B20171B5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780" y="3757438"/>
            <a:ext cx="9433048" cy="718708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D5CE576-8958-1BA5-072F-186D3C89ED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0292" y="3706001"/>
            <a:ext cx="9289032" cy="7077358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30554A56-1239-F679-3BB8-6AF2590D05C7}"/>
              </a:ext>
            </a:extLst>
          </p:cNvPr>
          <p:cNvSpPr txBox="1"/>
          <p:nvPr/>
        </p:nvSpPr>
        <p:spPr>
          <a:xfrm>
            <a:off x="870934" y="12683748"/>
            <a:ext cx="110089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Threshold: 0.5; 10% validation dataset</a:t>
            </a:r>
          </a:p>
        </p:txBody>
      </p:sp>
    </p:spTree>
    <p:extLst>
      <p:ext uri="{BB962C8B-B14F-4D97-AF65-F5344CB8AC3E}">
        <p14:creationId xmlns:p14="http://schemas.microsoft.com/office/powerpoint/2010/main" val="3639503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44DF13B7-4458-B467-9664-A1511AA3CEA9}"/>
              </a:ext>
            </a:extLst>
          </p:cNvPr>
          <p:cNvSpPr txBox="1"/>
          <p:nvPr/>
        </p:nvSpPr>
        <p:spPr>
          <a:xfrm>
            <a:off x="286644" y="215330"/>
            <a:ext cx="496855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Analysis Sample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131794C-3136-A0C3-0F51-BD5971BAB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812" y="2675378"/>
            <a:ext cx="8618891" cy="812687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67671348-FFAA-B81F-E006-EB0666D1E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6395" y="2654569"/>
            <a:ext cx="9138217" cy="814767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A54F10-1265-D01A-195F-83D36A9CF64E}"/>
              </a:ext>
            </a:extLst>
          </p:cNvPr>
          <p:cNvSpPr txBox="1"/>
          <p:nvPr/>
        </p:nvSpPr>
        <p:spPr>
          <a:xfrm>
            <a:off x="4319092" y="10802247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Seizure Frequency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43AA7-2839-F80A-380F-1662F32B5593}"/>
              </a:ext>
            </a:extLst>
          </p:cNvPr>
          <p:cNvSpPr txBox="1"/>
          <p:nvPr/>
        </p:nvSpPr>
        <p:spPr>
          <a:xfrm>
            <a:off x="18645283" y="10802247"/>
            <a:ext cx="3960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Prescription</a:t>
            </a:r>
          </a:p>
        </p:txBody>
      </p:sp>
    </p:spTree>
    <p:extLst>
      <p:ext uri="{BB962C8B-B14F-4D97-AF65-F5344CB8AC3E}">
        <p14:creationId xmlns:p14="http://schemas.microsoft.com/office/powerpoint/2010/main" val="190617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931F22-6F34-7830-6093-2D95C119AF3B}"/>
              </a:ext>
            </a:extLst>
          </p:cNvPr>
          <p:cNvSpPr txBox="1"/>
          <p:nvPr/>
        </p:nvSpPr>
        <p:spPr>
          <a:xfrm>
            <a:off x="182592" y="257914"/>
            <a:ext cx="37764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B7CFD3-AC39-F6C0-9A8D-13AF7E26F395}"/>
              </a:ext>
            </a:extLst>
          </p:cNvPr>
          <p:cNvSpPr/>
          <p:nvPr/>
        </p:nvSpPr>
        <p:spPr>
          <a:xfrm>
            <a:off x="10295756" y="2735610"/>
            <a:ext cx="7128792" cy="9721080"/>
          </a:xfrm>
          <a:prstGeom prst="rect">
            <a:avLst/>
          </a:prstGeom>
          <a:noFill/>
          <a:ln w="38100">
            <a:solidFill>
              <a:schemeClr val="accent2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DF656D1-214B-187A-E4E2-DEC8D830C819}"/>
              </a:ext>
            </a:extLst>
          </p:cNvPr>
          <p:cNvSpPr/>
          <p:nvPr/>
        </p:nvSpPr>
        <p:spPr>
          <a:xfrm>
            <a:off x="12383988" y="2412444"/>
            <a:ext cx="2587180" cy="64633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F0A4E5-2E84-F7E0-4AA7-717609DFF290}"/>
              </a:ext>
            </a:extLst>
          </p:cNvPr>
          <p:cNvSpPr txBox="1"/>
          <p:nvPr/>
        </p:nvSpPr>
        <p:spPr>
          <a:xfrm>
            <a:off x="10439772" y="3311674"/>
            <a:ext cx="6496742" cy="9448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models – Mixtral 8 x 7B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SLM – Microsoft phi3.5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Tuning / Engineering; chain prompting ( COT )*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Compute Time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LangChain, RAG &amp; variants approach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JSON generation - single + multiple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– End index of text locations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4FB669-1BC6-8BF1-8E0A-B642BED3CBA6}"/>
              </a:ext>
            </a:extLst>
          </p:cNvPr>
          <p:cNvSpPr/>
          <p:nvPr/>
        </p:nvSpPr>
        <p:spPr>
          <a:xfrm>
            <a:off x="1870820" y="2698736"/>
            <a:ext cx="7128792" cy="9721080"/>
          </a:xfrm>
          <a:prstGeom prst="rect">
            <a:avLst/>
          </a:prstGeom>
          <a:noFill/>
          <a:ln w="38100">
            <a:solidFill>
              <a:schemeClr val="accent5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29D6B2F-3DEE-B934-1777-0C6C03FF3A2B}"/>
              </a:ext>
            </a:extLst>
          </p:cNvPr>
          <p:cNvSpPr/>
          <p:nvPr/>
        </p:nvSpPr>
        <p:spPr>
          <a:xfrm>
            <a:off x="3959052" y="2375570"/>
            <a:ext cx="2587180" cy="64633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0FB4C3-7C86-C355-3CB0-07BE379F15F5}"/>
              </a:ext>
            </a:extLst>
          </p:cNvPr>
          <p:cNvSpPr txBox="1"/>
          <p:nvPr/>
        </p:nvSpPr>
        <p:spPr>
          <a:xfrm>
            <a:off x="2014836" y="3311674"/>
            <a:ext cx="6496742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and resampling techniques like  random resampling, SMOTE &amp; variants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Possibility to increase sample size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3FD9C9-1918-6BDB-9D96-902074588B13}"/>
              </a:ext>
            </a:extLst>
          </p:cNvPr>
          <p:cNvSpPr/>
          <p:nvPr/>
        </p:nvSpPr>
        <p:spPr>
          <a:xfrm>
            <a:off x="18586892" y="2735610"/>
            <a:ext cx="7128792" cy="9721080"/>
          </a:xfrm>
          <a:prstGeom prst="rect">
            <a:avLst/>
          </a:prstGeom>
          <a:noFill/>
          <a:ln w="38100">
            <a:solidFill>
              <a:srgbClr val="7030A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6C235DA-9CB4-F04C-BD41-5FED1D527D71}"/>
              </a:ext>
            </a:extLst>
          </p:cNvPr>
          <p:cNvSpPr/>
          <p:nvPr/>
        </p:nvSpPr>
        <p:spPr>
          <a:xfrm>
            <a:off x="20675124" y="2412444"/>
            <a:ext cx="2587180" cy="646331"/>
          </a:xfrm>
          <a:prstGeom prst="rect">
            <a:avLst/>
          </a:prstGeom>
          <a:solidFill>
            <a:schemeClr val="bg1"/>
          </a:solidFill>
          <a:ln w="38100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268BA8-E116-A461-5924-6E8CF466E0D1}"/>
              </a:ext>
            </a:extLst>
          </p:cNvPr>
          <p:cNvSpPr txBox="1"/>
          <p:nvPr/>
        </p:nvSpPr>
        <p:spPr>
          <a:xfrm>
            <a:off x="18902917" y="3311674"/>
            <a:ext cx="649674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 accuracy calibration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Intervention for improved accuracy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InterpretEval https://arxiv.org/pdf/2011.06854</a:t>
            </a: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AutoNum type="arabicPeriod"/>
            </a:pPr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D0628D-A9C3-3152-8A2B-929F021C523C}"/>
              </a:ext>
            </a:extLst>
          </p:cNvPr>
          <p:cNvSpPr txBox="1"/>
          <p:nvPr/>
        </p:nvSpPr>
        <p:spPr>
          <a:xfrm>
            <a:off x="203519" y="13637359"/>
            <a:ext cx="64967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 Intended to complete by submission</a:t>
            </a:r>
          </a:p>
        </p:txBody>
      </p:sp>
    </p:spTree>
    <p:extLst>
      <p:ext uri="{BB962C8B-B14F-4D97-AF65-F5344CB8AC3E}">
        <p14:creationId xmlns:p14="http://schemas.microsoft.com/office/powerpoint/2010/main" val="15086940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6D4CD2-061F-C970-3BDD-94A34E9F7236}"/>
              </a:ext>
            </a:extLst>
          </p:cNvPr>
          <p:cNvSpPr txBox="1"/>
          <p:nvPr/>
        </p:nvSpPr>
        <p:spPr>
          <a:xfrm>
            <a:off x="214636" y="143322"/>
            <a:ext cx="9293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Appendix: Literature Review - </a:t>
            </a:r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DF1A1C3-BD81-F773-F6DD-78A63350C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268" y="2015530"/>
            <a:ext cx="15549212" cy="115932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193ABC7-B98E-E42F-81BA-8CFC6B9DD250}"/>
              </a:ext>
            </a:extLst>
          </p:cNvPr>
          <p:cNvSpPr txBox="1"/>
          <p:nvPr/>
        </p:nvSpPr>
        <p:spPr>
          <a:xfrm>
            <a:off x="8851080" y="1439466"/>
            <a:ext cx="102063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Pre-LLMs ERA - Clinical NER tasks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80346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6D4CD2-061F-C970-3BDD-94A34E9F7236}"/>
              </a:ext>
            </a:extLst>
          </p:cNvPr>
          <p:cNvSpPr txBox="1"/>
          <p:nvPr/>
        </p:nvSpPr>
        <p:spPr>
          <a:xfrm>
            <a:off x="70620" y="215330"/>
            <a:ext cx="92932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Appendix: Literature Review – </a:t>
            </a:r>
            <a:r>
              <a:rPr lang="en-IN" sz="3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F099AB-8EB9-0299-91E1-48082926B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164" y="2951634"/>
            <a:ext cx="18736536" cy="1051316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2015CCE-A201-34EA-19C5-4D1EF2058532}"/>
              </a:ext>
            </a:extLst>
          </p:cNvPr>
          <p:cNvSpPr txBox="1"/>
          <p:nvPr/>
        </p:nvSpPr>
        <p:spPr>
          <a:xfrm>
            <a:off x="8870052" y="2398217"/>
            <a:ext cx="11161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Era -  Clinical NER tasks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0995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62919</TotalTime>
  <Words>2221</Words>
  <Application>Microsoft Office PowerPoint</Application>
  <PresentationFormat>Custom</PresentationFormat>
  <Paragraphs>459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Consolas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Akson Sam Varghese</dc:creator>
  <cp:lastModifiedBy>Akson Sam Varghese</cp:lastModifiedBy>
  <cp:revision>265</cp:revision>
  <dcterms:created xsi:type="dcterms:W3CDTF">2024-03-11T10:21:13Z</dcterms:created>
  <dcterms:modified xsi:type="dcterms:W3CDTF">2024-09-27T09:40:50Z</dcterms:modified>
</cp:coreProperties>
</file>